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Garet" panose="020B0604020202020204" charset="0"/>
      <p:regular r:id="rId20"/>
    </p:embeddedFont>
    <p:embeddedFont>
      <p:font typeface="Garet Bol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7" d="100"/>
          <a:sy n="57" d="100"/>
        </p:scale>
        <p:origin x="952"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699FF"/>
        </a:solidFill>
        <a:effectLst/>
      </p:bgPr>
    </p:bg>
    <p:spTree>
      <p:nvGrpSpPr>
        <p:cNvPr id="1" name=""/>
        <p:cNvGrpSpPr/>
        <p:nvPr/>
      </p:nvGrpSpPr>
      <p:grpSpPr>
        <a:xfrm>
          <a:off x="0" y="0"/>
          <a:ext cx="0" cy="0"/>
          <a:chOff x="0" y="0"/>
          <a:chExt cx="0" cy="0"/>
        </a:xfrm>
      </p:grpSpPr>
      <p:grpSp>
        <p:nvGrpSpPr>
          <p:cNvPr id="2" name="Group 2"/>
          <p:cNvGrpSpPr/>
          <p:nvPr/>
        </p:nvGrpSpPr>
        <p:grpSpPr>
          <a:xfrm>
            <a:off x="188797" y="203992"/>
            <a:ext cx="17910406" cy="9879016"/>
            <a:chOff x="0" y="0"/>
            <a:chExt cx="4717144" cy="2601881"/>
          </a:xfrm>
        </p:grpSpPr>
        <p:sp>
          <p:nvSpPr>
            <p:cNvPr id="3" name="Freeform 3"/>
            <p:cNvSpPr/>
            <p:nvPr/>
          </p:nvSpPr>
          <p:spPr>
            <a:xfrm>
              <a:off x="0" y="0"/>
              <a:ext cx="4717144" cy="2601881"/>
            </a:xfrm>
            <a:custGeom>
              <a:avLst/>
              <a:gdLst/>
              <a:ahLst/>
              <a:cxnLst/>
              <a:rect l="l" t="t" r="r" b="b"/>
              <a:pathLst>
                <a:path w="4717144" h="2601881">
                  <a:moveTo>
                    <a:pt x="0" y="0"/>
                  </a:moveTo>
                  <a:lnTo>
                    <a:pt x="4717144" y="0"/>
                  </a:lnTo>
                  <a:lnTo>
                    <a:pt x="4717144" y="2601881"/>
                  </a:lnTo>
                  <a:lnTo>
                    <a:pt x="0" y="2601881"/>
                  </a:lnTo>
                  <a:close/>
                </a:path>
              </a:pathLst>
            </a:custGeom>
            <a:solidFill>
              <a:srgbClr val="FFFFFF"/>
            </a:solidFill>
          </p:spPr>
          <p:txBody>
            <a:bodyPr/>
            <a:lstStyle/>
            <a:p>
              <a:endParaRPr lang="en-GB"/>
            </a:p>
          </p:txBody>
        </p:sp>
        <p:sp>
          <p:nvSpPr>
            <p:cNvPr id="4" name="TextBox 4"/>
            <p:cNvSpPr txBox="1"/>
            <p:nvPr/>
          </p:nvSpPr>
          <p:spPr>
            <a:xfrm>
              <a:off x="0" y="-28575"/>
              <a:ext cx="4717144" cy="263045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1028700"/>
            <a:ext cx="3423701" cy="881440"/>
            <a:chOff x="0" y="0"/>
            <a:chExt cx="1046448" cy="269411"/>
          </a:xfrm>
        </p:grpSpPr>
        <p:sp>
          <p:nvSpPr>
            <p:cNvPr id="6" name="Freeform 6"/>
            <p:cNvSpPr/>
            <p:nvPr/>
          </p:nvSpPr>
          <p:spPr>
            <a:xfrm>
              <a:off x="0" y="0"/>
              <a:ext cx="1046449" cy="269411"/>
            </a:xfrm>
            <a:custGeom>
              <a:avLst/>
              <a:gdLst/>
              <a:ahLst/>
              <a:cxnLst/>
              <a:rect l="l" t="t" r="r" b="b"/>
              <a:pathLst>
                <a:path w="1046449" h="269411">
                  <a:moveTo>
                    <a:pt x="0" y="0"/>
                  </a:moveTo>
                  <a:lnTo>
                    <a:pt x="1046449" y="0"/>
                  </a:lnTo>
                  <a:lnTo>
                    <a:pt x="1046449" y="269411"/>
                  </a:lnTo>
                  <a:lnTo>
                    <a:pt x="0" y="269411"/>
                  </a:lnTo>
                  <a:close/>
                </a:path>
              </a:pathLst>
            </a:custGeom>
            <a:solidFill>
              <a:srgbClr val="000066"/>
            </a:solidFill>
            <a:ln cap="sq">
              <a:noFill/>
              <a:prstDash val="solid"/>
              <a:miter/>
            </a:ln>
          </p:spPr>
          <p:txBody>
            <a:bodyPr/>
            <a:lstStyle/>
            <a:p>
              <a:endParaRPr lang="en-GB"/>
            </a:p>
          </p:txBody>
        </p:sp>
        <p:sp>
          <p:nvSpPr>
            <p:cNvPr id="7" name="TextBox 7"/>
            <p:cNvSpPr txBox="1"/>
            <p:nvPr/>
          </p:nvSpPr>
          <p:spPr>
            <a:xfrm>
              <a:off x="0" y="-28575"/>
              <a:ext cx="1046448" cy="29798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rot="-2699999">
            <a:off x="15264668" y="-2600781"/>
            <a:ext cx="6841814" cy="6283654"/>
            <a:chOff x="0" y="0"/>
            <a:chExt cx="3397795" cy="3120600"/>
          </a:xfrm>
        </p:grpSpPr>
        <p:sp>
          <p:nvSpPr>
            <p:cNvPr id="9" name="Freeform 9"/>
            <p:cNvSpPr/>
            <p:nvPr/>
          </p:nvSpPr>
          <p:spPr>
            <a:xfrm>
              <a:off x="0" y="0"/>
              <a:ext cx="3397795" cy="3120600"/>
            </a:xfrm>
            <a:custGeom>
              <a:avLst/>
              <a:gdLst/>
              <a:ahLst/>
              <a:cxnLst/>
              <a:rect l="l" t="t" r="r" b="b"/>
              <a:pathLst>
                <a:path w="3397795" h="3120600">
                  <a:moveTo>
                    <a:pt x="0" y="0"/>
                  </a:moveTo>
                  <a:lnTo>
                    <a:pt x="3397795" y="0"/>
                  </a:lnTo>
                  <a:lnTo>
                    <a:pt x="3397795" y="3120600"/>
                  </a:lnTo>
                  <a:lnTo>
                    <a:pt x="0" y="3120600"/>
                  </a:lnTo>
                  <a:close/>
                </a:path>
              </a:pathLst>
            </a:custGeom>
            <a:solidFill>
              <a:srgbClr val="6699FF"/>
            </a:solidFill>
          </p:spPr>
          <p:txBody>
            <a:bodyPr/>
            <a:lstStyle/>
            <a:p>
              <a:endParaRPr lang="en-GB"/>
            </a:p>
          </p:txBody>
        </p:sp>
        <p:sp>
          <p:nvSpPr>
            <p:cNvPr id="10" name="TextBox 10"/>
            <p:cNvSpPr txBox="1"/>
            <p:nvPr/>
          </p:nvSpPr>
          <p:spPr>
            <a:xfrm>
              <a:off x="0" y="-38100"/>
              <a:ext cx="3397795" cy="3158700"/>
            </a:xfrm>
            <a:prstGeom prst="rect">
              <a:avLst/>
            </a:prstGeom>
          </p:spPr>
          <p:txBody>
            <a:bodyPr lIns="46654" tIns="46654" rIns="46654" bIns="46654" rtlCol="0" anchor="ctr"/>
            <a:lstStyle/>
            <a:p>
              <a:pPr algn="ctr">
                <a:lnSpc>
                  <a:spcPts val="1800"/>
                </a:lnSpc>
                <a:spcBef>
                  <a:spcPct val="0"/>
                </a:spcBef>
              </a:pPr>
              <a:endParaRPr/>
            </a:p>
          </p:txBody>
        </p:sp>
      </p:grpSp>
      <p:grpSp>
        <p:nvGrpSpPr>
          <p:cNvPr id="11" name="Group 11"/>
          <p:cNvGrpSpPr/>
          <p:nvPr/>
        </p:nvGrpSpPr>
        <p:grpSpPr>
          <a:xfrm rot="-2699999">
            <a:off x="15359344" y="5155826"/>
            <a:ext cx="3801966" cy="3689633"/>
            <a:chOff x="0" y="0"/>
            <a:chExt cx="1888140" cy="1832352"/>
          </a:xfrm>
        </p:grpSpPr>
        <p:sp>
          <p:nvSpPr>
            <p:cNvPr id="12" name="Freeform 12"/>
            <p:cNvSpPr/>
            <p:nvPr/>
          </p:nvSpPr>
          <p:spPr>
            <a:xfrm>
              <a:off x="0" y="0"/>
              <a:ext cx="1888140" cy="1832352"/>
            </a:xfrm>
            <a:custGeom>
              <a:avLst/>
              <a:gdLst/>
              <a:ahLst/>
              <a:cxnLst/>
              <a:rect l="l" t="t" r="r" b="b"/>
              <a:pathLst>
                <a:path w="1888140" h="1832352">
                  <a:moveTo>
                    <a:pt x="0" y="0"/>
                  </a:moveTo>
                  <a:lnTo>
                    <a:pt x="1888140" y="0"/>
                  </a:lnTo>
                  <a:lnTo>
                    <a:pt x="1888140" y="1832352"/>
                  </a:lnTo>
                  <a:lnTo>
                    <a:pt x="0" y="1832352"/>
                  </a:lnTo>
                  <a:close/>
                </a:path>
              </a:pathLst>
            </a:custGeom>
            <a:solidFill>
              <a:srgbClr val="000066"/>
            </a:solidFill>
          </p:spPr>
          <p:txBody>
            <a:bodyPr/>
            <a:lstStyle/>
            <a:p>
              <a:endParaRPr lang="en-GB"/>
            </a:p>
          </p:txBody>
        </p:sp>
        <p:sp>
          <p:nvSpPr>
            <p:cNvPr id="13" name="TextBox 13"/>
            <p:cNvSpPr txBox="1"/>
            <p:nvPr/>
          </p:nvSpPr>
          <p:spPr>
            <a:xfrm>
              <a:off x="0" y="-38100"/>
              <a:ext cx="1888140" cy="1870452"/>
            </a:xfrm>
            <a:prstGeom prst="rect">
              <a:avLst/>
            </a:prstGeom>
          </p:spPr>
          <p:txBody>
            <a:bodyPr lIns="46654" tIns="46654" rIns="46654" bIns="46654" rtlCol="0" anchor="ctr"/>
            <a:lstStyle/>
            <a:p>
              <a:pPr algn="ctr">
                <a:lnSpc>
                  <a:spcPts val="1800"/>
                </a:lnSpc>
                <a:spcBef>
                  <a:spcPct val="0"/>
                </a:spcBef>
              </a:pPr>
              <a:endParaRPr/>
            </a:p>
          </p:txBody>
        </p:sp>
      </p:grpSp>
      <p:grpSp>
        <p:nvGrpSpPr>
          <p:cNvPr id="14" name="Group 14"/>
          <p:cNvGrpSpPr/>
          <p:nvPr/>
        </p:nvGrpSpPr>
        <p:grpSpPr>
          <a:xfrm rot="-2699999">
            <a:off x="11189420" y="88332"/>
            <a:ext cx="2579499" cy="2503285"/>
            <a:chOff x="0" y="0"/>
            <a:chExt cx="1281036" cy="1243186"/>
          </a:xfrm>
        </p:grpSpPr>
        <p:sp>
          <p:nvSpPr>
            <p:cNvPr id="15" name="Freeform 15"/>
            <p:cNvSpPr/>
            <p:nvPr/>
          </p:nvSpPr>
          <p:spPr>
            <a:xfrm>
              <a:off x="0" y="0"/>
              <a:ext cx="1281036" cy="1243186"/>
            </a:xfrm>
            <a:custGeom>
              <a:avLst/>
              <a:gdLst/>
              <a:ahLst/>
              <a:cxnLst/>
              <a:rect l="l" t="t" r="r" b="b"/>
              <a:pathLst>
                <a:path w="1281036" h="1243186">
                  <a:moveTo>
                    <a:pt x="0" y="0"/>
                  </a:moveTo>
                  <a:lnTo>
                    <a:pt x="1281036" y="0"/>
                  </a:lnTo>
                  <a:lnTo>
                    <a:pt x="1281036" y="1243186"/>
                  </a:lnTo>
                  <a:lnTo>
                    <a:pt x="0" y="1243186"/>
                  </a:lnTo>
                  <a:close/>
                </a:path>
              </a:pathLst>
            </a:custGeom>
            <a:solidFill>
              <a:srgbClr val="000066"/>
            </a:solidFill>
          </p:spPr>
          <p:txBody>
            <a:bodyPr/>
            <a:lstStyle/>
            <a:p>
              <a:endParaRPr lang="en-GB"/>
            </a:p>
          </p:txBody>
        </p:sp>
        <p:sp>
          <p:nvSpPr>
            <p:cNvPr id="16" name="TextBox 16"/>
            <p:cNvSpPr txBox="1"/>
            <p:nvPr/>
          </p:nvSpPr>
          <p:spPr>
            <a:xfrm>
              <a:off x="0" y="-38100"/>
              <a:ext cx="1281036" cy="1281286"/>
            </a:xfrm>
            <a:prstGeom prst="rect">
              <a:avLst/>
            </a:prstGeom>
          </p:spPr>
          <p:txBody>
            <a:bodyPr lIns="46654" tIns="46654" rIns="46654" bIns="46654" rtlCol="0" anchor="ctr"/>
            <a:lstStyle/>
            <a:p>
              <a:pPr algn="ctr">
                <a:lnSpc>
                  <a:spcPts val="1800"/>
                </a:lnSpc>
                <a:spcBef>
                  <a:spcPct val="0"/>
                </a:spcBef>
              </a:pPr>
              <a:endParaRPr/>
            </a:p>
          </p:txBody>
        </p:sp>
      </p:grpSp>
      <p:grpSp>
        <p:nvGrpSpPr>
          <p:cNvPr id="17" name="Group 17"/>
          <p:cNvGrpSpPr/>
          <p:nvPr/>
        </p:nvGrpSpPr>
        <p:grpSpPr>
          <a:xfrm rot="-2699999">
            <a:off x="11321202" y="6614684"/>
            <a:ext cx="3491768" cy="3388599"/>
            <a:chOff x="0" y="0"/>
            <a:chExt cx="1734088" cy="1682853"/>
          </a:xfrm>
        </p:grpSpPr>
        <p:sp>
          <p:nvSpPr>
            <p:cNvPr id="18" name="Freeform 18"/>
            <p:cNvSpPr/>
            <p:nvPr/>
          </p:nvSpPr>
          <p:spPr>
            <a:xfrm>
              <a:off x="0" y="0"/>
              <a:ext cx="1734088" cy="1682853"/>
            </a:xfrm>
            <a:custGeom>
              <a:avLst/>
              <a:gdLst/>
              <a:ahLst/>
              <a:cxnLst/>
              <a:rect l="l" t="t" r="r" b="b"/>
              <a:pathLst>
                <a:path w="1734088" h="1682853">
                  <a:moveTo>
                    <a:pt x="0" y="0"/>
                  </a:moveTo>
                  <a:lnTo>
                    <a:pt x="1734088" y="0"/>
                  </a:lnTo>
                  <a:lnTo>
                    <a:pt x="1734088" y="1682853"/>
                  </a:lnTo>
                  <a:lnTo>
                    <a:pt x="0" y="1682853"/>
                  </a:lnTo>
                  <a:close/>
                </a:path>
              </a:pathLst>
            </a:custGeom>
            <a:solidFill>
              <a:srgbClr val="336699"/>
            </a:solidFill>
          </p:spPr>
          <p:txBody>
            <a:bodyPr/>
            <a:lstStyle/>
            <a:p>
              <a:endParaRPr lang="en-GB"/>
            </a:p>
          </p:txBody>
        </p:sp>
        <p:sp>
          <p:nvSpPr>
            <p:cNvPr id="19" name="TextBox 19"/>
            <p:cNvSpPr txBox="1"/>
            <p:nvPr/>
          </p:nvSpPr>
          <p:spPr>
            <a:xfrm>
              <a:off x="0" y="-38100"/>
              <a:ext cx="1734088" cy="1720953"/>
            </a:xfrm>
            <a:prstGeom prst="rect">
              <a:avLst/>
            </a:prstGeom>
          </p:spPr>
          <p:txBody>
            <a:bodyPr lIns="46654" tIns="46654" rIns="46654" bIns="46654" rtlCol="0" anchor="ctr"/>
            <a:lstStyle/>
            <a:p>
              <a:pPr algn="ctr">
                <a:lnSpc>
                  <a:spcPts val="1800"/>
                </a:lnSpc>
                <a:spcBef>
                  <a:spcPct val="0"/>
                </a:spcBef>
              </a:pPr>
              <a:endParaRPr/>
            </a:p>
          </p:txBody>
        </p:sp>
      </p:grpSp>
      <p:grpSp>
        <p:nvGrpSpPr>
          <p:cNvPr id="20" name="Group 20"/>
          <p:cNvGrpSpPr/>
          <p:nvPr/>
        </p:nvGrpSpPr>
        <p:grpSpPr>
          <a:xfrm rot="-2699999">
            <a:off x="13901875" y="9220529"/>
            <a:ext cx="3491768" cy="3388599"/>
            <a:chOff x="0" y="0"/>
            <a:chExt cx="1734088" cy="1682853"/>
          </a:xfrm>
        </p:grpSpPr>
        <p:sp>
          <p:nvSpPr>
            <p:cNvPr id="21" name="Freeform 21"/>
            <p:cNvSpPr/>
            <p:nvPr/>
          </p:nvSpPr>
          <p:spPr>
            <a:xfrm>
              <a:off x="0" y="0"/>
              <a:ext cx="1734088" cy="1682853"/>
            </a:xfrm>
            <a:custGeom>
              <a:avLst/>
              <a:gdLst/>
              <a:ahLst/>
              <a:cxnLst/>
              <a:rect l="l" t="t" r="r" b="b"/>
              <a:pathLst>
                <a:path w="1734088" h="1682853">
                  <a:moveTo>
                    <a:pt x="0" y="0"/>
                  </a:moveTo>
                  <a:lnTo>
                    <a:pt x="1734088" y="0"/>
                  </a:lnTo>
                  <a:lnTo>
                    <a:pt x="1734088" y="1682853"/>
                  </a:lnTo>
                  <a:lnTo>
                    <a:pt x="0" y="1682853"/>
                  </a:lnTo>
                  <a:close/>
                </a:path>
              </a:pathLst>
            </a:custGeom>
            <a:solidFill>
              <a:srgbClr val="6699FF"/>
            </a:solidFill>
          </p:spPr>
          <p:txBody>
            <a:bodyPr/>
            <a:lstStyle/>
            <a:p>
              <a:endParaRPr lang="en-GB"/>
            </a:p>
          </p:txBody>
        </p:sp>
        <p:sp>
          <p:nvSpPr>
            <p:cNvPr id="22" name="TextBox 22"/>
            <p:cNvSpPr txBox="1"/>
            <p:nvPr/>
          </p:nvSpPr>
          <p:spPr>
            <a:xfrm>
              <a:off x="0" y="-38100"/>
              <a:ext cx="1734088" cy="1720953"/>
            </a:xfrm>
            <a:prstGeom prst="rect">
              <a:avLst/>
            </a:prstGeom>
          </p:spPr>
          <p:txBody>
            <a:bodyPr lIns="46654" tIns="46654" rIns="46654" bIns="46654" rtlCol="0" anchor="ctr"/>
            <a:lstStyle/>
            <a:p>
              <a:pPr algn="ctr">
                <a:lnSpc>
                  <a:spcPts val="1800"/>
                </a:lnSpc>
                <a:spcBef>
                  <a:spcPct val="0"/>
                </a:spcBef>
              </a:pPr>
              <a:endParaRPr/>
            </a:p>
          </p:txBody>
        </p:sp>
      </p:grpSp>
      <p:grpSp>
        <p:nvGrpSpPr>
          <p:cNvPr id="23" name="Group 23"/>
          <p:cNvGrpSpPr/>
          <p:nvPr/>
        </p:nvGrpSpPr>
        <p:grpSpPr>
          <a:xfrm>
            <a:off x="11757279" y="1505970"/>
            <a:ext cx="5365403" cy="5365403"/>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2"/>
              <a:stretch>
                <a:fillRect l="-30196" r="-3137"/>
              </a:stretch>
            </a:blipFill>
          </p:spPr>
          <p:txBody>
            <a:bodyPr/>
            <a:lstStyle/>
            <a:p>
              <a:endParaRPr lang="en-GB"/>
            </a:p>
          </p:txBody>
        </p:sp>
      </p:grpSp>
      <p:sp>
        <p:nvSpPr>
          <p:cNvPr id="25" name="TextBox 25"/>
          <p:cNvSpPr txBox="1"/>
          <p:nvPr/>
        </p:nvSpPr>
        <p:spPr>
          <a:xfrm>
            <a:off x="855649" y="1174780"/>
            <a:ext cx="3769804" cy="560704"/>
          </a:xfrm>
          <a:prstGeom prst="rect">
            <a:avLst/>
          </a:prstGeom>
        </p:spPr>
        <p:txBody>
          <a:bodyPr lIns="0" tIns="0" rIns="0" bIns="0" rtlCol="0" anchor="t">
            <a:spAutoFit/>
          </a:bodyPr>
          <a:lstStyle/>
          <a:p>
            <a:pPr marL="0" lvl="0" indent="0" algn="ctr">
              <a:lnSpc>
                <a:spcPts val="4585"/>
              </a:lnSpc>
              <a:spcBef>
                <a:spcPct val="0"/>
              </a:spcBef>
            </a:pPr>
            <a:r>
              <a:rPr lang="en-US" sz="3500" b="1">
                <a:solidFill>
                  <a:srgbClr val="FFFFFF"/>
                </a:solidFill>
                <a:latin typeface="Garet Bold"/>
                <a:ea typeface="Garet Bold"/>
                <a:cs typeface="Garet Bold"/>
                <a:sym typeface="Garet Bold"/>
              </a:rPr>
              <a:t>INBAR HILLEL</a:t>
            </a:r>
          </a:p>
        </p:txBody>
      </p:sp>
      <p:sp>
        <p:nvSpPr>
          <p:cNvPr id="26" name="TextBox 26"/>
          <p:cNvSpPr txBox="1"/>
          <p:nvPr/>
        </p:nvSpPr>
        <p:spPr>
          <a:xfrm>
            <a:off x="1028700" y="6617547"/>
            <a:ext cx="7532157" cy="1722754"/>
          </a:xfrm>
          <a:prstGeom prst="rect">
            <a:avLst/>
          </a:prstGeom>
        </p:spPr>
        <p:txBody>
          <a:bodyPr lIns="0" tIns="0" rIns="0" bIns="0" rtlCol="0" anchor="t">
            <a:spAutoFit/>
          </a:bodyPr>
          <a:lstStyle/>
          <a:p>
            <a:pPr marL="0" lvl="0" indent="0" algn="l">
              <a:lnSpc>
                <a:spcPts val="4585"/>
              </a:lnSpc>
              <a:spcBef>
                <a:spcPct val="0"/>
              </a:spcBef>
            </a:pPr>
            <a:r>
              <a:rPr lang="en-US" sz="3500">
                <a:solidFill>
                  <a:srgbClr val="000066"/>
                </a:solidFill>
                <a:latin typeface="Garet"/>
                <a:ea typeface="Garet"/>
                <a:cs typeface="Garet"/>
                <a:sym typeface="Garet"/>
              </a:rPr>
              <a:t>Data </a:t>
            </a:r>
            <a:r>
              <a:rPr lang="en-US" sz="3500" u="none" strike="noStrike">
                <a:solidFill>
                  <a:srgbClr val="000066"/>
                </a:solidFill>
                <a:latin typeface="Garet"/>
                <a:ea typeface="Garet"/>
                <a:cs typeface="Garet"/>
                <a:sym typeface="Garet"/>
              </a:rPr>
              <a:t>Engineering, Modeling &amp; BI Dashboarding on the Elo Merchants Dataset</a:t>
            </a:r>
          </a:p>
        </p:txBody>
      </p:sp>
      <p:sp>
        <p:nvSpPr>
          <p:cNvPr id="27" name="TextBox 27"/>
          <p:cNvSpPr txBox="1"/>
          <p:nvPr/>
        </p:nvSpPr>
        <p:spPr>
          <a:xfrm>
            <a:off x="1028700" y="2550372"/>
            <a:ext cx="10984096" cy="3162300"/>
          </a:xfrm>
          <a:prstGeom prst="rect">
            <a:avLst/>
          </a:prstGeom>
        </p:spPr>
        <p:txBody>
          <a:bodyPr lIns="0" tIns="0" rIns="0" bIns="0" rtlCol="0" anchor="t">
            <a:spAutoFit/>
          </a:bodyPr>
          <a:lstStyle/>
          <a:p>
            <a:pPr algn="l">
              <a:lnSpc>
                <a:spcPts val="8400"/>
              </a:lnSpc>
            </a:pPr>
            <a:r>
              <a:rPr lang="en-US" sz="6000" b="1">
                <a:solidFill>
                  <a:srgbClr val="000000"/>
                </a:solidFill>
                <a:latin typeface="Garet Bold"/>
                <a:ea typeface="Garet Bold"/>
                <a:cs typeface="Garet Bold"/>
                <a:sym typeface="Garet Bold"/>
              </a:rPr>
              <a:t>End-to-End Credit Card Transaction &amp; Merchant Recommendation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6699FF"/>
        </a:solidFill>
        <a:effectLst/>
      </p:bgPr>
    </p:bg>
    <p:spTree>
      <p:nvGrpSpPr>
        <p:cNvPr id="1" name=""/>
        <p:cNvGrpSpPr/>
        <p:nvPr/>
      </p:nvGrpSpPr>
      <p:grpSpPr>
        <a:xfrm>
          <a:off x="0" y="0"/>
          <a:ext cx="0" cy="0"/>
          <a:chOff x="0" y="0"/>
          <a:chExt cx="0" cy="0"/>
        </a:xfrm>
      </p:grpSpPr>
      <p:grpSp>
        <p:nvGrpSpPr>
          <p:cNvPr id="2" name="Group 2"/>
          <p:cNvGrpSpPr/>
          <p:nvPr/>
        </p:nvGrpSpPr>
        <p:grpSpPr>
          <a:xfrm>
            <a:off x="188797" y="203992"/>
            <a:ext cx="17910406" cy="9879016"/>
            <a:chOff x="0" y="0"/>
            <a:chExt cx="4717144" cy="2601881"/>
          </a:xfrm>
        </p:grpSpPr>
        <p:sp>
          <p:nvSpPr>
            <p:cNvPr id="3" name="Freeform 3"/>
            <p:cNvSpPr/>
            <p:nvPr/>
          </p:nvSpPr>
          <p:spPr>
            <a:xfrm>
              <a:off x="0" y="0"/>
              <a:ext cx="4717144" cy="2601881"/>
            </a:xfrm>
            <a:custGeom>
              <a:avLst/>
              <a:gdLst/>
              <a:ahLst/>
              <a:cxnLst/>
              <a:rect l="l" t="t" r="r" b="b"/>
              <a:pathLst>
                <a:path w="4717144" h="2601881">
                  <a:moveTo>
                    <a:pt x="0" y="0"/>
                  </a:moveTo>
                  <a:lnTo>
                    <a:pt x="4717144" y="0"/>
                  </a:lnTo>
                  <a:lnTo>
                    <a:pt x="4717144" y="2601881"/>
                  </a:lnTo>
                  <a:lnTo>
                    <a:pt x="0" y="2601881"/>
                  </a:lnTo>
                  <a:close/>
                </a:path>
              </a:pathLst>
            </a:custGeom>
            <a:solidFill>
              <a:srgbClr val="FFFFFF"/>
            </a:solidFill>
          </p:spPr>
          <p:txBody>
            <a:bodyPr/>
            <a:lstStyle/>
            <a:p>
              <a:endParaRPr lang="en-GB"/>
            </a:p>
          </p:txBody>
        </p:sp>
        <p:sp>
          <p:nvSpPr>
            <p:cNvPr id="4" name="TextBox 4"/>
            <p:cNvSpPr txBox="1"/>
            <p:nvPr/>
          </p:nvSpPr>
          <p:spPr>
            <a:xfrm>
              <a:off x="0" y="-28575"/>
              <a:ext cx="4717144" cy="263045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6533978" y="4484290"/>
            <a:ext cx="5220044" cy="3897491"/>
            <a:chOff x="0" y="0"/>
            <a:chExt cx="1374826" cy="1026500"/>
          </a:xfrm>
        </p:grpSpPr>
        <p:sp>
          <p:nvSpPr>
            <p:cNvPr id="6" name="Freeform 6"/>
            <p:cNvSpPr/>
            <p:nvPr/>
          </p:nvSpPr>
          <p:spPr>
            <a:xfrm>
              <a:off x="0" y="0"/>
              <a:ext cx="1374826" cy="1026500"/>
            </a:xfrm>
            <a:custGeom>
              <a:avLst/>
              <a:gdLst/>
              <a:ahLst/>
              <a:cxnLst/>
              <a:rect l="l" t="t" r="r" b="b"/>
              <a:pathLst>
                <a:path w="1374826" h="1026500">
                  <a:moveTo>
                    <a:pt x="0" y="0"/>
                  </a:moveTo>
                  <a:lnTo>
                    <a:pt x="1374826" y="0"/>
                  </a:lnTo>
                  <a:lnTo>
                    <a:pt x="1374826" y="1026500"/>
                  </a:lnTo>
                  <a:lnTo>
                    <a:pt x="0" y="1026500"/>
                  </a:lnTo>
                  <a:close/>
                </a:path>
              </a:pathLst>
            </a:custGeom>
            <a:solidFill>
              <a:srgbClr val="000066"/>
            </a:solidFill>
          </p:spPr>
          <p:txBody>
            <a:bodyPr/>
            <a:lstStyle/>
            <a:p>
              <a:endParaRPr lang="en-GB"/>
            </a:p>
          </p:txBody>
        </p:sp>
        <p:sp>
          <p:nvSpPr>
            <p:cNvPr id="7" name="TextBox 7"/>
            <p:cNvSpPr txBox="1"/>
            <p:nvPr/>
          </p:nvSpPr>
          <p:spPr>
            <a:xfrm>
              <a:off x="0" y="-28575"/>
              <a:ext cx="1374826" cy="105507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699999">
            <a:off x="2168435" y="1098230"/>
            <a:ext cx="1967492" cy="1806982"/>
            <a:chOff x="0" y="0"/>
            <a:chExt cx="1362598" cy="1251436"/>
          </a:xfrm>
        </p:grpSpPr>
        <p:sp>
          <p:nvSpPr>
            <p:cNvPr id="9" name="Freeform 9"/>
            <p:cNvSpPr/>
            <p:nvPr/>
          </p:nvSpPr>
          <p:spPr>
            <a:xfrm>
              <a:off x="0" y="0"/>
              <a:ext cx="1362598" cy="1251436"/>
            </a:xfrm>
            <a:custGeom>
              <a:avLst/>
              <a:gdLst/>
              <a:ahLst/>
              <a:cxnLst/>
              <a:rect l="l" t="t" r="r" b="b"/>
              <a:pathLst>
                <a:path w="1362598" h="1251436">
                  <a:moveTo>
                    <a:pt x="0" y="0"/>
                  </a:moveTo>
                  <a:lnTo>
                    <a:pt x="1362598" y="0"/>
                  </a:lnTo>
                  <a:lnTo>
                    <a:pt x="1362598" y="1251436"/>
                  </a:lnTo>
                  <a:lnTo>
                    <a:pt x="0" y="1251436"/>
                  </a:lnTo>
                  <a:close/>
                </a:path>
              </a:pathLst>
            </a:custGeom>
            <a:solidFill>
              <a:srgbClr val="6699FF"/>
            </a:solidFill>
          </p:spPr>
          <p:txBody>
            <a:bodyPr/>
            <a:lstStyle/>
            <a:p>
              <a:endParaRPr lang="en-GB"/>
            </a:p>
          </p:txBody>
        </p:sp>
        <p:sp>
          <p:nvSpPr>
            <p:cNvPr id="10" name="TextBox 10"/>
            <p:cNvSpPr txBox="1"/>
            <p:nvPr/>
          </p:nvSpPr>
          <p:spPr>
            <a:xfrm>
              <a:off x="0" y="-38100"/>
              <a:ext cx="1362598" cy="1289536"/>
            </a:xfrm>
            <a:prstGeom prst="rect">
              <a:avLst/>
            </a:prstGeom>
          </p:spPr>
          <p:txBody>
            <a:bodyPr lIns="46654" tIns="46654" rIns="46654" bIns="46654" rtlCol="0" anchor="ctr"/>
            <a:lstStyle/>
            <a:p>
              <a:pPr algn="ctr">
                <a:lnSpc>
                  <a:spcPts val="1800"/>
                </a:lnSpc>
                <a:spcBef>
                  <a:spcPct val="0"/>
                </a:spcBef>
              </a:pPr>
              <a:endParaRPr/>
            </a:p>
          </p:txBody>
        </p:sp>
      </p:grpSp>
      <p:grpSp>
        <p:nvGrpSpPr>
          <p:cNvPr id="11" name="Group 11"/>
          <p:cNvGrpSpPr/>
          <p:nvPr/>
        </p:nvGrpSpPr>
        <p:grpSpPr>
          <a:xfrm rot="-2699999">
            <a:off x="-1934389" y="-747880"/>
            <a:ext cx="3868778" cy="3553160"/>
            <a:chOff x="0" y="0"/>
            <a:chExt cx="2679345" cy="2460762"/>
          </a:xfrm>
        </p:grpSpPr>
        <p:sp>
          <p:nvSpPr>
            <p:cNvPr id="12" name="Freeform 12"/>
            <p:cNvSpPr/>
            <p:nvPr/>
          </p:nvSpPr>
          <p:spPr>
            <a:xfrm>
              <a:off x="0" y="0"/>
              <a:ext cx="2679345" cy="2460762"/>
            </a:xfrm>
            <a:custGeom>
              <a:avLst/>
              <a:gdLst/>
              <a:ahLst/>
              <a:cxnLst/>
              <a:rect l="l" t="t" r="r" b="b"/>
              <a:pathLst>
                <a:path w="2679345" h="2460762">
                  <a:moveTo>
                    <a:pt x="0" y="0"/>
                  </a:moveTo>
                  <a:lnTo>
                    <a:pt x="2679345" y="0"/>
                  </a:lnTo>
                  <a:lnTo>
                    <a:pt x="2679345" y="2460762"/>
                  </a:lnTo>
                  <a:lnTo>
                    <a:pt x="0" y="2460762"/>
                  </a:lnTo>
                  <a:close/>
                </a:path>
              </a:pathLst>
            </a:custGeom>
            <a:solidFill>
              <a:srgbClr val="336699"/>
            </a:solidFill>
          </p:spPr>
          <p:txBody>
            <a:bodyPr/>
            <a:lstStyle/>
            <a:p>
              <a:endParaRPr lang="en-GB"/>
            </a:p>
          </p:txBody>
        </p:sp>
        <p:sp>
          <p:nvSpPr>
            <p:cNvPr id="13" name="TextBox 13"/>
            <p:cNvSpPr txBox="1"/>
            <p:nvPr/>
          </p:nvSpPr>
          <p:spPr>
            <a:xfrm>
              <a:off x="0" y="-38100"/>
              <a:ext cx="2679345" cy="2498862"/>
            </a:xfrm>
            <a:prstGeom prst="rect">
              <a:avLst/>
            </a:prstGeom>
          </p:spPr>
          <p:txBody>
            <a:bodyPr lIns="46654" tIns="46654" rIns="46654" bIns="46654" rtlCol="0" anchor="ctr"/>
            <a:lstStyle/>
            <a:p>
              <a:pPr algn="ctr">
                <a:lnSpc>
                  <a:spcPts val="1800"/>
                </a:lnSpc>
                <a:spcBef>
                  <a:spcPct val="0"/>
                </a:spcBef>
              </a:pPr>
              <a:endParaRPr/>
            </a:p>
          </p:txBody>
        </p:sp>
      </p:grpSp>
      <p:grpSp>
        <p:nvGrpSpPr>
          <p:cNvPr id="14" name="Group 14"/>
          <p:cNvGrpSpPr/>
          <p:nvPr/>
        </p:nvGrpSpPr>
        <p:grpSpPr>
          <a:xfrm rot="-2699999">
            <a:off x="15004062" y="1282712"/>
            <a:ext cx="1545012" cy="1418968"/>
            <a:chOff x="0" y="0"/>
            <a:chExt cx="1070007" cy="982715"/>
          </a:xfrm>
        </p:grpSpPr>
        <p:sp>
          <p:nvSpPr>
            <p:cNvPr id="15" name="Freeform 15"/>
            <p:cNvSpPr/>
            <p:nvPr/>
          </p:nvSpPr>
          <p:spPr>
            <a:xfrm>
              <a:off x="0" y="0"/>
              <a:ext cx="1070007" cy="982715"/>
            </a:xfrm>
            <a:custGeom>
              <a:avLst/>
              <a:gdLst/>
              <a:ahLst/>
              <a:cxnLst/>
              <a:rect l="l" t="t" r="r" b="b"/>
              <a:pathLst>
                <a:path w="1070007" h="982715">
                  <a:moveTo>
                    <a:pt x="0" y="0"/>
                  </a:moveTo>
                  <a:lnTo>
                    <a:pt x="1070007" y="0"/>
                  </a:lnTo>
                  <a:lnTo>
                    <a:pt x="1070007" y="982715"/>
                  </a:lnTo>
                  <a:lnTo>
                    <a:pt x="0" y="982715"/>
                  </a:lnTo>
                  <a:close/>
                </a:path>
              </a:pathLst>
            </a:custGeom>
            <a:solidFill>
              <a:srgbClr val="336699"/>
            </a:solidFill>
          </p:spPr>
          <p:txBody>
            <a:bodyPr/>
            <a:lstStyle/>
            <a:p>
              <a:endParaRPr lang="en-GB"/>
            </a:p>
          </p:txBody>
        </p:sp>
        <p:sp>
          <p:nvSpPr>
            <p:cNvPr id="16" name="TextBox 16"/>
            <p:cNvSpPr txBox="1"/>
            <p:nvPr/>
          </p:nvSpPr>
          <p:spPr>
            <a:xfrm>
              <a:off x="0" y="-38100"/>
              <a:ext cx="1070007" cy="1020815"/>
            </a:xfrm>
            <a:prstGeom prst="rect">
              <a:avLst/>
            </a:prstGeom>
          </p:spPr>
          <p:txBody>
            <a:bodyPr lIns="46654" tIns="46654" rIns="46654" bIns="46654" rtlCol="0" anchor="ctr"/>
            <a:lstStyle/>
            <a:p>
              <a:pPr algn="ctr">
                <a:lnSpc>
                  <a:spcPts val="1800"/>
                </a:lnSpc>
                <a:spcBef>
                  <a:spcPct val="0"/>
                </a:spcBef>
              </a:pPr>
              <a:endParaRPr/>
            </a:p>
          </p:txBody>
        </p:sp>
      </p:grpSp>
      <p:grpSp>
        <p:nvGrpSpPr>
          <p:cNvPr id="17" name="Group 17"/>
          <p:cNvGrpSpPr/>
          <p:nvPr/>
        </p:nvGrpSpPr>
        <p:grpSpPr>
          <a:xfrm rot="-2699999">
            <a:off x="16542837" y="1273066"/>
            <a:ext cx="3868778" cy="3553160"/>
            <a:chOff x="0" y="0"/>
            <a:chExt cx="2679345" cy="2460762"/>
          </a:xfrm>
        </p:grpSpPr>
        <p:sp>
          <p:nvSpPr>
            <p:cNvPr id="18" name="Freeform 18"/>
            <p:cNvSpPr/>
            <p:nvPr/>
          </p:nvSpPr>
          <p:spPr>
            <a:xfrm>
              <a:off x="0" y="0"/>
              <a:ext cx="2679345" cy="2460762"/>
            </a:xfrm>
            <a:custGeom>
              <a:avLst/>
              <a:gdLst/>
              <a:ahLst/>
              <a:cxnLst/>
              <a:rect l="l" t="t" r="r" b="b"/>
              <a:pathLst>
                <a:path w="2679345" h="2460762">
                  <a:moveTo>
                    <a:pt x="0" y="0"/>
                  </a:moveTo>
                  <a:lnTo>
                    <a:pt x="2679345" y="0"/>
                  </a:lnTo>
                  <a:lnTo>
                    <a:pt x="2679345" y="2460762"/>
                  </a:lnTo>
                  <a:lnTo>
                    <a:pt x="0" y="2460762"/>
                  </a:lnTo>
                  <a:close/>
                </a:path>
              </a:pathLst>
            </a:custGeom>
            <a:solidFill>
              <a:srgbClr val="000066"/>
            </a:solidFill>
          </p:spPr>
          <p:txBody>
            <a:bodyPr/>
            <a:lstStyle/>
            <a:p>
              <a:endParaRPr lang="en-GB"/>
            </a:p>
          </p:txBody>
        </p:sp>
        <p:sp>
          <p:nvSpPr>
            <p:cNvPr id="19" name="TextBox 19"/>
            <p:cNvSpPr txBox="1"/>
            <p:nvPr/>
          </p:nvSpPr>
          <p:spPr>
            <a:xfrm>
              <a:off x="0" y="-38100"/>
              <a:ext cx="2679345" cy="2498862"/>
            </a:xfrm>
            <a:prstGeom prst="rect">
              <a:avLst/>
            </a:prstGeom>
          </p:spPr>
          <p:txBody>
            <a:bodyPr lIns="46654" tIns="46654" rIns="46654" bIns="46654" rtlCol="0" anchor="ctr"/>
            <a:lstStyle/>
            <a:p>
              <a:pPr algn="ctr">
                <a:lnSpc>
                  <a:spcPts val="1800"/>
                </a:lnSpc>
                <a:spcBef>
                  <a:spcPct val="0"/>
                </a:spcBef>
              </a:pPr>
              <a:endParaRPr/>
            </a:p>
          </p:txBody>
        </p:sp>
      </p:grpSp>
      <p:sp>
        <p:nvSpPr>
          <p:cNvPr id="20" name="TextBox 20"/>
          <p:cNvSpPr txBox="1"/>
          <p:nvPr/>
        </p:nvSpPr>
        <p:spPr>
          <a:xfrm>
            <a:off x="1028700" y="1096671"/>
            <a:ext cx="16230600" cy="760095"/>
          </a:xfrm>
          <a:prstGeom prst="rect">
            <a:avLst/>
          </a:prstGeom>
        </p:spPr>
        <p:txBody>
          <a:bodyPr lIns="0" tIns="0" rIns="0" bIns="0" rtlCol="0" anchor="t">
            <a:spAutoFit/>
          </a:bodyPr>
          <a:lstStyle/>
          <a:p>
            <a:pPr marL="0" lvl="0" indent="0" algn="ctr">
              <a:lnSpc>
                <a:spcPts val="5640"/>
              </a:lnSpc>
              <a:spcBef>
                <a:spcPct val="0"/>
              </a:spcBef>
            </a:pPr>
            <a:r>
              <a:rPr lang="en-US" sz="6000" b="1">
                <a:solidFill>
                  <a:srgbClr val="000066"/>
                </a:solidFill>
                <a:latin typeface="Garet Bold"/>
                <a:ea typeface="Garet Bold"/>
                <a:cs typeface="Garet Bold"/>
                <a:sym typeface="Garet Bold"/>
              </a:rPr>
              <a:t>Project </a:t>
            </a:r>
            <a:r>
              <a:rPr lang="en-US" sz="6000" b="1" u="none" strike="noStrike">
                <a:solidFill>
                  <a:srgbClr val="000066"/>
                </a:solidFill>
                <a:latin typeface="Garet Bold"/>
                <a:ea typeface="Garet Bold"/>
                <a:cs typeface="Garet Bold"/>
                <a:sym typeface="Garet Bold"/>
              </a:rPr>
              <a:t>Goals</a:t>
            </a:r>
          </a:p>
        </p:txBody>
      </p:sp>
      <p:sp>
        <p:nvSpPr>
          <p:cNvPr id="21" name="TextBox 21"/>
          <p:cNvSpPr txBox="1"/>
          <p:nvPr/>
        </p:nvSpPr>
        <p:spPr>
          <a:xfrm>
            <a:off x="1558757" y="6399190"/>
            <a:ext cx="4197860" cy="1598042"/>
          </a:xfrm>
          <a:prstGeom prst="rect">
            <a:avLst/>
          </a:prstGeom>
        </p:spPr>
        <p:txBody>
          <a:bodyPr lIns="0" tIns="0" rIns="0" bIns="0" rtlCol="0" anchor="t">
            <a:spAutoFit/>
          </a:bodyPr>
          <a:lstStyle/>
          <a:p>
            <a:pPr marL="0" lvl="0" indent="0" algn="ctr">
              <a:lnSpc>
                <a:spcPts val="2147"/>
              </a:lnSpc>
              <a:spcBef>
                <a:spcPct val="0"/>
              </a:spcBef>
            </a:pPr>
            <a:r>
              <a:rPr lang="en-US" sz="1900">
                <a:solidFill>
                  <a:srgbClr val="000066"/>
                </a:solidFill>
                <a:latin typeface="Garet"/>
                <a:ea typeface="Garet"/>
                <a:cs typeface="Garet"/>
                <a:sym typeface="Garet"/>
              </a:rPr>
              <a:t>Provide an executive overview of transaction activity and velocity over time, painting a clear picture of both past and new merchant transactions and installment behaviour</a:t>
            </a:r>
          </a:p>
        </p:txBody>
      </p:sp>
      <p:sp>
        <p:nvSpPr>
          <p:cNvPr id="22" name="TextBox 22"/>
          <p:cNvSpPr txBox="1"/>
          <p:nvPr/>
        </p:nvSpPr>
        <p:spPr>
          <a:xfrm>
            <a:off x="7045070" y="6399190"/>
            <a:ext cx="4197860" cy="1331342"/>
          </a:xfrm>
          <a:prstGeom prst="rect">
            <a:avLst/>
          </a:prstGeom>
        </p:spPr>
        <p:txBody>
          <a:bodyPr lIns="0" tIns="0" rIns="0" bIns="0" rtlCol="0" anchor="t">
            <a:spAutoFit/>
          </a:bodyPr>
          <a:lstStyle/>
          <a:p>
            <a:pPr marL="0" lvl="0" indent="0" algn="ctr">
              <a:lnSpc>
                <a:spcPts val="2147"/>
              </a:lnSpc>
              <a:spcBef>
                <a:spcPct val="0"/>
              </a:spcBef>
            </a:pPr>
            <a:r>
              <a:rPr lang="en-US" sz="1900">
                <a:solidFill>
                  <a:srgbClr val="FFFFFF"/>
                </a:solidFill>
                <a:latin typeface="Garet"/>
                <a:ea typeface="Garet"/>
                <a:cs typeface="Garet"/>
                <a:sym typeface="Garet"/>
              </a:rPr>
              <a:t>Identify key spending areas by finding the most active states and cities in terms of both transaction volume and average cardholder spending</a:t>
            </a:r>
          </a:p>
        </p:txBody>
      </p:sp>
      <p:sp>
        <p:nvSpPr>
          <p:cNvPr id="23" name="TextBox 23"/>
          <p:cNvSpPr txBox="1"/>
          <p:nvPr/>
        </p:nvSpPr>
        <p:spPr>
          <a:xfrm>
            <a:off x="1558757" y="5164115"/>
            <a:ext cx="4197860" cy="426720"/>
          </a:xfrm>
          <a:prstGeom prst="rect">
            <a:avLst/>
          </a:prstGeom>
        </p:spPr>
        <p:txBody>
          <a:bodyPr lIns="0" tIns="0" rIns="0" bIns="0" rtlCol="0" anchor="t">
            <a:spAutoFit/>
          </a:bodyPr>
          <a:lstStyle/>
          <a:p>
            <a:pPr marL="0" lvl="0" indent="0" algn="ctr">
              <a:lnSpc>
                <a:spcPts val="3390"/>
              </a:lnSpc>
              <a:spcBef>
                <a:spcPct val="0"/>
              </a:spcBef>
            </a:pPr>
            <a:r>
              <a:rPr lang="en-US" sz="3000" b="1">
                <a:solidFill>
                  <a:srgbClr val="000066"/>
                </a:solidFill>
                <a:latin typeface="Garet Bold"/>
                <a:ea typeface="Garet Bold"/>
                <a:cs typeface="Garet Bold"/>
                <a:sym typeface="Garet Bold"/>
              </a:rPr>
              <a:t>Executive Overview</a:t>
            </a:r>
          </a:p>
        </p:txBody>
      </p:sp>
      <p:sp>
        <p:nvSpPr>
          <p:cNvPr id="24" name="TextBox 24"/>
          <p:cNvSpPr txBox="1"/>
          <p:nvPr/>
        </p:nvSpPr>
        <p:spPr>
          <a:xfrm>
            <a:off x="7045070" y="5164115"/>
            <a:ext cx="4197860" cy="426720"/>
          </a:xfrm>
          <a:prstGeom prst="rect">
            <a:avLst/>
          </a:prstGeom>
        </p:spPr>
        <p:txBody>
          <a:bodyPr lIns="0" tIns="0" rIns="0" bIns="0" rtlCol="0" anchor="t">
            <a:spAutoFit/>
          </a:bodyPr>
          <a:lstStyle/>
          <a:p>
            <a:pPr marL="0" lvl="0" indent="0" algn="ctr">
              <a:lnSpc>
                <a:spcPts val="3390"/>
              </a:lnSpc>
              <a:spcBef>
                <a:spcPct val="0"/>
              </a:spcBef>
            </a:pPr>
            <a:r>
              <a:rPr lang="en-US" sz="3000" b="1">
                <a:solidFill>
                  <a:srgbClr val="FFFFFF"/>
                </a:solidFill>
                <a:latin typeface="Garet Bold"/>
                <a:ea typeface="Garet Bold"/>
                <a:cs typeface="Garet Bold"/>
                <a:sym typeface="Garet Bold"/>
              </a:rPr>
              <a:t>Geographic Analysis</a:t>
            </a:r>
          </a:p>
        </p:txBody>
      </p:sp>
      <p:sp>
        <p:nvSpPr>
          <p:cNvPr id="25" name="TextBox 25"/>
          <p:cNvSpPr txBox="1"/>
          <p:nvPr/>
        </p:nvSpPr>
        <p:spPr>
          <a:xfrm>
            <a:off x="12531383" y="6399190"/>
            <a:ext cx="4197860" cy="797942"/>
          </a:xfrm>
          <a:prstGeom prst="rect">
            <a:avLst/>
          </a:prstGeom>
        </p:spPr>
        <p:txBody>
          <a:bodyPr lIns="0" tIns="0" rIns="0" bIns="0" rtlCol="0" anchor="t">
            <a:spAutoFit/>
          </a:bodyPr>
          <a:lstStyle/>
          <a:p>
            <a:pPr marL="0" lvl="0" indent="0" algn="ctr">
              <a:lnSpc>
                <a:spcPts val="2147"/>
              </a:lnSpc>
              <a:spcBef>
                <a:spcPct val="0"/>
              </a:spcBef>
            </a:pPr>
            <a:r>
              <a:rPr lang="en-US" sz="1900">
                <a:solidFill>
                  <a:srgbClr val="000066"/>
                </a:solidFill>
                <a:latin typeface="Garet"/>
                <a:ea typeface="Garet"/>
                <a:cs typeface="Garet"/>
                <a:sym typeface="Garet"/>
              </a:rPr>
              <a:t>Analysis of different merchant categories and subsectors across customer categories and profiles</a:t>
            </a:r>
          </a:p>
        </p:txBody>
      </p:sp>
      <p:sp>
        <p:nvSpPr>
          <p:cNvPr id="26" name="TextBox 26"/>
          <p:cNvSpPr txBox="1"/>
          <p:nvPr/>
        </p:nvSpPr>
        <p:spPr>
          <a:xfrm>
            <a:off x="12531383" y="5164115"/>
            <a:ext cx="4197860" cy="426720"/>
          </a:xfrm>
          <a:prstGeom prst="rect">
            <a:avLst/>
          </a:prstGeom>
        </p:spPr>
        <p:txBody>
          <a:bodyPr lIns="0" tIns="0" rIns="0" bIns="0" rtlCol="0" anchor="t">
            <a:spAutoFit/>
          </a:bodyPr>
          <a:lstStyle/>
          <a:p>
            <a:pPr marL="0" lvl="0" indent="0" algn="ctr">
              <a:lnSpc>
                <a:spcPts val="3390"/>
              </a:lnSpc>
              <a:spcBef>
                <a:spcPct val="0"/>
              </a:spcBef>
            </a:pPr>
            <a:r>
              <a:rPr lang="en-US" sz="3000" b="1">
                <a:solidFill>
                  <a:srgbClr val="000066"/>
                </a:solidFill>
                <a:latin typeface="Garet Bold"/>
                <a:ea typeface="Garet Bold"/>
                <a:cs typeface="Garet Bold"/>
                <a:sym typeface="Garet Bold"/>
              </a:rPr>
              <a:t>Category Profiles</a:t>
            </a:r>
          </a:p>
        </p:txBody>
      </p:sp>
      <p:sp>
        <p:nvSpPr>
          <p:cNvPr id="27" name="TextBox 27"/>
          <p:cNvSpPr txBox="1"/>
          <p:nvPr/>
        </p:nvSpPr>
        <p:spPr>
          <a:xfrm>
            <a:off x="3657687" y="3061245"/>
            <a:ext cx="10972626" cy="578485"/>
          </a:xfrm>
          <a:prstGeom prst="rect">
            <a:avLst/>
          </a:prstGeom>
        </p:spPr>
        <p:txBody>
          <a:bodyPr lIns="0" tIns="0" rIns="0" bIns="0" rtlCol="0" anchor="t">
            <a:spAutoFit/>
          </a:bodyPr>
          <a:lstStyle/>
          <a:p>
            <a:pPr marL="0" lvl="0" indent="0" algn="ctr">
              <a:lnSpc>
                <a:spcPts val="4519"/>
              </a:lnSpc>
              <a:spcBef>
                <a:spcPct val="0"/>
              </a:spcBef>
            </a:pPr>
            <a:r>
              <a:rPr lang="en-US" sz="3999" b="1">
                <a:solidFill>
                  <a:srgbClr val="000066"/>
                </a:solidFill>
                <a:latin typeface="Garet Bold"/>
                <a:ea typeface="Garet Bold"/>
                <a:cs typeface="Garet Bold"/>
                <a:sym typeface="Garet Bold"/>
              </a:rPr>
              <a:t>Goals are threefold: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699FF"/>
        </a:solidFill>
        <a:effectLst/>
      </p:bgPr>
    </p:bg>
    <p:spTree>
      <p:nvGrpSpPr>
        <p:cNvPr id="1" name=""/>
        <p:cNvGrpSpPr/>
        <p:nvPr/>
      </p:nvGrpSpPr>
      <p:grpSpPr>
        <a:xfrm>
          <a:off x="0" y="0"/>
          <a:ext cx="0" cy="0"/>
          <a:chOff x="0" y="0"/>
          <a:chExt cx="0" cy="0"/>
        </a:xfrm>
      </p:grpSpPr>
      <p:grpSp>
        <p:nvGrpSpPr>
          <p:cNvPr id="2" name="Group 2"/>
          <p:cNvGrpSpPr/>
          <p:nvPr/>
        </p:nvGrpSpPr>
        <p:grpSpPr>
          <a:xfrm>
            <a:off x="188797" y="203992"/>
            <a:ext cx="17910406" cy="9879016"/>
            <a:chOff x="0" y="0"/>
            <a:chExt cx="4717144" cy="2601881"/>
          </a:xfrm>
        </p:grpSpPr>
        <p:sp>
          <p:nvSpPr>
            <p:cNvPr id="3" name="Freeform 3"/>
            <p:cNvSpPr/>
            <p:nvPr/>
          </p:nvSpPr>
          <p:spPr>
            <a:xfrm>
              <a:off x="0" y="0"/>
              <a:ext cx="4717144" cy="2601881"/>
            </a:xfrm>
            <a:custGeom>
              <a:avLst/>
              <a:gdLst/>
              <a:ahLst/>
              <a:cxnLst/>
              <a:rect l="l" t="t" r="r" b="b"/>
              <a:pathLst>
                <a:path w="4717144" h="2601881">
                  <a:moveTo>
                    <a:pt x="0" y="0"/>
                  </a:moveTo>
                  <a:lnTo>
                    <a:pt x="4717144" y="0"/>
                  </a:lnTo>
                  <a:lnTo>
                    <a:pt x="4717144" y="2601881"/>
                  </a:lnTo>
                  <a:lnTo>
                    <a:pt x="0" y="2601881"/>
                  </a:lnTo>
                  <a:close/>
                </a:path>
              </a:pathLst>
            </a:custGeom>
            <a:solidFill>
              <a:srgbClr val="FFFFFF"/>
            </a:solidFill>
          </p:spPr>
          <p:txBody>
            <a:bodyPr/>
            <a:lstStyle/>
            <a:p>
              <a:endParaRPr lang="en-GB"/>
            </a:p>
          </p:txBody>
        </p:sp>
        <p:sp>
          <p:nvSpPr>
            <p:cNvPr id="4" name="TextBox 4"/>
            <p:cNvSpPr txBox="1"/>
            <p:nvPr/>
          </p:nvSpPr>
          <p:spPr>
            <a:xfrm>
              <a:off x="0" y="-28575"/>
              <a:ext cx="4717144" cy="263045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699999">
            <a:off x="2168435" y="1098230"/>
            <a:ext cx="1967492" cy="1806982"/>
            <a:chOff x="0" y="0"/>
            <a:chExt cx="1362598" cy="1251436"/>
          </a:xfrm>
        </p:grpSpPr>
        <p:sp>
          <p:nvSpPr>
            <p:cNvPr id="6" name="Freeform 6"/>
            <p:cNvSpPr/>
            <p:nvPr/>
          </p:nvSpPr>
          <p:spPr>
            <a:xfrm>
              <a:off x="0" y="0"/>
              <a:ext cx="1362598" cy="1251436"/>
            </a:xfrm>
            <a:custGeom>
              <a:avLst/>
              <a:gdLst/>
              <a:ahLst/>
              <a:cxnLst/>
              <a:rect l="l" t="t" r="r" b="b"/>
              <a:pathLst>
                <a:path w="1362598" h="1251436">
                  <a:moveTo>
                    <a:pt x="0" y="0"/>
                  </a:moveTo>
                  <a:lnTo>
                    <a:pt x="1362598" y="0"/>
                  </a:lnTo>
                  <a:lnTo>
                    <a:pt x="1362598" y="1251436"/>
                  </a:lnTo>
                  <a:lnTo>
                    <a:pt x="0" y="1251436"/>
                  </a:lnTo>
                  <a:close/>
                </a:path>
              </a:pathLst>
            </a:custGeom>
            <a:solidFill>
              <a:srgbClr val="6699FF"/>
            </a:solidFill>
          </p:spPr>
          <p:txBody>
            <a:bodyPr/>
            <a:lstStyle/>
            <a:p>
              <a:endParaRPr lang="en-GB"/>
            </a:p>
          </p:txBody>
        </p:sp>
        <p:sp>
          <p:nvSpPr>
            <p:cNvPr id="7" name="TextBox 7"/>
            <p:cNvSpPr txBox="1"/>
            <p:nvPr/>
          </p:nvSpPr>
          <p:spPr>
            <a:xfrm>
              <a:off x="0" y="-38100"/>
              <a:ext cx="1362598" cy="1289536"/>
            </a:xfrm>
            <a:prstGeom prst="rect">
              <a:avLst/>
            </a:prstGeom>
          </p:spPr>
          <p:txBody>
            <a:bodyPr lIns="46654" tIns="46654" rIns="46654" bIns="46654" rtlCol="0" anchor="ctr"/>
            <a:lstStyle/>
            <a:p>
              <a:pPr algn="ctr">
                <a:lnSpc>
                  <a:spcPts val="1800"/>
                </a:lnSpc>
                <a:spcBef>
                  <a:spcPct val="0"/>
                </a:spcBef>
              </a:pPr>
              <a:endParaRPr/>
            </a:p>
          </p:txBody>
        </p:sp>
      </p:grpSp>
      <p:grpSp>
        <p:nvGrpSpPr>
          <p:cNvPr id="8" name="Group 8"/>
          <p:cNvGrpSpPr/>
          <p:nvPr/>
        </p:nvGrpSpPr>
        <p:grpSpPr>
          <a:xfrm>
            <a:off x="6533978" y="4484290"/>
            <a:ext cx="5220044" cy="3897491"/>
            <a:chOff x="0" y="0"/>
            <a:chExt cx="1374826" cy="1026500"/>
          </a:xfrm>
        </p:grpSpPr>
        <p:sp>
          <p:nvSpPr>
            <p:cNvPr id="9" name="Freeform 9"/>
            <p:cNvSpPr/>
            <p:nvPr/>
          </p:nvSpPr>
          <p:spPr>
            <a:xfrm>
              <a:off x="0" y="0"/>
              <a:ext cx="1374826" cy="1026500"/>
            </a:xfrm>
            <a:custGeom>
              <a:avLst/>
              <a:gdLst/>
              <a:ahLst/>
              <a:cxnLst/>
              <a:rect l="l" t="t" r="r" b="b"/>
              <a:pathLst>
                <a:path w="1374826" h="1026500">
                  <a:moveTo>
                    <a:pt x="0" y="0"/>
                  </a:moveTo>
                  <a:lnTo>
                    <a:pt x="1374826" y="0"/>
                  </a:lnTo>
                  <a:lnTo>
                    <a:pt x="1374826" y="1026500"/>
                  </a:lnTo>
                  <a:lnTo>
                    <a:pt x="0" y="1026500"/>
                  </a:lnTo>
                  <a:close/>
                </a:path>
              </a:pathLst>
            </a:custGeom>
            <a:solidFill>
              <a:srgbClr val="000066"/>
            </a:solidFill>
          </p:spPr>
          <p:txBody>
            <a:bodyPr/>
            <a:lstStyle/>
            <a:p>
              <a:endParaRPr lang="en-GB"/>
            </a:p>
          </p:txBody>
        </p:sp>
        <p:sp>
          <p:nvSpPr>
            <p:cNvPr id="10" name="TextBox 10"/>
            <p:cNvSpPr txBox="1"/>
            <p:nvPr/>
          </p:nvSpPr>
          <p:spPr>
            <a:xfrm>
              <a:off x="0" y="-28575"/>
              <a:ext cx="1374826" cy="105507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558757" y="6399190"/>
            <a:ext cx="4197860" cy="1064642"/>
          </a:xfrm>
          <a:prstGeom prst="rect">
            <a:avLst/>
          </a:prstGeom>
        </p:spPr>
        <p:txBody>
          <a:bodyPr lIns="0" tIns="0" rIns="0" bIns="0" rtlCol="0" anchor="t">
            <a:spAutoFit/>
          </a:bodyPr>
          <a:lstStyle/>
          <a:p>
            <a:pPr marL="0" lvl="0" indent="0" algn="ctr">
              <a:lnSpc>
                <a:spcPts val="2147"/>
              </a:lnSpc>
              <a:spcBef>
                <a:spcPct val="0"/>
              </a:spcBef>
            </a:pPr>
            <a:r>
              <a:rPr lang="en-US" sz="1900">
                <a:solidFill>
                  <a:srgbClr val="000066"/>
                </a:solidFill>
                <a:latin typeface="Garet"/>
                <a:ea typeface="Garet"/>
                <a:cs typeface="Garet"/>
                <a:sym typeface="Garet"/>
              </a:rPr>
              <a:t>The executive overview allows for examination of past transaction and comparison to newly-made transactions</a:t>
            </a:r>
          </a:p>
        </p:txBody>
      </p:sp>
      <p:sp>
        <p:nvSpPr>
          <p:cNvPr id="12" name="TextBox 12"/>
          <p:cNvSpPr txBox="1"/>
          <p:nvPr/>
        </p:nvSpPr>
        <p:spPr>
          <a:xfrm>
            <a:off x="7045070" y="6399190"/>
            <a:ext cx="4197860" cy="1331342"/>
          </a:xfrm>
          <a:prstGeom prst="rect">
            <a:avLst/>
          </a:prstGeom>
        </p:spPr>
        <p:txBody>
          <a:bodyPr lIns="0" tIns="0" rIns="0" bIns="0" rtlCol="0" anchor="t">
            <a:spAutoFit/>
          </a:bodyPr>
          <a:lstStyle/>
          <a:p>
            <a:pPr marL="0" lvl="0" indent="0" algn="ctr">
              <a:lnSpc>
                <a:spcPts val="2147"/>
              </a:lnSpc>
              <a:spcBef>
                <a:spcPct val="0"/>
              </a:spcBef>
            </a:pPr>
            <a:r>
              <a:rPr lang="en-US" sz="1900">
                <a:solidFill>
                  <a:srgbClr val="FFFFFF"/>
                </a:solidFill>
                <a:latin typeface="Garet"/>
                <a:ea typeface="Garet"/>
                <a:cs typeface="Garet"/>
                <a:sym typeface="Garet"/>
              </a:rPr>
              <a:t>Geographical analysis of customer behaviour will allow more efficient targeting of areas where market penetration is more likely</a:t>
            </a:r>
          </a:p>
        </p:txBody>
      </p:sp>
      <p:sp>
        <p:nvSpPr>
          <p:cNvPr id="13" name="TextBox 13"/>
          <p:cNvSpPr txBox="1"/>
          <p:nvPr/>
        </p:nvSpPr>
        <p:spPr>
          <a:xfrm>
            <a:off x="1558757" y="5164115"/>
            <a:ext cx="4197860" cy="426720"/>
          </a:xfrm>
          <a:prstGeom prst="rect">
            <a:avLst/>
          </a:prstGeom>
        </p:spPr>
        <p:txBody>
          <a:bodyPr lIns="0" tIns="0" rIns="0" bIns="0" rtlCol="0" anchor="t">
            <a:spAutoFit/>
          </a:bodyPr>
          <a:lstStyle/>
          <a:p>
            <a:pPr marL="0" lvl="0" indent="0" algn="ctr">
              <a:lnSpc>
                <a:spcPts val="3390"/>
              </a:lnSpc>
              <a:spcBef>
                <a:spcPct val="0"/>
              </a:spcBef>
            </a:pPr>
            <a:r>
              <a:rPr lang="en-US" sz="3000" b="1">
                <a:solidFill>
                  <a:srgbClr val="000066"/>
                </a:solidFill>
                <a:latin typeface="Garet Bold"/>
                <a:ea typeface="Garet Bold"/>
                <a:cs typeface="Garet Bold"/>
                <a:sym typeface="Garet Bold"/>
              </a:rPr>
              <a:t>Situational View</a:t>
            </a:r>
          </a:p>
        </p:txBody>
      </p:sp>
      <p:sp>
        <p:nvSpPr>
          <p:cNvPr id="14" name="TextBox 14"/>
          <p:cNvSpPr txBox="1"/>
          <p:nvPr/>
        </p:nvSpPr>
        <p:spPr>
          <a:xfrm>
            <a:off x="7045070" y="5164115"/>
            <a:ext cx="4197860" cy="426720"/>
          </a:xfrm>
          <a:prstGeom prst="rect">
            <a:avLst/>
          </a:prstGeom>
        </p:spPr>
        <p:txBody>
          <a:bodyPr lIns="0" tIns="0" rIns="0" bIns="0" rtlCol="0" anchor="t">
            <a:spAutoFit/>
          </a:bodyPr>
          <a:lstStyle/>
          <a:p>
            <a:pPr marL="0" lvl="0" indent="0" algn="ctr">
              <a:lnSpc>
                <a:spcPts val="3390"/>
              </a:lnSpc>
              <a:spcBef>
                <a:spcPct val="0"/>
              </a:spcBef>
            </a:pPr>
            <a:r>
              <a:rPr lang="en-US" sz="3000" b="1">
                <a:solidFill>
                  <a:srgbClr val="FFFFFF"/>
                </a:solidFill>
                <a:latin typeface="Garet Bold"/>
                <a:ea typeface="Garet Bold"/>
                <a:cs typeface="Garet Bold"/>
                <a:sym typeface="Garet Bold"/>
              </a:rPr>
              <a:t>Targeting</a:t>
            </a:r>
          </a:p>
        </p:txBody>
      </p:sp>
      <p:sp>
        <p:nvSpPr>
          <p:cNvPr id="15" name="TextBox 15"/>
          <p:cNvSpPr txBox="1"/>
          <p:nvPr/>
        </p:nvSpPr>
        <p:spPr>
          <a:xfrm>
            <a:off x="12531383" y="6399190"/>
            <a:ext cx="4197860" cy="1331342"/>
          </a:xfrm>
          <a:prstGeom prst="rect">
            <a:avLst/>
          </a:prstGeom>
        </p:spPr>
        <p:txBody>
          <a:bodyPr lIns="0" tIns="0" rIns="0" bIns="0" rtlCol="0" anchor="t">
            <a:spAutoFit/>
          </a:bodyPr>
          <a:lstStyle/>
          <a:p>
            <a:pPr marL="0" lvl="0" indent="0" algn="ctr">
              <a:lnSpc>
                <a:spcPts val="2147"/>
              </a:lnSpc>
              <a:spcBef>
                <a:spcPct val="0"/>
              </a:spcBef>
            </a:pPr>
            <a:r>
              <a:rPr lang="en-US" sz="1900">
                <a:solidFill>
                  <a:srgbClr val="000066"/>
                </a:solidFill>
                <a:latin typeface="Garet"/>
                <a:ea typeface="Garet"/>
                <a:cs typeface="Garet"/>
                <a:sym typeface="Garet"/>
              </a:rPr>
              <a:t>Analysis of activity across different merchant categories will allow determination of accurate identification of customer preferences</a:t>
            </a:r>
          </a:p>
        </p:txBody>
      </p:sp>
      <p:sp>
        <p:nvSpPr>
          <p:cNvPr id="16" name="TextBox 16"/>
          <p:cNvSpPr txBox="1"/>
          <p:nvPr/>
        </p:nvSpPr>
        <p:spPr>
          <a:xfrm>
            <a:off x="12531383" y="5164115"/>
            <a:ext cx="4197860" cy="426720"/>
          </a:xfrm>
          <a:prstGeom prst="rect">
            <a:avLst/>
          </a:prstGeom>
        </p:spPr>
        <p:txBody>
          <a:bodyPr lIns="0" tIns="0" rIns="0" bIns="0" rtlCol="0" anchor="t">
            <a:spAutoFit/>
          </a:bodyPr>
          <a:lstStyle/>
          <a:p>
            <a:pPr marL="0" lvl="0" indent="0" algn="ctr">
              <a:lnSpc>
                <a:spcPts val="3390"/>
              </a:lnSpc>
              <a:spcBef>
                <a:spcPct val="0"/>
              </a:spcBef>
            </a:pPr>
            <a:r>
              <a:rPr lang="en-US" sz="3000" b="1">
                <a:solidFill>
                  <a:srgbClr val="000066"/>
                </a:solidFill>
                <a:latin typeface="Garet Bold"/>
                <a:ea typeface="Garet Bold"/>
                <a:cs typeface="Garet Bold"/>
                <a:sym typeface="Garet Bold"/>
              </a:rPr>
              <a:t>Category Overview</a:t>
            </a:r>
          </a:p>
        </p:txBody>
      </p:sp>
      <p:grpSp>
        <p:nvGrpSpPr>
          <p:cNvPr id="17" name="Group 17"/>
          <p:cNvGrpSpPr/>
          <p:nvPr/>
        </p:nvGrpSpPr>
        <p:grpSpPr>
          <a:xfrm rot="-2699999">
            <a:off x="-1934389" y="-747880"/>
            <a:ext cx="3868778" cy="3553160"/>
            <a:chOff x="0" y="0"/>
            <a:chExt cx="2679345" cy="2460762"/>
          </a:xfrm>
        </p:grpSpPr>
        <p:sp>
          <p:nvSpPr>
            <p:cNvPr id="18" name="Freeform 18"/>
            <p:cNvSpPr/>
            <p:nvPr/>
          </p:nvSpPr>
          <p:spPr>
            <a:xfrm>
              <a:off x="0" y="0"/>
              <a:ext cx="2679345" cy="2460762"/>
            </a:xfrm>
            <a:custGeom>
              <a:avLst/>
              <a:gdLst/>
              <a:ahLst/>
              <a:cxnLst/>
              <a:rect l="l" t="t" r="r" b="b"/>
              <a:pathLst>
                <a:path w="2679345" h="2460762">
                  <a:moveTo>
                    <a:pt x="0" y="0"/>
                  </a:moveTo>
                  <a:lnTo>
                    <a:pt x="2679345" y="0"/>
                  </a:lnTo>
                  <a:lnTo>
                    <a:pt x="2679345" y="2460762"/>
                  </a:lnTo>
                  <a:lnTo>
                    <a:pt x="0" y="2460762"/>
                  </a:lnTo>
                  <a:close/>
                </a:path>
              </a:pathLst>
            </a:custGeom>
            <a:solidFill>
              <a:srgbClr val="336699"/>
            </a:solidFill>
          </p:spPr>
          <p:txBody>
            <a:bodyPr/>
            <a:lstStyle/>
            <a:p>
              <a:endParaRPr lang="en-GB"/>
            </a:p>
          </p:txBody>
        </p:sp>
        <p:sp>
          <p:nvSpPr>
            <p:cNvPr id="19" name="TextBox 19"/>
            <p:cNvSpPr txBox="1"/>
            <p:nvPr/>
          </p:nvSpPr>
          <p:spPr>
            <a:xfrm>
              <a:off x="0" y="-38100"/>
              <a:ext cx="2679345" cy="2498862"/>
            </a:xfrm>
            <a:prstGeom prst="rect">
              <a:avLst/>
            </a:prstGeom>
          </p:spPr>
          <p:txBody>
            <a:bodyPr lIns="46654" tIns="46654" rIns="46654" bIns="46654" rtlCol="0" anchor="ctr"/>
            <a:lstStyle/>
            <a:p>
              <a:pPr algn="ctr">
                <a:lnSpc>
                  <a:spcPts val="1800"/>
                </a:lnSpc>
                <a:spcBef>
                  <a:spcPct val="0"/>
                </a:spcBef>
              </a:pPr>
              <a:endParaRPr/>
            </a:p>
          </p:txBody>
        </p:sp>
      </p:grpSp>
      <p:grpSp>
        <p:nvGrpSpPr>
          <p:cNvPr id="20" name="Group 20"/>
          <p:cNvGrpSpPr/>
          <p:nvPr/>
        </p:nvGrpSpPr>
        <p:grpSpPr>
          <a:xfrm rot="-2699999">
            <a:off x="16542837" y="1273066"/>
            <a:ext cx="3868778" cy="3553160"/>
            <a:chOff x="0" y="0"/>
            <a:chExt cx="2679345" cy="2460762"/>
          </a:xfrm>
        </p:grpSpPr>
        <p:sp>
          <p:nvSpPr>
            <p:cNvPr id="21" name="Freeform 21"/>
            <p:cNvSpPr/>
            <p:nvPr/>
          </p:nvSpPr>
          <p:spPr>
            <a:xfrm>
              <a:off x="0" y="0"/>
              <a:ext cx="2679345" cy="2460762"/>
            </a:xfrm>
            <a:custGeom>
              <a:avLst/>
              <a:gdLst/>
              <a:ahLst/>
              <a:cxnLst/>
              <a:rect l="l" t="t" r="r" b="b"/>
              <a:pathLst>
                <a:path w="2679345" h="2460762">
                  <a:moveTo>
                    <a:pt x="0" y="0"/>
                  </a:moveTo>
                  <a:lnTo>
                    <a:pt x="2679345" y="0"/>
                  </a:lnTo>
                  <a:lnTo>
                    <a:pt x="2679345" y="2460762"/>
                  </a:lnTo>
                  <a:lnTo>
                    <a:pt x="0" y="2460762"/>
                  </a:lnTo>
                  <a:close/>
                </a:path>
              </a:pathLst>
            </a:custGeom>
            <a:solidFill>
              <a:srgbClr val="000066"/>
            </a:solidFill>
          </p:spPr>
          <p:txBody>
            <a:bodyPr/>
            <a:lstStyle/>
            <a:p>
              <a:endParaRPr lang="en-GB"/>
            </a:p>
          </p:txBody>
        </p:sp>
        <p:sp>
          <p:nvSpPr>
            <p:cNvPr id="22" name="TextBox 22"/>
            <p:cNvSpPr txBox="1"/>
            <p:nvPr/>
          </p:nvSpPr>
          <p:spPr>
            <a:xfrm>
              <a:off x="0" y="-38100"/>
              <a:ext cx="2679345" cy="2498862"/>
            </a:xfrm>
            <a:prstGeom prst="rect">
              <a:avLst/>
            </a:prstGeom>
          </p:spPr>
          <p:txBody>
            <a:bodyPr lIns="46654" tIns="46654" rIns="46654" bIns="46654" rtlCol="0" anchor="ctr"/>
            <a:lstStyle/>
            <a:p>
              <a:pPr algn="ctr">
                <a:lnSpc>
                  <a:spcPts val="1800"/>
                </a:lnSpc>
                <a:spcBef>
                  <a:spcPct val="0"/>
                </a:spcBef>
              </a:pPr>
              <a:endParaRPr/>
            </a:p>
          </p:txBody>
        </p:sp>
      </p:grpSp>
      <p:grpSp>
        <p:nvGrpSpPr>
          <p:cNvPr id="23" name="Group 23"/>
          <p:cNvGrpSpPr/>
          <p:nvPr/>
        </p:nvGrpSpPr>
        <p:grpSpPr>
          <a:xfrm rot="-2699999">
            <a:off x="15004062" y="1282712"/>
            <a:ext cx="1545012" cy="1418968"/>
            <a:chOff x="0" y="0"/>
            <a:chExt cx="1070007" cy="982715"/>
          </a:xfrm>
        </p:grpSpPr>
        <p:sp>
          <p:nvSpPr>
            <p:cNvPr id="24" name="Freeform 24"/>
            <p:cNvSpPr/>
            <p:nvPr/>
          </p:nvSpPr>
          <p:spPr>
            <a:xfrm>
              <a:off x="0" y="0"/>
              <a:ext cx="1070007" cy="982715"/>
            </a:xfrm>
            <a:custGeom>
              <a:avLst/>
              <a:gdLst/>
              <a:ahLst/>
              <a:cxnLst/>
              <a:rect l="l" t="t" r="r" b="b"/>
              <a:pathLst>
                <a:path w="1070007" h="982715">
                  <a:moveTo>
                    <a:pt x="0" y="0"/>
                  </a:moveTo>
                  <a:lnTo>
                    <a:pt x="1070007" y="0"/>
                  </a:lnTo>
                  <a:lnTo>
                    <a:pt x="1070007" y="982715"/>
                  </a:lnTo>
                  <a:lnTo>
                    <a:pt x="0" y="982715"/>
                  </a:lnTo>
                  <a:close/>
                </a:path>
              </a:pathLst>
            </a:custGeom>
            <a:solidFill>
              <a:srgbClr val="336699"/>
            </a:solidFill>
          </p:spPr>
          <p:txBody>
            <a:bodyPr/>
            <a:lstStyle/>
            <a:p>
              <a:endParaRPr lang="en-GB"/>
            </a:p>
          </p:txBody>
        </p:sp>
        <p:sp>
          <p:nvSpPr>
            <p:cNvPr id="25" name="TextBox 25"/>
            <p:cNvSpPr txBox="1"/>
            <p:nvPr/>
          </p:nvSpPr>
          <p:spPr>
            <a:xfrm>
              <a:off x="0" y="-38100"/>
              <a:ext cx="1070007" cy="1020815"/>
            </a:xfrm>
            <a:prstGeom prst="rect">
              <a:avLst/>
            </a:prstGeom>
          </p:spPr>
          <p:txBody>
            <a:bodyPr lIns="46654" tIns="46654" rIns="46654" bIns="46654" rtlCol="0" anchor="ctr"/>
            <a:lstStyle/>
            <a:p>
              <a:pPr algn="ctr">
                <a:lnSpc>
                  <a:spcPts val="1800"/>
                </a:lnSpc>
                <a:spcBef>
                  <a:spcPct val="0"/>
                </a:spcBef>
              </a:pPr>
              <a:endParaRPr/>
            </a:p>
          </p:txBody>
        </p:sp>
      </p:grpSp>
      <p:sp>
        <p:nvSpPr>
          <p:cNvPr id="26" name="TextBox 26"/>
          <p:cNvSpPr txBox="1"/>
          <p:nvPr/>
        </p:nvSpPr>
        <p:spPr>
          <a:xfrm>
            <a:off x="1028700" y="1802372"/>
            <a:ext cx="16230600" cy="760095"/>
          </a:xfrm>
          <a:prstGeom prst="rect">
            <a:avLst/>
          </a:prstGeom>
        </p:spPr>
        <p:txBody>
          <a:bodyPr lIns="0" tIns="0" rIns="0" bIns="0" rtlCol="0" anchor="t">
            <a:spAutoFit/>
          </a:bodyPr>
          <a:lstStyle/>
          <a:p>
            <a:pPr marL="0" lvl="0" indent="0" algn="ctr">
              <a:lnSpc>
                <a:spcPts val="5640"/>
              </a:lnSpc>
              <a:spcBef>
                <a:spcPct val="0"/>
              </a:spcBef>
            </a:pPr>
            <a:r>
              <a:rPr lang="en-US" sz="6000" b="1">
                <a:solidFill>
                  <a:srgbClr val="000066"/>
                </a:solidFill>
                <a:latin typeface="Garet Bold"/>
                <a:ea typeface="Garet Bold"/>
                <a:cs typeface="Garet Bold"/>
                <a:sym typeface="Garet Bold"/>
              </a:rPr>
              <a:t>Effect on Decision Making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699FF"/>
        </a:solidFill>
        <a:effectLst/>
      </p:bgPr>
    </p:bg>
    <p:spTree>
      <p:nvGrpSpPr>
        <p:cNvPr id="1" name=""/>
        <p:cNvGrpSpPr/>
        <p:nvPr/>
      </p:nvGrpSpPr>
      <p:grpSpPr>
        <a:xfrm>
          <a:off x="0" y="0"/>
          <a:ext cx="0" cy="0"/>
          <a:chOff x="0" y="0"/>
          <a:chExt cx="0" cy="0"/>
        </a:xfrm>
      </p:grpSpPr>
      <p:grpSp>
        <p:nvGrpSpPr>
          <p:cNvPr id="2" name="Group 2"/>
          <p:cNvGrpSpPr/>
          <p:nvPr/>
        </p:nvGrpSpPr>
        <p:grpSpPr>
          <a:xfrm>
            <a:off x="0" y="-9525"/>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FFFFFF"/>
            </a:solidFill>
          </p:spPr>
          <p:txBody>
            <a:bodyPr/>
            <a:lstStyle/>
            <a:p>
              <a:endParaRPr lang="en-GB"/>
            </a:p>
          </p:txBody>
        </p:sp>
        <p:sp>
          <p:nvSpPr>
            <p:cNvPr id="4" name="TextBox 4"/>
            <p:cNvSpPr txBox="1"/>
            <p:nvPr/>
          </p:nvSpPr>
          <p:spPr>
            <a:xfrm>
              <a:off x="0" y="-28575"/>
              <a:ext cx="4816593" cy="273790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2724032" y="4407855"/>
            <a:ext cx="12839682" cy="3307395"/>
          </a:xfrm>
          <a:custGeom>
            <a:avLst/>
            <a:gdLst/>
            <a:ahLst/>
            <a:cxnLst/>
            <a:rect l="l" t="t" r="r" b="b"/>
            <a:pathLst>
              <a:path w="12839682" h="3307395">
                <a:moveTo>
                  <a:pt x="0" y="3307395"/>
                </a:moveTo>
                <a:lnTo>
                  <a:pt x="6191241" y="3307395"/>
                </a:lnTo>
                <a:cubicBezTo>
                  <a:pt x="6317493" y="3307395"/>
                  <a:pt x="6419841" y="3205047"/>
                  <a:pt x="6419841" y="3078795"/>
                </a:cubicBezTo>
                <a:lnTo>
                  <a:pt x="6419841" y="228600"/>
                </a:lnTo>
                <a:cubicBezTo>
                  <a:pt x="6419841" y="102348"/>
                  <a:pt x="6522189" y="0"/>
                  <a:pt x="6648441" y="0"/>
                </a:cubicBezTo>
                <a:lnTo>
                  <a:pt x="12839682" y="0"/>
                </a:lnTo>
              </a:path>
            </a:pathLst>
          </a:custGeom>
          <a:ln w="38100" cap="flat">
            <a:solidFill>
              <a:srgbClr val="000000"/>
            </a:solidFill>
            <a:prstDash val="solid"/>
            <a:headEnd type="none" w="sm" len="sm"/>
            <a:tailEnd type="none" w="sm" len="sm"/>
          </a:ln>
        </p:spPr>
        <p:txBody>
          <a:bodyPr/>
          <a:lstStyle/>
          <a:p>
            <a:endParaRPr lang="en-GB"/>
          </a:p>
        </p:txBody>
      </p:sp>
      <p:sp>
        <p:nvSpPr>
          <p:cNvPr id="6" name="Freeform 6"/>
          <p:cNvSpPr/>
          <p:nvPr/>
        </p:nvSpPr>
        <p:spPr>
          <a:xfrm>
            <a:off x="5544076" y="2888303"/>
            <a:ext cx="2173485" cy="1519552"/>
          </a:xfrm>
          <a:custGeom>
            <a:avLst/>
            <a:gdLst/>
            <a:ahLst/>
            <a:cxnLst/>
            <a:rect l="l" t="t" r="r" b="b"/>
            <a:pathLst>
              <a:path w="2173485" h="1519552">
                <a:moveTo>
                  <a:pt x="0" y="1519552"/>
                </a:moveTo>
                <a:lnTo>
                  <a:pt x="228600" y="1519552"/>
                </a:lnTo>
                <a:cubicBezTo>
                  <a:pt x="354853" y="1519552"/>
                  <a:pt x="457200" y="1417205"/>
                  <a:pt x="457200" y="1290952"/>
                </a:cubicBezTo>
                <a:lnTo>
                  <a:pt x="457200" y="228600"/>
                </a:lnTo>
                <a:cubicBezTo>
                  <a:pt x="457200" y="102348"/>
                  <a:pt x="559548" y="0"/>
                  <a:pt x="685800" y="0"/>
                </a:cubicBezTo>
                <a:lnTo>
                  <a:pt x="1487685" y="0"/>
                </a:lnTo>
                <a:cubicBezTo>
                  <a:pt x="1548314" y="0"/>
                  <a:pt x="1606460" y="24085"/>
                  <a:pt x="1649330" y="66956"/>
                </a:cubicBezTo>
                <a:cubicBezTo>
                  <a:pt x="1692201" y="109827"/>
                  <a:pt x="1716285" y="167972"/>
                  <a:pt x="1716285" y="228600"/>
                </a:cubicBezTo>
                <a:lnTo>
                  <a:pt x="1716285" y="1290952"/>
                </a:lnTo>
                <a:cubicBezTo>
                  <a:pt x="1716285" y="1351581"/>
                  <a:pt x="1740370" y="1409726"/>
                  <a:pt x="1783241" y="1452597"/>
                </a:cubicBezTo>
                <a:cubicBezTo>
                  <a:pt x="1826111" y="1495468"/>
                  <a:pt x="1884257" y="1519552"/>
                  <a:pt x="1944885" y="1519552"/>
                </a:cubicBezTo>
                <a:lnTo>
                  <a:pt x="2173485" y="1519552"/>
                </a:lnTo>
              </a:path>
            </a:pathLst>
          </a:custGeom>
          <a:ln w="38100" cap="flat">
            <a:solidFill>
              <a:srgbClr val="000000"/>
            </a:solidFill>
            <a:prstDash val="solid"/>
            <a:headEnd type="none" w="sm" len="sm"/>
            <a:tailEnd type="none" w="sm" len="sm"/>
          </a:ln>
        </p:spPr>
        <p:txBody>
          <a:bodyPr/>
          <a:lstStyle/>
          <a:p>
            <a:endParaRPr lang="en-GB"/>
          </a:p>
        </p:txBody>
      </p:sp>
      <p:sp>
        <p:nvSpPr>
          <p:cNvPr id="7" name="Freeform 7"/>
          <p:cNvSpPr/>
          <p:nvPr/>
        </p:nvSpPr>
        <p:spPr>
          <a:xfrm>
            <a:off x="10570439" y="2888303"/>
            <a:ext cx="2171700" cy="1519552"/>
          </a:xfrm>
          <a:custGeom>
            <a:avLst/>
            <a:gdLst/>
            <a:ahLst/>
            <a:cxnLst/>
            <a:rect l="l" t="t" r="r" b="b"/>
            <a:pathLst>
              <a:path w="2171700" h="1519552">
                <a:moveTo>
                  <a:pt x="0" y="1519552"/>
                </a:moveTo>
                <a:lnTo>
                  <a:pt x="228600" y="1519552"/>
                </a:lnTo>
                <a:cubicBezTo>
                  <a:pt x="354851" y="1519552"/>
                  <a:pt x="457200" y="1417205"/>
                  <a:pt x="457200" y="1290952"/>
                </a:cubicBezTo>
                <a:lnTo>
                  <a:pt x="457200" y="228600"/>
                </a:lnTo>
                <a:cubicBezTo>
                  <a:pt x="457200" y="102348"/>
                  <a:pt x="559548" y="0"/>
                  <a:pt x="685800" y="0"/>
                </a:cubicBezTo>
                <a:lnTo>
                  <a:pt x="1454598" y="0"/>
                </a:lnTo>
                <a:cubicBezTo>
                  <a:pt x="1515227" y="0"/>
                  <a:pt x="1573372" y="24085"/>
                  <a:pt x="1616243" y="66956"/>
                </a:cubicBezTo>
                <a:cubicBezTo>
                  <a:pt x="1659114" y="109827"/>
                  <a:pt x="1683198" y="167972"/>
                  <a:pt x="1683198" y="228600"/>
                </a:cubicBezTo>
                <a:lnTo>
                  <a:pt x="1683198" y="1290952"/>
                </a:lnTo>
                <a:cubicBezTo>
                  <a:pt x="1683198" y="1351581"/>
                  <a:pt x="1707283" y="1409726"/>
                  <a:pt x="1750154" y="1452597"/>
                </a:cubicBezTo>
                <a:cubicBezTo>
                  <a:pt x="1793024" y="1495468"/>
                  <a:pt x="1851169" y="1519552"/>
                  <a:pt x="1911798" y="1519552"/>
                </a:cubicBezTo>
                <a:lnTo>
                  <a:pt x="2171700" y="1519552"/>
                </a:lnTo>
              </a:path>
            </a:pathLst>
          </a:custGeom>
          <a:ln w="38100" cap="flat">
            <a:solidFill>
              <a:srgbClr val="000000"/>
            </a:solidFill>
            <a:prstDash val="solid"/>
            <a:headEnd type="none" w="sm" len="sm"/>
            <a:tailEnd type="none" w="sm" len="sm"/>
          </a:ln>
        </p:spPr>
        <p:txBody>
          <a:bodyPr/>
          <a:lstStyle/>
          <a:p>
            <a:endParaRPr lang="en-GB"/>
          </a:p>
        </p:txBody>
      </p:sp>
      <p:sp>
        <p:nvSpPr>
          <p:cNvPr id="8" name="Freeform 8"/>
          <p:cNvSpPr/>
          <p:nvPr/>
        </p:nvSpPr>
        <p:spPr>
          <a:xfrm>
            <a:off x="10560914" y="7715250"/>
            <a:ext cx="2149924" cy="1519552"/>
          </a:xfrm>
          <a:custGeom>
            <a:avLst/>
            <a:gdLst/>
            <a:ahLst/>
            <a:cxnLst/>
            <a:rect l="l" t="t" r="r" b="b"/>
            <a:pathLst>
              <a:path w="2149924" h="1519552">
                <a:moveTo>
                  <a:pt x="0" y="0"/>
                </a:moveTo>
                <a:lnTo>
                  <a:pt x="238125" y="0"/>
                </a:lnTo>
                <a:cubicBezTo>
                  <a:pt x="364376" y="0"/>
                  <a:pt x="466725" y="102348"/>
                  <a:pt x="466725" y="228600"/>
                </a:cubicBezTo>
                <a:lnTo>
                  <a:pt x="466725" y="1290952"/>
                </a:lnTo>
                <a:cubicBezTo>
                  <a:pt x="466725" y="1417204"/>
                  <a:pt x="569073" y="1519552"/>
                  <a:pt x="695325" y="1519552"/>
                </a:cubicBezTo>
                <a:lnTo>
                  <a:pt x="1464123" y="1519552"/>
                </a:lnTo>
                <a:cubicBezTo>
                  <a:pt x="1524752" y="1519552"/>
                  <a:pt x="1582897" y="1495468"/>
                  <a:pt x="1625768" y="1452597"/>
                </a:cubicBezTo>
                <a:cubicBezTo>
                  <a:pt x="1668639" y="1409726"/>
                  <a:pt x="1692723" y="1351581"/>
                  <a:pt x="1692723" y="1290952"/>
                </a:cubicBezTo>
                <a:lnTo>
                  <a:pt x="1692723" y="228600"/>
                </a:lnTo>
                <a:cubicBezTo>
                  <a:pt x="1692723" y="167971"/>
                  <a:pt x="1716808" y="109826"/>
                  <a:pt x="1759679" y="66956"/>
                </a:cubicBezTo>
                <a:cubicBezTo>
                  <a:pt x="1802549" y="24085"/>
                  <a:pt x="1860694" y="0"/>
                  <a:pt x="1921323" y="0"/>
                </a:cubicBezTo>
                <a:lnTo>
                  <a:pt x="2149923" y="0"/>
                </a:lnTo>
              </a:path>
            </a:pathLst>
          </a:custGeom>
          <a:ln w="38100" cap="flat">
            <a:solidFill>
              <a:srgbClr val="000000"/>
            </a:solidFill>
            <a:prstDash val="solid"/>
            <a:headEnd type="none" w="sm" len="sm"/>
            <a:tailEnd type="none" w="sm" len="sm"/>
          </a:ln>
        </p:spPr>
        <p:txBody>
          <a:bodyPr/>
          <a:lstStyle/>
          <a:p>
            <a:endParaRPr lang="en-GB"/>
          </a:p>
        </p:txBody>
      </p:sp>
      <p:sp>
        <p:nvSpPr>
          <p:cNvPr id="9" name="Freeform 9"/>
          <p:cNvSpPr/>
          <p:nvPr/>
        </p:nvSpPr>
        <p:spPr>
          <a:xfrm>
            <a:off x="5576908" y="7715250"/>
            <a:ext cx="2131129" cy="1519552"/>
          </a:xfrm>
          <a:custGeom>
            <a:avLst/>
            <a:gdLst/>
            <a:ahLst/>
            <a:cxnLst/>
            <a:rect l="l" t="t" r="r" b="b"/>
            <a:pathLst>
              <a:path w="2131129" h="1519552">
                <a:moveTo>
                  <a:pt x="0" y="0"/>
                </a:moveTo>
                <a:lnTo>
                  <a:pt x="212184" y="0"/>
                </a:lnTo>
                <a:cubicBezTo>
                  <a:pt x="329370" y="0"/>
                  <a:pt x="424368" y="94998"/>
                  <a:pt x="424368" y="212185"/>
                </a:cubicBezTo>
                <a:lnTo>
                  <a:pt x="424368" y="1290952"/>
                </a:lnTo>
                <a:cubicBezTo>
                  <a:pt x="424368" y="1417204"/>
                  <a:pt x="526716" y="1519552"/>
                  <a:pt x="652968" y="1519552"/>
                </a:cubicBezTo>
                <a:lnTo>
                  <a:pt x="1454853" y="1519552"/>
                </a:lnTo>
                <a:cubicBezTo>
                  <a:pt x="1515482" y="1519552"/>
                  <a:pt x="1573628" y="1495468"/>
                  <a:pt x="1616498" y="1452597"/>
                </a:cubicBezTo>
                <a:cubicBezTo>
                  <a:pt x="1659369" y="1409726"/>
                  <a:pt x="1683453" y="1351581"/>
                  <a:pt x="1683453" y="1290952"/>
                </a:cubicBezTo>
                <a:lnTo>
                  <a:pt x="1683453" y="223838"/>
                </a:lnTo>
                <a:cubicBezTo>
                  <a:pt x="1683453" y="164472"/>
                  <a:pt x="1707037" y="107538"/>
                  <a:pt x="1749014" y="65560"/>
                </a:cubicBezTo>
                <a:cubicBezTo>
                  <a:pt x="1790992" y="23583"/>
                  <a:pt x="1847926" y="0"/>
                  <a:pt x="1907291" y="0"/>
                </a:cubicBezTo>
                <a:lnTo>
                  <a:pt x="2131128" y="0"/>
                </a:lnTo>
              </a:path>
            </a:pathLst>
          </a:custGeom>
          <a:ln w="38100" cap="flat">
            <a:solidFill>
              <a:srgbClr val="000000"/>
            </a:solidFill>
            <a:prstDash val="solid"/>
            <a:headEnd type="none" w="sm" len="sm"/>
            <a:tailEnd type="none" w="sm" len="sm"/>
          </a:ln>
        </p:spPr>
        <p:txBody>
          <a:bodyPr/>
          <a:lstStyle/>
          <a:p>
            <a:endParaRPr lang="en-GB"/>
          </a:p>
        </p:txBody>
      </p:sp>
      <p:grpSp>
        <p:nvGrpSpPr>
          <p:cNvPr id="10" name="Group 10"/>
          <p:cNvGrpSpPr/>
          <p:nvPr/>
        </p:nvGrpSpPr>
        <p:grpSpPr>
          <a:xfrm>
            <a:off x="12710837" y="6652898"/>
            <a:ext cx="2852876" cy="2124704"/>
            <a:chOff x="0" y="0"/>
            <a:chExt cx="751375" cy="559593"/>
          </a:xfrm>
        </p:grpSpPr>
        <p:sp>
          <p:nvSpPr>
            <p:cNvPr id="11" name="Freeform 11"/>
            <p:cNvSpPr/>
            <p:nvPr/>
          </p:nvSpPr>
          <p:spPr>
            <a:xfrm>
              <a:off x="0" y="0"/>
              <a:ext cx="751375" cy="559593"/>
            </a:xfrm>
            <a:custGeom>
              <a:avLst/>
              <a:gdLst/>
              <a:ahLst/>
              <a:cxnLst/>
              <a:rect l="l" t="t" r="r" b="b"/>
              <a:pathLst>
                <a:path w="751375" h="559593">
                  <a:moveTo>
                    <a:pt x="0" y="0"/>
                  </a:moveTo>
                  <a:lnTo>
                    <a:pt x="751375" y="0"/>
                  </a:lnTo>
                  <a:lnTo>
                    <a:pt x="751375" y="559593"/>
                  </a:lnTo>
                  <a:lnTo>
                    <a:pt x="0" y="559593"/>
                  </a:lnTo>
                  <a:close/>
                </a:path>
              </a:pathLst>
            </a:custGeom>
            <a:solidFill>
              <a:srgbClr val="000066"/>
            </a:solidFill>
          </p:spPr>
          <p:txBody>
            <a:bodyPr/>
            <a:lstStyle/>
            <a:p>
              <a:endParaRPr lang="en-GB"/>
            </a:p>
          </p:txBody>
        </p:sp>
        <p:sp>
          <p:nvSpPr>
            <p:cNvPr id="12" name="TextBox 12"/>
            <p:cNvSpPr txBox="1"/>
            <p:nvPr/>
          </p:nvSpPr>
          <p:spPr>
            <a:xfrm>
              <a:off x="0" y="-28575"/>
              <a:ext cx="751375" cy="588168"/>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rot="-2699999">
            <a:off x="1392467" y="1419794"/>
            <a:ext cx="1849722" cy="1795069"/>
            <a:chOff x="0" y="0"/>
            <a:chExt cx="1281036" cy="1243186"/>
          </a:xfrm>
        </p:grpSpPr>
        <p:sp>
          <p:nvSpPr>
            <p:cNvPr id="14" name="Freeform 14"/>
            <p:cNvSpPr/>
            <p:nvPr/>
          </p:nvSpPr>
          <p:spPr>
            <a:xfrm>
              <a:off x="0" y="0"/>
              <a:ext cx="1281036" cy="1243186"/>
            </a:xfrm>
            <a:custGeom>
              <a:avLst/>
              <a:gdLst/>
              <a:ahLst/>
              <a:cxnLst/>
              <a:rect l="l" t="t" r="r" b="b"/>
              <a:pathLst>
                <a:path w="1281036" h="1243186">
                  <a:moveTo>
                    <a:pt x="0" y="0"/>
                  </a:moveTo>
                  <a:lnTo>
                    <a:pt x="1281036" y="0"/>
                  </a:lnTo>
                  <a:lnTo>
                    <a:pt x="1281036" y="1243186"/>
                  </a:lnTo>
                  <a:lnTo>
                    <a:pt x="0" y="1243186"/>
                  </a:lnTo>
                  <a:close/>
                </a:path>
              </a:pathLst>
            </a:custGeom>
            <a:solidFill>
              <a:srgbClr val="336699"/>
            </a:solidFill>
          </p:spPr>
          <p:txBody>
            <a:bodyPr/>
            <a:lstStyle/>
            <a:p>
              <a:endParaRPr lang="en-GB"/>
            </a:p>
          </p:txBody>
        </p:sp>
        <p:sp>
          <p:nvSpPr>
            <p:cNvPr id="15" name="TextBox 15"/>
            <p:cNvSpPr txBox="1"/>
            <p:nvPr/>
          </p:nvSpPr>
          <p:spPr>
            <a:xfrm>
              <a:off x="0" y="-38100"/>
              <a:ext cx="1281036" cy="1281286"/>
            </a:xfrm>
            <a:prstGeom prst="rect">
              <a:avLst/>
            </a:prstGeom>
          </p:spPr>
          <p:txBody>
            <a:bodyPr lIns="46654" tIns="46654" rIns="46654" bIns="46654" rtlCol="0" anchor="ctr"/>
            <a:lstStyle/>
            <a:p>
              <a:pPr algn="ctr">
                <a:lnSpc>
                  <a:spcPts val="1800"/>
                </a:lnSpc>
                <a:spcBef>
                  <a:spcPct val="0"/>
                </a:spcBef>
              </a:pPr>
              <a:endParaRPr/>
            </a:p>
          </p:txBody>
        </p:sp>
      </p:grpSp>
      <p:grpSp>
        <p:nvGrpSpPr>
          <p:cNvPr id="16" name="Group 16"/>
          <p:cNvGrpSpPr/>
          <p:nvPr/>
        </p:nvGrpSpPr>
        <p:grpSpPr>
          <a:xfrm rot="-2699999">
            <a:off x="-3089558" y="2284284"/>
            <a:ext cx="4906166" cy="4505918"/>
            <a:chOff x="0" y="0"/>
            <a:chExt cx="3397795" cy="3120600"/>
          </a:xfrm>
        </p:grpSpPr>
        <p:sp>
          <p:nvSpPr>
            <p:cNvPr id="17" name="Freeform 17"/>
            <p:cNvSpPr/>
            <p:nvPr/>
          </p:nvSpPr>
          <p:spPr>
            <a:xfrm>
              <a:off x="0" y="0"/>
              <a:ext cx="3397795" cy="3120600"/>
            </a:xfrm>
            <a:custGeom>
              <a:avLst/>
              <a:gdLst/>
              <a:ahLst/>
              <a:cxnLst/>
              <a:rect l="l" t="t" r="r" b="b"/>
              <a:pathLst>
                <a:path w="3397795" h="3120600">
                  <a:moveTo>
                    <a:pt x="0" y="0"/>
                  </a:moveTo>
                  <a:lnTo>
                    <a:pt x="3397795" y="0"/>
                  </a:lnTo>
                  <a:lnTo>
                    <a:pt x="3397795" y="3120600"/>
                  </a:lnTo>
                  <a:lnTo>
                    <a:pt x="0" y="3120600"/>
                  </a:lnTo>
                  <a:close/>
                </a:path>
              </a:pathLst>
            </a:custGeom>
            <a:solidFill>
              <a:srgbClr val="6699FF"/>
            </a:solidFill>
          </p:spPr>
          <p:txBody>
            <a:bodyPr/>
            <a:lstStyle/>
            <a:p>
              <a:endParaRPr lang="en-GB"/>
            </a:p>
          </p:txBody>
        </p:sp>
        <p:sp>
          <p:nvSpPr>
            <p:cNvPr id="18" name="TextBox 18"/>
            <p:cNvSpPr txBox="1"/>
            <p:nvPr/>
          </p:nvSpPr>
          <p:spPr>
            <a:xfrm>
              <a:off x="0" y="-38100"/>
              <a:ext cx="3397795" cy="3158700"/>
            </a:xfrm>
            <a:prstGeom prst="rect">
              <a:avLst/>
            </a:prstGeom>
          </p:spPr>
          <p:txBody>
            <a:bodyPr lIns="46654" tIns="46654" rIns="46654" bIns="46654" rtlCol="0" anchor="ctr"/>
            <a:lstStyle/>
            <a:p>
              <a:pPr marL="0" lvl="0" indent="0" algn="ctr">
                <a:lnSpc>
                  <a:spcPts val="1800"/>
                </a:lnSpc>
                <a:spcBef>
                  <a:spcPct val="0"/>
                </a:spcBef>
              </a:pPr>
              <a:endParaRPr/>
            </a:p>
          </p:txBody>
        </p:sp>
      </p:grpSp>
      <p:grpSp>
        <p:nvGrpSpPr>
          <p:cNvPr id="19" name="Group 19"/>
          <p:cNvGrpSpPr/>
          <p:nvPr/>
        </p:nvGrpSpPr>
        <p:grpSpPr>
          <a:xfrm>
            <a:off x="2691200" y="3345503"/>
            <a:ext cx="2852876" cy="2124704"/>
            <a:chOff x="0" y="0"/>
            <a:chExt cx="751375" cy="559593"/>
          </a:xfrm>
        </p:grpSpPr>
        <p:sp>
          <p:nvSpPr>
            <p:cNvPr id="20" name="Freeform 20"/>
            <p:cNvSpPr/>
            <p:nvPr/>
          </p:nvSpPr>
          <p:spPr>
            <a:xfrm>
              <a:off x="0" y="0"/>
              <a:ext cx="751375" cy="559593"/>
            </a:xfrm>
            <a:custGeom>
              <a:avLst/>
              <a:gdLst/>
              <a:ahLst/>
              <a:cxnLst/>
              <a:rect l="l" t="t" r="r" b="b"/>
              <a:pathLst>
                <a:path w="751375" h="559593">
                  <a:moveTo>
                    <a:pt x="0" y="0"/>
                  </a:moveTo>
                  <a:lnTo>
                    <a:pt x="751375" y="0"/>
                  </a:lnTo>
                  <a:lnTo>
                    <a:pt x="751375" y="559593"/>
                  </a:lnTo>
                  <a:lnTo>
                    <a:pt x="0" y="559593"/>
                  </a:lnTo>
                  <a:close/>
                </a:path>
              </a:pathLst>
            </a:custGeom>
            <a:solidFill>
              <a:srgbClr val="000066"/>
            </a:solidFill>
          </p:spPr>
          <p:txBody>
            <a:bodyPr/>
            <a:lstStyle/>
            <a:p>
              <a:endParaRPr lang="en-GB"/>
            </a:p>
          </p:txBody>
        </p:sp>
        <p:sp>
          <p:nvSpPr>
            <p:cNvPr id="21" name="TextBox 21"/>
            <p:cNvSpPr txBox="1"/>
            <p:nvPr/>
          </p:nvSpPr>
          <p:spPr>
            <a:xfrm>
              <a:off x="0" y="-28575"/>
              <a:ext cx="751375" cy="588168"/>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rot="-2699999">
            <a:off x="15511370" y="1992562"/>
            <a:ext cx="1118730" cy="1085676"/>
            <a:chOff x="0" y="0"/>
            <a:chExt cx="774783" cy="751892"/>
          </a:xfrm>
        </p:grpSpPr>
        <p:sp>
          <p:nvSpPr>
            <p:cNvPr id="23" name="Freeform 23"/>
            <p:cNvSpPr/>
            <p:nvPr/>
          </p:nvSpPr>
          <p:spPr>
            <a:xfrm>
              <a:off x="0" y="0"/>
              <a:ext cx="774783" cy="751892"/>
            </a:xfrm>
            <a:custGeom>
              <a:avLst/>
              <a:gdLst/>
              <a:ahLst/>
              <a:cxnLst/>
              <a:rect l="l" t="t" r="r" b="b"/>
              <a:pathLst>
                <a:path w="774783" h="751892">
                  <a:moveTo>
                    <a:pt x="0" y="0"/>
                  </a:moveTo>
                  <a:lnTo>
                    <a:pt x="774783" y="0"/>
                  </a:lnTo>
                  <a:lnTo>
                    <a:pt x="774783" y="751892"/>
                  </a:lnTo>
                  <a:lnTo>
                    <a:pt x="0" y="751892"/>
                  </a:lnTo>
                  <a:close/>
                </a:path>
              </a:pathLst>
            </a:custGeom>
            <a:solidFill>
              <a:srgbClr val="000066"/>
            </a:solidFill>
          </p:spPr>
          <p:txBody>
            <a:bodyPr/>
            <a:lstStyle/>
            <a:p>
              <a:endParaRPr lang="en-GB"/>
            </a:p>
          </p:txBody>
        </p:sp>
        <p:sp>
          <p:nvSpPr>
            <p:cNvPr id="24" name="TextBox 24"/>
            <p:cNvSpPr txBox="1"/>
            <p:nvPr/>
          </p:nvSpPr>
          <p:spPr>
            <a:xfrm>
              <a:off x="0" y="-38100"/>
              <a:ext cx="774783" cy="789992"/>
            </a:xfrm>
            <a:prstGeom prst="rect">
              <a:avLst/>
            </a:prstGeom>
          </p:spPr>
          <p:txBody>
            <a:bodyPr lIns="46654" tIns="46654" rIns="46654" bIns="46654" rtlCol="0" anchor="ctr"/>
            <a:lstStyle/>
            <a:p>
              <a:pPr algn="ctr">
                <a:lnSpc>
                  <a:spcPts val="1800"/>
                </a:lnSpc>
                <a:spcBef>
                  <a:spcPct val="0"/>
                </a:spcBef>
              </a:pPr>
              <a:endParaRPr/>
            </a:p>
          </p:txBody>
        </p:sp>
      </p:grpSp>
      <p:grpSp>
        <p:nvGrpSpPr>
          <p:cNvPr id="25" name="Group 25"/>
          <p:cNvGrpSpPr/>
          <p:nvPr/>
        </p:nvGrpSpPr>
        <p:grpSpPr>
          <a:xfrm rot="-2699999">
            <a:off x="16574543" y="-364103"/>
            <a:ext cx="3426914" cy="3147344"/>
            <a:chOff x="0" y="0"/>
            <a:chExt cx="2373330" cy="2179712"/>
          </a:xfrm>
        </p:grpSpPr>
        <p:sp>
          <p:nvSpPr>
            <p:cNvPr id="26" name="Freeform 26"/>
            <p:cNvSpPr/>
            <p:nvPr/>
          </p:nvSpPr>
          <p:spPr>
            <a:xfrm>
              <a:off x="0" y="0"/>
              <a:ext cx="2373330" cy="2179712"/>
            </a:xfrm>
            <a:custGeom>
              <a:avLst/>
              <a:gdLst/>
              <a:ahLst/>
              <a:cxnLst/>
              <a:rect l="l" t="t" r="r" b="b"/>
              <a:pathLst>
                <a:path w="2373330" h="2179712">
                  <a:moveTo>
                    <a:pt x="0" y="0"/>
                  </a:moveTo>
                  <a:lnTo>
                    <a:pt x="2373330" y="0"/>
                  </a:lnTo>
                  <a:lnTo>
                    <a:pt x="2373330" y="2179712"/>
                  </a:lnTo>
                  <a:lnTo>
                    <a:pt x="0" y="2179712"/>
                  </a:lnTo>
                  <a:close/>
                </a:path>
              </a:pathLst>
            </a:custGeom>
            <a:solidFill>
              <a:srgbClr val="6699FF"/>
            </a:solidFill>
          </p:spPr>
          <p:txBody>
            <a:bodyPr/>
            <a:lstStyle/>
            <a:p>
              <a:endParaRPr lang="en-GB"/>
            </a:p>
          </p:txBody>
        </p:sp>
        <p:sp>
          <p:nvSpPr>
            <p:cNvPr id="27" name="TextBox 27"/>
            <p:cNvSpPr txBox="1"/>
            <p:nvPr/>
          </p:nvSpPr>
          <p:spPr>
            <a:xfrm>
              <a:off x="0" y="-38100"/>
              <a:ext cx="2373330" cy="2217812"/>
            </a:xfrm>
            <a:prstGeom prst="rect">
              <a:avLst/>
            </a:prstGeom>
          </p:spPr>
          <p:txBody>
            <a:bodyPr lIns="46654" tIns="46654" rIns="46654" bIns="46654" rtlCol="0" anchor="ctr"/>
            <a:lstStyle/>
            <a:p>
              <a:pPr algn="ctr">
                <a:lnSpc>
                  <a:spcPts val="1800"/>
                </a:lnSpc>
                <a:spcBef>
                  <a:spcPct val="0"/>
                </a:spcBef>
              </a:pPr>
              <a:endParaRPr/>
            </a:p>
          </p:txBody>
        </p:sp>
      </p:grpSp>
      <p:grpSp>
        <p:nvGrpSpPr>
          <p:cNvPr id="28" name="Group 28"/>
          <p:cNvGrpSpPr/>
          <p:nvPr/>
        </p:nvGrpSpPr>
        <p:grpSpPr>
          <a:xfrm>
            <a:off x="12742138" y="3345503"/>
            <a:ext cx="2821575" cy="2124704"/>
            <a:chOff x="0" y="0"/>
            <a:chExt cx="743131" cy="559593"/>
          </a:xfrm>
        </p:grpSpPr>
        <p:sp>
          <p:nvSpPr>
            <p:cNvPr id="29" name="Freeform 29"/>
            <p:cNvSpPr/>
            <p:nvPr/>
          </p:nvSpPr>
          <p:spPr>
            <a:xfrm>
              <a:off x="0" y="0"/>
              <a:ext cx="743131" cy="559593"/>
            </a:xfrm>
            <a:custGeom>
              <a:avLst/>
              <a:gdLst/>
              <a:ahLst/>
              <a:cxnLst/>
              <a:rect l="l" t="t" r="r" b="b"/>
              <a:pathLst>
                <a:path w="743131" h="559593">
                  <a:moveTo>
                    <a:pt x="0" y="0"/>
                  </a:moveTo>
                  <a:lnTo>
                    <a:pt x="743131" y="0"/>
                  </a:lnTo>
                  <a:lnTo>
                    <a:pt x="743131" y="559593"/>
                  </a:lnTo>
                  <a:lnTo>
                    <a:pt x="0" y="559593"/>
                  </a:lnTo>
                  <a:close/>
                </a:path>
              </a:pathLst>
            </a:custGeom>
            <a:solidFill>
              <a:srgbClr val="000066"/>
            </a:solidFill>
          </p:spPr>
          <p:txBody>
            <a:bodyPr/>
            <a:lstStyle/>
            <a:p>
              <a:endParaRPr lang="en-GB"/>
            </a:p>
          </p:txBody>
        </p:sp>
        <p:sp>
          <p:nvSpPr>
            <p:cNvPr id="30" name="TextBox 30"/>
            <p:cNvSpPr txBox="1"/>
            <p:nvPr/>
          </p:nvSpPr>
          <p:spPr>
            <a:xfrm>
              <a:off x="0" y="-28575"/>
              <a:ext cx="743131" cy="588168"/>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2724032" y="6652898"/>
            <a:ext cx="2852876" cy="2124704"/>
            <a:chOff x="0" y="0"/>
            <a:chExt cx="751375" cy="559593"/>
          </a:xfrm>
        </p:grpSpPr>
        <p:sp>
          <p:nvSpPr>
            <p:cNvPr id="32" name="Freeform 32"/>
            <p:cNvSpPr/>
            <p:nvPr/>
          </p:nvSpPr>
          <p:spPr>
            <a:xfrm>
              <a:off x="0" y="0"/>
              <a:ext cx="751375" cy="559593"/>
            </a:xfrm>
            <a:custGeom>
              <a:avLst/>
              <a:gdLst/>
              <a:ahLst/>
              <a:cxnLst/>
              <a:rect l="l" t="t" r="r" b="b"/>
              <a:pathLst>
                <a:path w="751375" h="559593">
                  <a:moveTo>
                    <a:pt x="0" y="0"/>
                  </a:moveTo>
                  <a:lnTo>
                    <a:pt x="751375" y="0"/>
                  </a:lnTo>
                  <a:lnTo>
                    <a:pt x="751375" y="559593"/>
                  </a:lnTo>
                  <a:lnTo>
                    <a:pt x="0" y="559593"/>
                  </a:lnTo>
                  <a:close/>
                </a:path>
              </a:pathLst>
            </a:custGeom>
            <a:solidFill>
              <a:srgbClr val="000066"/>
            </a:solidFill>
          </p:spPr>
          <p:txBody>
            <a:bodyPr/>
            <a:lstStyle/>
            <a:p>
              <a:endParaRPr lang="en-GB"/>
            </a:p>
          </p:txBody>
        </p:sp>
        <p:sp>
          <p:nvSpPr>
            <p:cNvPr id="33" name="TextBox 33"/>
            <p:cNvSpPr txBox="1"/>
            <p:nvPr/>
          </p:nvSpPr>
          <p:spPr>
            <a:xfrm>
              <a:off x="0" y="-28575"/>
              <a:ext cx="751375" cy="588168"/>
            </a:xfrm>
            <a:prstGeom prst="rect">
              <a:avLst/>
            </a:prstGeom>
          </p:spPr>
          <p:txBody>
            <a:bodyPr lIns="50800" tIns="50800" rIns="50800" bIns="50800" rtlCol="0" anchor="ctr"/>
            <a:lstStyle/>
            <a:p>
              <a:pPr algn="ctr">
                <a:lnSpc>
                  <a:spcPts val="2659"/>
                </a:lnSpc>
              </a:pPr>
              <a:endParaRPr/>
            </a:p>
          </p:txBody>
        </p:sp>
      </p:grpSp>
      <p:grpSp>
        <p:nvGrpSpPr>
          <p:cNvPr id="34" name="Group 34"/>
          <p:cNvGrpSpPr/>
          <p:nvPr/>
        </p:nvGrpSpPr>
        <p:grpSpPr>
          <a:xfrm>
            <a:off x="7708037" y="6652898"/>
            <a:ext cx="2852876" cy="2124704"/>
            <a:chOff x="0" y="0"/>
            <a:chExt cx="751375" cy="559593"/>
          </a:xfrm>
        </p:grpSpPr>
        <p:sp>
          <p:nvSpPr>
            <p:cNvPr id="35" name="Freeform 35"/>
            <p:cNvSpPr/>
            <p:nvPr/>
          </p:nvSpPr>
          <p:spPr>
            <a:xfrm>
              <a:off x="0" y="0"/>
              <a:ext cx="751375" cy="559593"/>
            </a:xfrm>
            <a:custGeom>
              <a:avLst/>
              <a:gdLst/>
              <a:ahLst/>
              <a:cxnLst/>
              <a:rect l="l" t="t" r="r" b="b"/>
              <a:pathLst>
                <a:path w="751375" h="559593">
                  <a:moveTo>
                    <a:pt x="0" y="0"/>
                  </a:moveTo>
                  <a:lnTo>
                    <a:pt x="751375" y="0"/>
                  </a:lnTo>
                  <a:lnTo>
                    <a:pt x="751375" y="559593"/>
                  </a:lnTo>
                  <a:lnTo>
                    <a:pt x="0" y="559593"/>
                  </a:lnTo>
                  <a:close/>
                </a:path>
              </a:pathLst>
            </a:custGeom>
            <a:solidFill>
              <a:srgbClr val="000066"/>
            </a:solidFill>
          </p:spPr>
          <p:txBody>
            <a:bodyPr/>
            <a:lstStyle/>
            <a:p>
              <a:endParaRPr lang="en-GB"/>
            </a:p>
          </p:txBody>
        </p:sp>
        <p:sp>
          <p:nvSpPr>
            <p:cNvPr id="36" name="TextBox 36"/>
            <p:cNvSpPr txBox="1"/>
            <p:nvPr/>
          </p:nvSpPr>
          <p:spPr>
            <a:xfrm>
              <a:off x="0" y="-28575"/>
              <a:ext cx="751375" cy="588168"/>
            </a:xfrm>
            <a:prstGeom prst="rect">
              <a:avLst/>
            </a:prstGeom>
          </p:spPr>
          <p:txBody>
            <a:bodyPr lIns="50800" tIns="50800" rIns="50800" bIns="50800" rtlCol="0" anchor="ctr"/>
            <a:lstStyle/>
            <a:p>
              <a:pPr algn="ctr">
                <a:lnSpc>
                  <a:spcPts val="2659"/>
                </a:lnSpc>
              </a:pPr>
              <a:endParaRPr/>
            </a:p>
          </p:txBody>
        </p:sp>
      </p:grpSp>
      <p:grpSp>
        <p:nvGrpSpPr>
          <p:cNvPr id="37" name="Group 37"/>
          <p:cNvGrpSpPr/>
          <p:nvPr/>
        </p:nvGrpSpPr>
        <p:grpSpPr>
          <a:xfrm>
            <a:off x="7717562" y="3345503"/>
            <a:ext cx="2852876" cy="2124704"/>
            <a:chOff x="0" y="0"/>
            <a:chExt cx="751375" cy="559593"/>
          </a:xfrm>
        </p:grpSpPr>
        <p:sp>
          <p:nvSpPr>
            <p:cNvPr id="38" name="Freeform 38"/>
            <p:cNvSpPr/>
            <p:nvPr/>
          </p:nvSpPr>
          <p:spPr>
            <a:xfrm>
              <a:off x="0" y="0"/>
              <a:ext cx="751375" cy="559593"/>
            </a:xfrm>
            <a:custGeom>
              <a:avLst/>
              <a:gdLst/>
              <a:ahLst/>
              <a:cxnLst/>
              <a:rect l="l" t="t" r="r" b="b"/>
              <a:pathLst>
                <a:path w="751375" h="559593">
                  <a:moveTo>
                    <a:pt x="0" y="0"/>
                  </a:moveTo>
                  <a:lnTo>
                    <a:pt x="751375" y="0"/>
                  </a:lnTo>
                  <a:lnTo>
                    <a:pt x="751375" y="559593"/>
                  </a:lnTo>
                  <a:lnTo>
                    <a:pt x="0" y="559593"/>
                  </a:lnTo>
                  <a:close/>
                </a:path>
              </a:pathLst>
            </a:custGeom>
            <a:solidFill>
              <a:srgbClr val="000066"/>
            </a:solidFill>
          </p:spPr>
          <p:txBody>
            <a:bodyPr/>
            <a:lstStyle/>
            <a:p>
              <a:endParaRPr lang="en-GB"/>
            </a:p>
          </p:txBody>
        </p:sp>
        <p:sp>
          <p:nvSpPr>
            <p:cNvPr id="39" name="TextBox 39"/>
            <p:cNvSpPr txBox="1"/>
            <p:nvPr/>
          </p:nvSpPr>
          <p:spPr>
            <a:xfrm>
              <a:off x="0" y="-28575"/>
              <a:ext cx="751375" cy="588168"/>
            </a:xfrm>
            <a:prstGeom prst="rect">
              <a:avLst/>
            </a:prstGeom>
          </p:spPr>
          <p:txBody>
            <a:bodyPr lIns="50800" tIns="50800" rIns="50800" bIns="50800" rtlCol="0" anchor="ctr"/>
            <a:lstStyle/>
            <a:p>
              <a:pPr algn="ctr">
                <a:lnSpc>
                  <a:spcPts val="2659"/>
                </a:lnSpc>
              </a:pPr>
              <a:endParaRPr/>
            </a:p>
          </p:txBody>
        </p:sp>
      </p:grpSp>
      <p:sp>
        <p:nvSpPr>
          <p:cNvPr id="40" name="TextBox 40"/>
          <p:cNvSpPr txBox="1"/>
          <p:nvPr/>
        </p:nvSpPr>
        <p:spPr>
          <a:xfrm>
            <a:off x="13178575" y="7516177"/>
            <a:ext cx="1921762" cy="426720"/>
          </a:xfrm>
          <a:prstGeom prst="rect">
            <a:avLst/>
          </a:prstGeom>
        </p:spPr>
        <p:txBody>
          <a:bodyPr lIns="0" tIns="0" rIns="0" bIns="0" rtlCol="0" anchor="t">
            <a:spAutoFit/>
          </a:bodyPr>
          <a:lstStyle/>
          <a:p>
            <a:pPr marL="0" lvl="0" indent="0" algn="ctr">
              <a:lnSpc>
                <a:spcPts val="3390"/>
              </a:lnSpc>
              <a:spcBef>
                <a:spcPct val="0"/>
              </a:spcBef>
            </a:pPr>
            <a:r>
              <a:rPr lang="en-US" sz="3000" b="1">
                <a:solidFill>
                  <a:srgbClr val="FFFFFF"/>
                </a:solidFill>
                <a:latin typeface="Garet Bold"/>
                <a:ea typeface="Garet Bold"/>
                <a:cs typeface="Garet Bold"/>
                <a:sym typeface="Garet Bold"/>
              </a:rPr>
              <a:t>Power BI</a:t>
            </a:r>
          </a:p>
        </p:txBody>
      </p:sp>
      <p:sp>
        <p:nvSpPr>
          <p:cNvPr id="41" name="TextBox 41"/>
          <p:cNvSpPr txBox="1"/>
          <p:nvPr/>
        </p:nvSpPr>
        <p:spPr>
          <a:xfrm>
            <a:off x="1028700" y="568007"/>
            <a:ext cx="16230600" cy="760101"/>
          </a:xfrm>
          <a:prstGeom prst="rect">
            <a:avLst/>
          </a:prstGeom>
        </p:spPr>
        <p:txBody>
          <a:bodyPr lIns="0" tIns="0" rIns="0" bIns="0" rtlCol="0" anchor="t">
            <a:spAutoFit/>
          </a:bodyPr>
          <a:lstStyle/>
          <a:p>
            <a:pPr marL="0" lvl="0" indent="0" algn="ctr">
              <a:lnSpc>
                <a:spcPts val="5640"/>
              </a:lnSpc>
              <a:spcBef>
                <a:spcPct val="0"/>
              </a:spcBef>
            </a:pPr>
            <a:r>
              <a:rPr lang="en-US" sz="6000" b="1">
                <a:solidFill>
                  <a:srgbClr val="000066"/>
                </a:solidFill>
                <a:latin typeface="Garet Bold"/>
                <a:ea typeface="Garet Bold"/>
                <a:cs typeface="Garet Bold"/>
                <a:sym typeface="Garet Bold"/>
              </a:rPr>
              <a:t>Handling Process</a:t>
            </a:r>
          </a:p>
        </p:txBody>
      </p:sp>
      <p:sp>
        <p:nvSpPr>
          <p:cNvPr id="42" name="TextBox 42"/>
          <p:cNvSpPr txBox="1"/>
          <p:nvPr/>
        </p:nvSpPr>
        <p:spPr>
          <a:xfrm>
            <a:off x="3099778" y="4208783"/>
            <a:ext cx="2035720" cy="426720"/>
          </a:xfrm>
          <a:prstGeom prst="rect">
            <a:avLst/>
          </a:prstGeom>
        </p:spPr>
        <p:txBody>
          <a:bodyPr lIns="0" tIns="0" rIns="0" bIns="0" rtlCol="0" anchor="t">
            <a:spAutoFit/>
          </a:bodyPr>
          <a:lstStyle/>
          <a:p>
            <a:pPr marL="0" lvl="0" indent="0" algn="ctr">
              <a:lnSpc>
                <a:spcPts val="3390"/>
              </a:lnSpc>
              <a:spcBef>
                <a:spcPct val="0"/>
              </a:spcBef>
            </a:pPr>
            <a:r>
              <a:rPr lang="en-US" sz="3000" b="1">
                <a:solidFill>
                  <a:srgbClr val="FFFFFF"/>
                </a:solidFill>
                <a:latin typeface="Garet Bold"/>
                <a:ea typeface="Garet Bold"/>
                <a:cs typeface="Garet Bold"/>
                <a:sym typeface="Garet Bold"/>
              </a:rPr>
              <a:t>Raw Data</a:t>
            </a:r>
          </a:p>
        </p:txBody>
      </p:sp>
      <p:sp>
        <p:nvSpPr>
          <p:cNvPr id="43" name="TextBox 43"/>
          <p:cNvSpPr txBox="1"/>
          <p:nvPr/>
        </p:nvSpPr>
        <p:spPr>
          <a:xfrm>
            <a:off x="13293942" y="4208783"/>
            <a:ext cx="1691027" cy="426720"/>
          </a:xfrm>
          <a:prstGeom prst="rect">
            <a:avLst/>
          </a:prstGeom>
        </p:spPr>
        <p:txBody>
          <a:bodyPr lIns="0" tIns="0" rIns="0" bIns="0" rtlCol="0" anchor="t">
            <a:spAutoFit/>
          </a:bodyPr>
          <a:lstStyle/>
          <a:p>
            <a:pPr marL="0" lvl="0" indent="0" algn="ctr">
              <a:lnSpc>
                <a:spcPts val="3390"/>
              </a:lnSpc>
              <a:spcBef>
                <a:spcPct val="0"/>
              </a:spcBef>
            </a:pPr>
            <a:r>
              <a:rPr lang="en-US" sz="3000" b="1">
                <a:solidFill>
                  <a:srgbClr val="FFFFFF"/>
                </a:solidFill>
                <a:latin typeface="Garet Bold"/>
                <a:ea typeface="Garet Bold"/>
                <a:cs typeface="Garet Bold"/>
                <a:sym typeface="Garet Bold"/>
              </a:rPr>
              <a:t>Staging</a:t>
            </a:r>
          </a:p>
        </p:txBody>
      </p:sp>
      <p:sp>
        <p:nvSpPr>
          <p:cNvPr id="44" name="TextBox 44"/>
          <p:cNvSpPr txBox="1"/>
          <p:nvPr/>
        </p:nvSpPr>
        <p:spPr>
          <a:xfrm>
            <a:off x="2795416" y="7301865"/>
            <a:ext cx="2710107" cy="855345"/>
          </a:xfrm>
          <a:prstGeom prst="rect">
            <a:avLst/>
          </a:prstGeom>
        </p:spPr>
        <p:txBody>
          <a:bodyPr lIns="0" tIns="0" rIns="0" bIns="0" rtlCol="0" anchor="t">
            <a:spAutoFit/>
          </a:bodyPr>
          <a:lstStyle/>
          <a:p>
            <a:pPr marL="0" lvl="0" indent="0" algn="ctr">
              <a:lnSpc>
                <a:spcPts val="3390"/>
              </a:lnSpc>
              <a:spcBef>
                <a:spcPct val="0"/>
              </a:spcBef>
            </a:pPr>
            <a:r>
              <a:rPr lang="en-US" sz="3000" b="1">
                <a:solidFill>
                  <a:srgbClr val="FFFFFF"/>
                </a:solidFill>
                <a:latin typeface="Garet Bold"/>
                <a:ea typeface="Garet Bold"/>
                <a:cs typeface="Garet Bold"/>
                <a:sym typeface="Garet Bold"/>
              </a:rPr>
              <a:t>Dimension &amp; Fact Tables</a:t>
            </a:r>
          </a:p>
        </p:txBody>
      </p:sp>
      <p:sp>
        <p:nvSpPr>
          <p:cNvPr id="45" name="TextBox 45"/>
          <p:cNvSpPr txBox="1"/>
          <p:nvPr/>
        </p:nvSpPr>
        <p:spPr>
          <a:xfrm>
            <a:off x="8125178" y="7516177"/>
            <a:ext cx="2037645" cy="426720"/>
          </a:xfrm>
          <a:prstGeom prst="rect">
            <a:avLst/>
          </a:prstGeom>
        </p:spPr>
        <p:txBody>
          <a:bodyPr lIns="0" tIns="0" rIns="0" bIns="0" rtlCol="0" anchor="t">
            <a:spAutoFit/>
          </a:bodyPr>
          <a:lstStyle/>
          <a:p>
            <a:pPr marL="0" lvl="0" indent="0" algn="ctr">
              <a:lnSpc>
                <a:spcPts val="3390"/>
              </a:lnSpc>
              <a:spcBef>
                <a:spcPct val="0"/>
              </a:spcBef>
            </a:pPr>
            <a:r>
              <a:rPr lang="en-US" sz="3000" b="1">
                <a:solidFill>
                  <a:srgbClr val="FFFFFF"/>
                </a:solidFill>
                <a:latin typeface="Garet Bold"/>
                <a:ea typeface="Garet Bold"/>
                <a:cs typeface="Garet Bold"/>
                <a:sym typeface="Garet Bold"/>
              </a:rPr>
              <a:t>SQL Views</a:t>
            </a:r>
          </a:p>
        </p:txBody>
      </p:sp>
      <p:sp>
        <p:nvSpPr>
          <p:cNvPr id="46" name="TextBox 46"/>
          <p:cNvSpPr txBox="1"/>
          <p:nvPr/>
        </p:nvSpPr>
        <p:spPr>
          <a:xfrm>
            <a:off x="8413854" y="4208783"/>
            <a:ext cx="1460292" cy="426720"/>
          </a:xfrm>
          <a:prstGeom prst="rect">
            <a:avLst/>
          </a:prstGeom>
        </p:spPr>
        <p:txBody>
          <a:bodyPr lIns="0" tIns="0" rIns="0" bIns="0" rtlCol="0" anchor="t">
            <a:spAutoFit/>
          </a:bodyPr>
          <a:lstStyle/>
          <a:p>
            <a:pPr marL="0" lvl="0" indent="0" algn="ctr">
              <a:lnSpc>
                <a:spcPts val="3390"/>
              </a:lnSpc>
              <a:spcBef>
                <a:spcPct val="0"/>
              </a:spcBef>
            </a:pPr>
            <a:r>
              <a:rPr lang="en-US" sz="3000" b="1">
                <a:solidFill>
                  <a:srgbClr val="FFFFFF"/>
                </a:solidFill>
                <a:latin typeface="Garet Bold"/>
                <a:ea typeface="Garet Bold"/>
                <a:cs typeface="Garet Bold"/>
                <a:sym typeface="Garet Bold"/>
              </a:rPr>
              <a:t>Mirror</a:t>
            </a:r>
          </a:p>
        </p:txBody>
      </p:sp>
      <p:sp>
        <p:nvSpPr>
          <p:cNvPr id="47" name="TextBox 47"/>
          <p:cNvSpPr txBox="1"/>
          <p:nvPr/>
        </p:nvSpPr>
        <p:spPr>
          <a:xfrm>
            <a:off x="5135498" y="2267430"/>
            <a:ext cx="2989679" cy="422275"/>
          </a:xfrm>
          <a:prstGeom prst="rect">
            <a:avLst/>
          </a:prstGeom>
        </p:spPr>
        <p:txBody>
          <a:bodyPr lIns="0" tIns="0" rIns="0" bIns="0" rtlCol="0" anchor="t">
            <a:spAutoFit/>
          </a:bodyPr>
          <a:lstStyle/>
          <a:p>
            <a:pPr algn="ctr">
              <a:lnSpc>
                <a:spcPts val="3499"/>
              </a:lnSpc>
              <a:spcBef>
                <a:spcPct val="0"/>
              </a:spcBef>
            </a:pPr>
            <a:r>
              <a:rPr lang="en-US" sz="2499">
                <a:solidFill>
                  <a:srgbClr val="000000"/>
                </a:solidFill>
                <a:latin typeface="Garet"/>
                <a:ea typeface="Garet"/>
                <a:cs typeface="Garet"/>
                <a:sym typeface="Garet"/>
              </a:rPr>
              <a:t>Manual Loading</a:t>
            </a:r>
          </a:p>
        </p:txBody>
      </p:sp>
      <p:grpSp>
        <p:nvGrpSpPr>
          <p:cNvPr id="48" name="Group 48"/>
          <p:cNvGrpSpPr/>
          <p:nvPr/>
        </p:nvGrpSpPr>
        <p:grpSpPr>
          <a:xfrm>
            <a:off x="7717562" y="5761461"/>
            <a:ext cx="2852876" cy="600184"/>
            <a:chOff x="0" y="0"/>
            <a:chExt cx="751375" cy="158073"/>
          </a:xfrm>
        </p:grpSpPr>
        <p:sp>
          <p:nvSpPr>
            <p:cNvPr id="49" name="Freeform 49"/>
            <p:cNvSpPr/>
            <p:nvPr/>
          </p:nvSpPr>
          <p:spPr>
            <a:xfrm>
              <a:off x="0" y="0"/>
              <a:ext cx="751375" cy="158073"/>
            </a:xfrm>
            <a:custGeom>
              <a:avLst/>
              <a:gdLst/>
              <a:ahLst/>
              <a:cxnLst/>
              <a:rect l="l" t="t" r="r" b="b"/>
              <a:pathLst>
                <a:path w="751375" h="158073">
                  <a:moveTo>
                    <a:pt x="0" y="0"/>
                  </a:moveTo>
                  <a:lnTo>
                    <a:pt x="751375" y="0"/>
                  </a:lnTo>
                  <a:lnTo>
                    <a:pt x="751375" y="158073"/>
                  </a:lnTo>
                  <a:lnTo>
                    <a:pt x="0" y="158073"/>
                  </a:lnTo>
                  <a:close/>
                </a:path>
              </a:pathLst>
            </a:custGeom>
            <a:solidFill>
              <a:srgbClr val="000066"/>
            </a:solidFill>
          </p:spPr>
          <p:txBody>
            <a:bodyPr/>
            <a:lstStyle/>
            <a:p>
              <a:endParaRPr lang="en-GB"/>
            </a:p>
          </p:txBody>
        </p:sp>
        <p:sp>
          <p:nvSpPr>
            <p:cNvPr id="50" name="TextBox 50"/>
            <p:cNvSpPr txBox="1"/>
            <p:nvPr/>
          </p:nvSpPr>
          <p:spPr>
            <a:xfrm>
              <a:off x="0" y="-28575"/>
              <a:ext cx="751375" cy="186648"/>
            </a:xfrm>
            <a:prstGeom prst="rect">
              <a:avLst/>
            </a:prstGeom>
          </p:spPr>
          <p:txBody>
            <a:bodyPr lIns="50800" tIns="50800" rIns="50800" bIns="50800" rtlCol="0" anchor="ctr"/>
            <a:lstStyle/>
            <a:p>
              <a:pPr algn="ctr">
                <a:lnSpc>
                  <a:spcPts val="2659"/>
                </a:lnSpc>
              </a:pPr>
              <a:endParaRPr/>
            </a:p>
          </p:txBody>
        </p:sp>
      </p:grpSp>
      <p:sp>
        <p:nvSpPr>
          <p:cNvPr id="51" name="TextBox 51"/>
          <p:cNvSpPr txBox="1"/>
          <p:nvPr/>
        </p:nvSpPr>
        <p:spPr>
          <a:xfrm>
            <a:off x="7717562" y="5793582"/>
            <a:ext cx="2843351" cy="488316"/>
          </a:xfrm>
          <a:prstGeom prst="rect">
            <a:avLst/>
          </a:prstGeom>
        </p:spPr>
        <p:txBody>
          <a:bodyPr lIns="0" tIns="0" rIns="0" bIns="0" rtlCol="0" anchor="t">
            <a:spAutoFit/>
          </a:bodyPr>
          <a:lstStyle/>
          <a:p>
            <a:pPr algn="ctr">
              <a:lnSpc>
                <a:spcPts val="4059"/>
              </a:lnSpc>
              <a:spcBef>
                <a:spcPct val="0"/>
              </a:spcBef>
            </a:pPr>
            <a:r>
              <a:rPr lang="en-US" sz="2899">
                <a:solidFill>
                  <a:srgbClr val="FFFFFF"/>
                </a:solidFill>
                <a:latin typeface="Garet"/>
                <a:ea typeface="Garet"/>
                <a:cs typeface="Garet"/>
                <a:sym typeface="Garet"/>
              </a:rPr>
              <a:t>DWH Building</a:t>
            </a:r>
          </a:p>
        </p:txBody>
      </p:sp>
      <p:sp>
        <p:nvSpPr>
          <p:cNvPr id="52" name="TextBox 52"/>
          <p:cNvSpPr txBox="1"/>
          <p:nvPr/>
        </p:nvSpPr>
        <p:spPr>
          <a:xfrm>
            <a:off x="10162822" y="2269703"/>
            <a:ext cx="2989679" cy="422275"/>
          </a:xfrm>
          <a:prstGeom prst="rect">
            <a:avLst/>
          </a:prstGeom>
        </p:spPr>
        <p:txBody>
          <a:bodyPr lIns="0" tIns="0" rIns="0" bIns="0" rtlCol="0" anchor="t">
            <a:spAutoFit/>
          </a:bodyPr>
          <a:lstStyle/>
          <a:p>
            <a:pPr algn="ctr">
              <a:lnSpc>
                <a:spcPts val="3499"/>
              </a:lnSpc>
              <a:spcBef>
                <a:spcPct val="0"/>
              </a:spcBef>
            </a:pPr>
            <a:r>
              <a:rPr lang="en-US" sz="2499">
                <a:solidFill>
                  <a:srgbClr val="000000"/>
                </a:solidFill>
                <a:latin typeface="Garet"/>
                <a:ea typeface="Garet"/>
                <a:cs typeface="Garet"/>
                <a:sym typeface="Garet"/>
              </a:rPr>
              <a:t>Data Cleaning</a:t>
            </a:r>
          </a:p>
        </p:txBody>
      </p:sp>
      <p:sp>
        <p:nvSpPr>
          <p:cNvPr id="53" name="TextBox 53"/>
          <p:cNvSpPr txBox="1"/>
          <p:nvPr/>
        </p:nvSpPr>
        <p:spPr>
          <a:xfrm>
            <a:off x="4117638" y="9320527"/>
            <a:ext cx="5026362" cy="422275"/>
          </a:xfrm>
          <a:prstGeom prst="rect">
            <a:avLst/>
          </a:prstGeom>
        </p:spPr>
        <p:txBody>
          <a:bodyPr lIns="0" tIns="0" rIns="0" bIns="0" rtlCol="0" anchor="t">
            <a:spAutoFit/>
          </a:bodyPr>
          <a:lstStyle/>
          <a:p>
            <a:pPr algn="ctr">
              <a:lnSpc>
                <a:spcPts val="3499"/>
              </a:lnSpc>
              <a:spcBef>
                <a:spcPct val="0"/>
              </a:spcBef>
            </a:pPr>
            <a:r>
              <a:rPr lang="en-US" sz="2499">
                <a:solidFill>
                  <a:srgbClr val="000000"/>
                </a:solidFill>
                <a:latin typeface="Garet"/>
                <a:ea typeface="Garet"/>
                <a:cs typeface="Garet"/>
                <a:sym typeface="Garet"/>
              </a:rPr>
              <a:t>STAR Schema Creation</a:t>
            </a:r>
          </a:p>
        </p:txBody>
      </p:sp>
      <p:sp>
        <p:nvSpPr>
          <p:cNvPr id="54" name="TextBox 54"/>
          <p:cNvSpPr txBox="1"/>
          <p:nvPr/>
        </p:nvSpPr>
        <p:spPr>
          <a:xfrm>
            <a:off x="9144000" y="9320527"/>
            <a:ext cx="4993275" cy="422275"/>
          </a:xfrm>
          <a:prstGeom prst="rect">
            <a:avLst/>
          </a:prstGeom>
        </p:spPr>
        <p:txBody>
          <a:bodyPr lIns="0" tIns="0" rIns="0" bIns="0" rtlCol="0" anchor="t">
            <a:spAutoFit/>
          </a:bodyPr>
          <a:lstStyle/>
          <a:p>
            <a:pPr algn="ctr">
              <a:lnSpc>
                <a:spcPts val="3499"/>
              </a:lnSpc>
              <a:spcBef>
                <a:spcPct val="0"/>
              </a:spcBef>
            </a:pPr>
            <a:r>
              <a:rPr lang="en-US" sz="2499">
                <a:solidFill>
                  <a:srgbClr val="000000"/>
                </a:solidFill>
                <a:latin typeface="Garet"/>
                <a:ea typeface="Garet"/>
                <a:cs typeface="Garet"/>
                <a:sym typeface="Garet"/>
              </a:rPr>
              <a:t>Visual Demonstration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699FF"/>
        </a:solidFill>
        <a:effectLst/>
      </p:bgPr>
    </p:bg>
    <p:spTree>
      <p:nvGrpSpPr>
        <p:cNvPr id="1" name=""/>
        <p:cNvGrpSpPr/>
        <p:nvPr/>
      </p:nvGrpSpPr>
      <p:grpSpPr>
        <a:xfrm>
          <a:off x="0" y="0"/>
          <a:ext cx="0" cy="0"/>
          <a:chOff x="0" y="0"/>
          <a:chExt cx="0" cy="0"/>
        </a:xfrm>
      </p:grpSpPr>
      <p:grpSp>
        <p:nvGrpSpPr>
          <p:cNvPr id="2" name="Group 2"/>
          <p:cNvGrpSpPr/>
          <p:nvPr/>
        </p:nvGrpSpPr>
        <p:grpSpPr>
          <a:xfrm>
            <a:off x="188797" y="203992"/>
            <a:ext cx="17910406" cy="9879016"/>
            <a:chOff x="0" y="0"/>
            <a:chExt cx="4717144" cy="2601881"/>
          </a:xfrm>
        </p:grpSpPr>
        <p:sp>
          <p:nvSpPr>
            <p:cNvPr id="3" name="Freeform 3"/>
            <p:cNvSpPr/>
            <p:nvPr/>
          </p:nvSpPr>
          <p:spPr>
            <a:xfrm>
              <a:off x="0" y="0"/>
              <a:ext cx="4717144" cy="2601881"/>
            </a:xfrm>
            <a:custGeom>
              <a:avLst/>
              <a:gdLst/>
              <a:ahLst/>
              <a:cxnLst/>
              <a:rect l="l" t="t" r="r" b="b"/>
              <a:pathLst>
                <a:path w="4717144" h="2601881">
                  <a:moveTo>
                    <a:pt x="0" y="0"/>
                  </a:moveTo>
                  <a:lnTo>
                    <a:pt x="4717144" y="0"/>
                  </a:lnTo>
                  <a:lnTo>
                    <a:pt x="4717144" y="2601881"/>
                  </a:lnTo>
                  <a:lnTo>
                    <a:pt x="0" y="2601881"/>
                  </a:lnTo>
                  <a:close/>
                </a:path>
              </a:pathLst>
            </a:custGeom>
            <a:solidFill>
              <a:srgbClr val="FFFFFF"/>
            </a:solidFill>
          </p:spPr>
          <p:txBody>
            <a:bodyPr/>
            <a:lstStyle/>
            <a:p>
              <a:endParaRPr lang="en-GB"/>
            </a:p>
          </p:txBody>
        </p:sp>
        <p:sp>
          <p:nvSpPr>
            <p:cNvPr id="4" name="TextBox 4"/>
            <p:cNvSpPr txBox="1"/>
            <p:nvPr/>
          </p:nvSpPr>
          <p:spPr>
            <a:xfrm>
              <a:off x="0" y="-38100"/>
              <a:ext cx="4717144" cy="2639981"/>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028700" y="1181100"/>
            <a:ext cx="16230600" cy="1415415"/>
          </a:xfrm>
          <a:prstGeom prst="rect">
            <a:avLst/>
          </a:prstGeom>
        </p:spPr>
        <p:txBody>
          <a:bodyPr lIns="0" tIns="0" rIns="0" bIns="0" rtlCol="0" anchor="t">
            <a:spAutoFit/>
          </a:bodyPr>
          <a:lstStyle/>
          <a:p>
            <a:pPr algn="ctr">
              <a:lnSpc>
                <a:spcPts val="5640"/>
              </a:lnSpc>
            </a:pPr>
            <a:r>
              <a:rPr lang="en-US" sz="6000" b="1">
                <a:solidFill>
                  <a:srgbClr val="000066"/>
                </a:solidFill>
                <a:latin typeface="Garet Bold"/>
                <a:ea typeface="Garet Bold"/>
                <a:cs typeface="Garet Bold"/>
                <a:sym typeface="Garet Bold"/>
              </a:rPr>
              <a:t>The Database</a:t>
            </a:r>
          </a:p>
          <a:p>
            <a:pPr algn="ctr">
              <a:lnSpc>
                <a:spcPts val="2820"/>
              </a:lnSpc>
            </a:pPr>
            <a:endParaRPr lang="en-US" sz="6000" b="1">
              <a:solidFill>
                <a:srgbClr val="000066"/>
              </a:solidFill>
              <a:latin typeface="Garet Bold"/>
              <a:ea typeface="Garet Bold"/>
              <a:cs typeface="Garet Bold"/>
              <a:sym typeface="Garet Bold"/>
            </a:endParaRPr>
          </a:p>
          <a:p>
            <a:pPr marL="0" lvl="0" indent="0" algn="ctr">
              <a:lnSpc>
                <a:spcPts val="2820"/>
              </a:lnSpc>
              <a:spcBef>
                <a:spcPct val="0"/>
              </a:spcBef>
            </a:pPr>
            <a:r>
              <a:rPr lang="en-US" sz="3000" b="1">
                <a:solidFill>
                  <a:srgbClr val="000066"/>
                </a:solidFill>
                <a:latin typeface="Garet Bold"/>
                <a:ea typeface="Garet Bold"/>
                <a:cs typeface="Garet Bold"/>
                <a:sym typeface="Garet Bold"/>
              </a:rPr>
              <a:t>Merchant Category Recommendation</a:t>
            </a:r>
          </a:p>
        </p:txBody>
      </p:sp>
      <p:grpSp>
        <p:nvGrpSpPr>
          <p:cNvPr id="6" name="Group 6"/>
          <p:cNvGrpSpPr/>
          <p:nvPr/>
        </p:nvGrpSpPr>
        <p:grpSpPr>
          <a:xfrm rot="-2699999">
            <a:off x="-2726595" y="-227420"/>
            <a:ext cx="4906166" cy="4505918"/>
            <a:chOff x="0" y="0"/>
            <a:chExt cx="3397795" cy="3120600"/>
          </a:xfrm>
        </p:grpSpPr>
        <p:sp>
          <p:nvSpPr>
            <p:cNvPr id="7" name="Freeform 7"/>
            <p:cNvSpPr/>
            <p:nvPr/>
          </p:nvSpPr>
          <p:spPr>
            <a:xfrm>
              <a:off x="0" y="0"/>
              <a:ext cx="3397795" cy="3120600"/>
            </a:xfrm>
            <a:custGeom>
              <a:avLst/>
              <a:gdLst/>
              <a:ahLst/>
              <a:cxnLst/>
              <a:rect l="l" t="t" r="r" b="b"/>
              <a:pathLst>
                <a:path w="3397795" h="3120600">
                  <a:moveTo>
                    <a:pt x="0" y="0"/>
                  </a:moveTo>
                  <a:lnTo>
                    <a:pt x="3397795" y="0"/>
                  </a:lnTo>
                  <a:lnTo>
                    <a:pt x="3397795" y="3120600"/>
                  </a:lnTo>
                  <a:lnTo>
                    <a:pt x="0" y="3120600"/>
                  </a:lnTo>
                  <a:close/>
                </a:path>
              </a:pathLst>
            </a:custGeom>
            <a:solidFill>
              <a:srgbClr val="336699"/>
            </a:solidFill>
          </p:spPr>
          <p:txBody>
            <a:bodyPr/>
            <a:lstStyle/>
            <a:p>
              <a:endParaRPr lang="en-GB"/>
            </a:p>
          </p:txBody>
        </p:sp>
        <p:sp>
          <p:nvSpPr>
            <p:cNvPr id="8" name="TextBox 8"/>
            <p:cNvSpPr txBox="1"/>
            <p:nvPr/>
          </p:nvSpPr>
          <p:spPr>
            <a:xfrm>
              <a:off x="0" y="-38100"/>
              <a:ext cx="3397795" cy="3158700"/>
            </a:xfrm>
            <a:prstGeom prst="rect">
              <a:avLst/>
            </a:prstGeom>
          </p:spPr>
          <p:txBody>
            <a:bodyPr lIns="46654" tIns="46654" rIns="46654" bIns="46654" rtlCol="0" anchor="ctr"/>
            <a:lstStyle/>
            <a:p>
              <a:pPr algn="ctr">
                <a:lnSpc>
                  <a:spcPts val="1800"/>
                </a:lnSpc>
                <a:spcBef>
                  <a:spcPct val="0"/>
                </a:spcBef>
              </a:pPr>
              <a:endParaRPr/>
            </a:p>
          </p:txBody>
        </p:sp>
      </p:grpSp>
      <p:grpSp>
        <p:nvGrpSpPr>
          <p:cNvPr id="9" name="Group 9"/>
          <p:cNvGrpSpPr/>
          <p:nvPr/>
        </p:nvGrpSpPr>
        <p:grpSpPr>
          <a:xfrm rot="-2699999">
            <a:off x="16178849" y="6533689"/>
            <a:ext cx="4906166" cy="4505918"/>
            <a:chOff x="0" y="0"/>
            <a:chExt cx="3397795" cy="3120600"/>
          </a:xfrm>
        </p:grpSpPr>
        <p:sp>
          <p:nvSpPr>
            <p:cNvPr id="10" name="Freeform 10"/>
            <p:cNvSpPr/>
            <p:nvPr/>
          </p:nvSpPr>
          <p:spPr>
            <a:xfrm>
              <a:off x="0" y="0"/>
              <a:ext cx="3397795" cy="3120600"/>
            </a:xfrm>
            <a:custGeom>
              <a:avLst/>
              <a:gdLst/>
              <a:ahLst/>
              <a:cxnLst/>
              <a:rect l="l" t="t" r="r" b="b"/>
              <a:pathLst>
                <a:path w="3397795" h="3120600">
                  <a:moveTo>
                    <a:pt x="0" y="0"/>
                  </a:moveTo>
                  <a:lnTo>
                    <a:pt x="3397795" y="0"/>
                  </a:lnTo>
                  <a:lnTo>
                    <a:pt x="3397795" y="3120600"/>
                  </a:lnTo>
                  <a:lnTo>
                    <a:pt x="0" y="3120600"/>
                  </a:lnTo>
                  <a:close/>
                </a:path>
              </a:pathLst>
            </a:custGeom>
            <a:solidFill>
              <a:srgbClr val="6699FF"/>
            </a:solidFill>
          </p:spPr>
          <p:txBody>
            <a:bodyPr/>
            <a:lstStyle/>
            <a:p>
              <a:endParaRPr lang="en-GB"/>
            </a:p>
          </p:txBody>
        </p:sp>
        <p:sp>
          <p:nvSpPr>
            <p:cNvPr id="11" name="TextBox 11"/>
            <p:cNvSpPr txBox="1"/>
            <p:nvPr/>
          </p:nvSpPr>
          <p:spPr>
            <a:xfrm>
              <a:off x="0" y="-38100"/>
              <a:ext cx="3397795" cy="3158700"/>
            </a:xfrm>
            <a:prstGeom prst="rect">
              <a:avLst/>
            </a:prstGeom>
          </p:spPr>
          <p:txBody>
            <a:bodyPr lIns="46654" tIns="46654" rIns="46654" bIns="46654" rtlCol="0" anchor="ctr"/>
            <a:lstStyle/>
            <a:p>
              <a:pPr algn="ctr">
                <a:lnSpc>
                  <a:spcPts val="1800"/>
                </a:lnSpc>
                <a:spcBef>
                  <a:spcPct val="0"/>
                </a:spcBef>
              </a:pPr>
              <a:endParaRPr/>
            </a:p>
          </p:txBody>
        </p:sp>
      </p:grpSp>
      <p:grpSp>
        <p:nvGrpSpPr>
          <p:cNvPr id="12" name="Group 12"/>
          <p:cNvGrpSpPr/>
          <p:nvPr/>
        </p:nvGrpSpPr>
        <p:grpSpPr>
          <a:xfrm rot="-2699999">
            <a:off x="1530331" y="3170689"/>
            <a:ext cx="1918747" cy="1762214"/>
            <a:chOff x="0" y="0"/>
            <a:chExt cx="1328840" cy="1220432"/>
          </a:xfrm>
        </p:grpSpPr>
        <p:sp>
          <p:nvSpPr>
            <p:cNvPr id="13" name="Freeform 13"/>
            <p:cNvSpPr/>
            <p:nvPr/>
          </p:nvSpPr>
          <p:spPr>
            <a:xfrm>
              <a:off x="0" y="0"/>
              <a:ext cx="1328840" cy="1220432"/>
            </a:xfrm>
            <a:custGeom>
              <a:avLst/>
              <a:gdLst/>
              <a:ahLst/>
              <a:cxnLst/>
              <a:rect l="l" t="t" r="r" b="b"/>
              <a:pathLst>
                <a:path w="1328840" h="1220432">
                  <a:moveTo>
                    <a:pt x="0" y="0"/>
                  </a:moveTo>
                  <a:lnTo>
                    <a:pt x="1328840" y="0"/>
                  </a:lnTo>
                  <a:lnTo>
                    <a:pt x="1328840" y="1220432"/>
                  </a:lnTo>
                  <a:lnTo>
                    <a:pt x="0" y="1220432"/>
                  </a:lnTo>
                  <a:close/>
                </a:path>
              </a:pathLst>
            </a:custGeom>
            <a:solidFill>
              <a:srgbClr val="6699FF"/>
            </a:solidFill>
          </p:spPr>
          <p:txBody>
            <a:bodyPr/>
            <a:lstStyle/>
            <a:p>
              <a:endParaRPr lang="en-GB"/>
            </a:p>
          </p:txBody>
        </p:sp>
        <p:sp>
          <p:nvSpPr>
            <p:cNvPr id="14" name="TextBox 14"/>
            <p:cNvSpPr txBox="1"/>
            <p:nvPr/>
          </p:nvSpPr>
          <p:spPr>
            <a:xfrm>
              <a:off x="0" y="-38100"/>
              <a:ext cx="1328840" cy="1258532"/>
            </a:xfrm>
            <a:prstGeom prst="rect">
              <a:avLst/>
            </a:prstGeom>
          </p:spPr>
          <p:txBody>
            <a:bodyPr lIns="46654" tIns="46654" rIns="46654" bIns="46654" rtlCol="0" anchor="ctr"/>
            <a:lstStyle/>
            <a:p>
              <a:pPr algn="ctr">
                <a:lnSpc>
                  <a:spcPts val="1800"/>
                </a:lnSpc>
                <a:spcBef>
                  <a:spcPct val="0"/>
                </a:spcBef>
              </a:pPr>
              <a:endParaRPr/>
            </a:p>
          </p:txBody>
        </p:sp>
      </p:grpSp>
      <p:grpSp>
        <p:nvGrpSpPr>
          <p:cNvPr id="15" name="Group 15"/>
          <p:cNvGrpSpPr/>
          <p:nvPr/>
        </p:nvGrpSpPr>
        <p:grpSpPr>
          <a:xfrm>
            <a:off x="6691602" y="3146557"/>
            <a:ext cx="4903684" cy="1523999"/>
            <a:chOff x="0" y="0"/>
            <a:chExt cx="1291505" cy="401382"/>
          </a:xfrm>
        </p:grpSpPr>
        <p:sp>
          <p:nvSpPr>
            <p:cNvPr id="16" name="Freeform 16"/>
            <p:cNvSpPr/>
            <p:nvPr/>
          </p:nvSpPr>
          <p:spPr>
            <a:xfrm>
              <a:off x="0" y="0"/>
              <a:ext cx="1291505" cy="401382"/>
            </a:xfrm>
            <a:custGeom>
              <a:avLst/>
              <a:gdLst/>
              <a:ahLst/>
              <a:cxnLst/>
              <a:rect l="l" t="t" r="r" b="b"/>
              <a:pathLst>
                <a:path w="1291505" h="401382">
                  <a:moveTo>
                    <a:pt x="80519" y="0"/>
                  </a:moveTo>
                  <a:lnTo>
                    <a:pt x="1210986" y="0"/>
                  </a:lnTo>
                  <a:cubicBezTo>
                    <a:pt x="1255456" y="0"/>
                    <a:pt x="1291505" y="36049"/>
                    <a:pt x="1291505" y="80519"/>
                  </a:cubicBezTo>
                  <a:lnTo>
                    <a:pt x="1291505" y="320864"/>
                  </a:lnTo>
                  <a:cubicBezTo>
                    <a:pt x="1291505" y="365333"/>
                    <a:pt x="1255456" y="401382"/>
                    <a:pt x="1210986" y="401382"/>
                  </a:cubicBezTo>
                  <a:lnTo>
                    <a:pt x="80519" y="401382"/>
                  </a:lnTo>
                  <a:cubicBezTo>
                    <a:pt x="36049" y="401382"/>
                    <a:pt x="0" y="365333"/>
                    <a:pt x="0" y="320864"/>
                  </a:cubicBezTo>
                  <a:lnTo>
                    <a:pt x="0" y="80519"/>
                  </a:lnTo>
                  <a:cubicBezTo>
                    <a:pt x="0" y="36049"/>
                    <a:pt x="36049" y="0"/>
                    <a:pt x="80519" y="0"/>
                  </a:cubicBezTo>
                  <a:close/>
                </a:path>
              </a:pathLst>
            </a:custGeom>
          </p:spPr>
          <p:txBody>
            <a:bodyPr/>
            <a:lstStyle/>
            <a:p>
              <a:endParaRPr lang="en-GB"/>
            </a:p>
          </p:txBody>
        </p:sp>
        <p:sp>
          <p:nvSpPr>
            <p:cNvPr id="17" name="TextBox 17"/>
            <p:cNvSpPr txBox="1"/>
            <p:nvPr/>
          </p:nvSpPr>
          <p:spPr>
            <a:xfrm>
              <a:off x="0" y="-47625"/>
              <a:ext cx="1291505" cy="449007"/>
            </a:xfrm>
            <a:prstGeom prst="rect">
              <a:avLst/>
            </a:prstGeom>
          </p:spPr>
          <p:txBody>
            <a:bodyPr lIns="254000" tIns="254000" rIns="254000" bIns="254000" rtlCol="0" anchor="t"/>
            <a:lstStyle/>
            <a:p>
              <a:pPr marL="0" lvl="0" indent="0" algn="l">
                <a:lnSpc>
                  <a:spcPts val="4199"/>
                </a:lnSpc>
                <a:spcBef>
                  <a:spcPct val="0"/>
                </a:spcBef>
              </a:pPr>
              <a:r>
                <a:rPr lang="en-US" sz="2999" b="1">
                  <a:solidFill>
                    <a:srgbClr val="000066"/>
                  </a:solidFill>
                  <a:latin typeface="Garet Bold"/>
                  <a:ea typeface="Garet Bold"/>
                  <a:cs typeface="Garet Bold"/>
                  <a:sym typeface="Garet Bold"/>
                </a:rPr>
                <a:t>New Merchant Transactions</a:t>
              </a:r>
            </a:p>
          </p:txBody>
        </p:sp>
      </p:grpSp>
      <p:sp>
        <p:nvSpPr>
          <p:cNvPr id="18" name="TextBox 18"/>
          <p:cNvSpPr txBox="1"/>
          <p:nvPr/>
        </p:nvSpPr>
        <p:spPr>
          <a:xfrm>
            <a:off x="6691602" y="4767796"/>
            <a:ext cx="4903684" cy="1427481"/>
          </a:xfrm>
          <a:prstGeom prst="rect">
            <a:avLst/>
          </a:prstGeom>
        </p:spPr>
        <p:txBody>
          <a:bodyPr lIns="0" tIns="0" rIns="0" bIns="0" rtlCol="0" anchor="t">
            <a:spAutoFit/>
          </a:bodyPr>
          <a:lstStyle/>
          <a:p>
            <a:pPr algn="l">
              <a:lnSpc>
                <a:spcPts val="2260"/>
              </a:lnSpc>
            </a:pPr>
            <a:r>
              <a:rPr lang="en-US" sz="2000">
                <a:solidFill>
                  <a:srgbClr val="000066"/>
                </a:solidFill>
                <a:latin typeface="Garet"/>
                <a:ea typeface="Garet"/>
                <a:cs typeface="Garet"/>
                <a:sym typeface="Garet"/>
              </a:rPr>
              <a:t>All new transactions made are listed here, with details of amounts,  dates, cards used, locations and merchant details.</a:t>
            </a:r>
          </a:p>
          <a:p>
            <a:pPr marL="0" lvl="0" indent="0" algn="l">
              <a:lnSpc>
                <a:spcPts val="2260"/>
              </a:lnSpc>
              <a:spcBef>
                <a:spcPct val="0"/>
              </a:spcBef>
            </a:pPr>
            <a:r>
              <a:rPr lang="en-US" sz="2000">
                <a:solidFill>
                  <a:srgbClr val="000066"/>
                </a:solidFill>
                <a:latin typeface="Garet"/>
                <a:ea typeface="Garet"/>
                <a:cs typeface="Garet"/>
                <a:sym typeface="Garet"/>
              </a:rPr>
              <a:t>1,963,031 rows.</a:t>
            </a:r>
          </a:p>
        </p:txBody>
      </p:sp>
      <p:sp>
        <p:nvSpPr>
          <p:cNvPr id="19" name="TextBox 19"/>
          <p:cNvSpPr txBox="1"/>
          <p:nvPr/>
        </p:nvSpPr>
        <p:spPr>
          <a:xfrm>
            <a:off x="1026475" y="4786847"/>
            <a:ext cx="4903684" cy="1427480"/>
          </a:xfrm>
          <a:prstGeom prst="rect">
            <a:avLst/>
          </a:prstGeom>
        </p:spPr>
        <p:txBody>
          <a:bodyPr lIns="0" tIns="0" rIns="0" bIns="0" rtlCol="0" anchor="t">
            <a:spAutoFit/>
          </a:bodyPr>
          <a:lstStyle/>
          <a:p>
            <a:pPr marL="0" lvl="0" indent="0" algn="l">
              <a:lnSpc>
                <a:spcPts val="2260"/>
              </a:lnSpc>
              <a:spcBef>
                <a:spcPct val="0"/>
              </a:spcBef>
            </a:pPr>
            <a:r>
              <a:rPr lang="en-US" sz="2000">
                <a:solidFill>
                  <a:srgbClr val="000066"/>
                </a:solidFill>
                <a:latin typeface="Garet"/>
                <a:ea typeface="Garet"/>
                <a:cs typeface="Garet"/>
                <a:sym typeface="Garet"/>
              </a:rPr>
              <a:t>All past </a:t>
            </a:r>
            <a:r>
              <a:rPr lang="en-US" sz="2000" u="none" strike="noStrike">
                <a:solidFill>
                  <a:srgbClr val="000066"/>
                </a:solidFill>
                <a:latin typeface="Garet"/>
                <a:ea typeface="Garet"/>
                <a:cs typeface="Garet"/>
                <a:sym typeface="Garet"/>
              </a:rPr>
              <a:t>transactions made are listed here, with details of amounts, dates, cards used, locations and merchant details.</a:t>
            </a:r>
          </a:p>
          <a:p>
            <a:pPr marL="0" lvl="0" indent="0" algn="l">
              <a:lnSpc>
                <a:spcPts val="2260"/>
              </a:lnSpc>
              <a:spcBef>
                <a:spcPct val="0"/>
              </a:spcBef>
            </a:pPr>
            <a:r>
              <a:rPr lang="en-US" sz="2000" u="none" strike="noStrike">
                <a:solidFill>
                  <a:srgbClr val="000066"/>
                </a:solidFill>
                <a:latin typeface="Garet"/>
                <a:ea typeface="Garet"/>
                <a:cs typeface="Garet"/>
                <a:sym typeface="Garet"/>
              </a:rPr>
              <a:t>20,000,000 rows.</a:t>
            </a:r>
          </a:p>
        </p:txBody>
      </p:sp>
      <p:grpSp>
        <p:nvGrpSpPr>
          <p:cNvPr id="20" name="Group 20"/>
          <p:cNvGrpSpPr/>
          <p:nvPr/>
        </p:nvGrpSpPr>
        <p:grpSpPr>
          <a:xfrm>
            <a:off x="1026475" y="3146557"/>
            <a:ext cx="4903684" cy="1543050"/>
            <a:chOff x="0" y="0"/>
            <a:chExt cx="1291505" cy="406400"/>
          </a:xfrm>
        </p:grpSpPr>
        <p:sp>
          <p:nvSpPr>
            <p:cNvPr id="21" name="Freeform 21"/>
            <p:cNvSpPr/>
            <p:nvPr/>
          </p:nvSpPr>
          <p:spPr>
            <a:xfrm>
              <a:off x="0" y="0"/>
              <a:ext cx="1291505" cy="406400"/>
            </a:xfrm>
            <a:custGeom>
              <a:avLst/>
              <a:gdLst/>
              <a:ahLst/>
              <a:cxnLst/>
              <a:rect l="l" t="t" r="r" b="b"/>
              <a:pathLst>
                <a:path w="1291505" h="406400">
                  <a:moveTo>
                    <a:pt x="80519" y="0"/>
                  </a:moveTo>
                  <a:lnTo>
                    <a:pt x="1210986" y="0"/>
                  </a:lnTo>
                  <a:cubicBezTo>
                    <a:pt x="1255456" y="0"/>
                    <a:pt x="1291505" y="36049"/>
                    <a:pt x="1291505" y="80519"/>
                  </a:cubicBezTo>
                  <a:lnTo>
                    <a:pt x="1291505" y="325881"/>
                  </a:lnTo>
                  <a:cubicBezTo>
                    <a:pt x="1291505" y="370351"/>
                    <a:pt x="1255456" y="406400"/>
                    <a:pt x="1210986" y="406400"/>
                  </a:cubicBezTo>
                  <a:lnTo>
                    <a:pt x="80519" y="406400"/>
                  </a:lnTo>
                  <a:cubicBezTo>
                    <a:pt x="36049" y="406400"/>
                    <a:pt x="0" y="370351"/>
                    <a:pt x="0" y="325881"/>
                  </a:cubicBezTo>
                  <a:lnTo>
                    <a:pt x="0" y="80519"/>
                  </a:lnTo>
                  <a:cubicBezTo>
                    <a:pt x="0" y="36049"/>
                    <a:pt x="36049" y="0"/>
                    <a:pt x="80519" y="0"/>
                  </a:cubicBezTo>
                  <a:close/>
                </a:path>
              </a:pathLst>
            </a:custGeom>
          </p:spPr>
          <p:txBody>
            <a:bodyPr/>
            <a:lstStyle/>
            <a:p>
              <a:endParaRPr lang="en-GB"/>
            </a:p>
          </p:txBody>
        </p:sp>
        <p:sp>
          <p:nvSpPr>
            <p:cNvPr id="22" name="TextBox 22"/>
            <p:cNvSpPr txBox="1"/>
            <p:nvPr/>
          </p:nvSpPr>
          <p:spPr>
            <a:xfrm>
              <a:off x="0" y="-57150"/>
              <a:ext cx="1291505" cy="463550"/>
            </a:xfrm>
            <a:prstGeom prst="rect">
              <a:avLst/>
            </a:prstGeom>
          </p:spPr>
          <p:txBody>
            <a:bodyPr lIns="254000" tIns="254000" rIns="254000" bIns="254000" rtlCol="0" anchor="t"/>
            <a:lstStyle/>
            <a:p>
              <a:pPr marL="0" lvl="0" indent="0" algn="l">
                <a:lnSpc>
                  <a:spcPts val="4200"/>
                </a:lnSpc>
                <a:spcBef>
                  <a:spcPct val="0"/>
                </a:spcBef>
              </a:pPr>
              <a:r>
                <a:rPr lang="en-US" sz="3000" b="1">
                  <a:solidFill>
                    <a:srgbClr val="000066"/>
                  </a:solidFill>
                  <a:latin typeface="Garet Bold"/>
                  <a:ea typeface="Garet Bold"/>
                  <a:cs typeface="Garet Bold"/>
                  <a:sym typeface="Garet Bold"/>
                </a:rPr>
                <a:t>Historical Transactions</a:t>
              </a:r>
            </a:p>
          </p:txBody>
        </p:sp>
      </p:grpSp>
      <p:grpSp>
        <p:nvGrpSpPr>
          <p:cNvPr id="23" name="Group 23"/>
          <p:cNvGrpSpPr/>
          <p:nvPr/>
        </p:nvGrpSpPr>
        <p:grpSpPr>
          <a:xfrm>
            <a:off x="12356729" y="3146557"/>
            <a:ext cx="4903684" cy="1501393"/>
            <a:chOff x="0" y="0"/>
            <a:chExt cx="1291505" cy="395429"/>
          </a:xfrm>
        </p:grpSpPr>
        <p:sp>
          <p:nvSpPr>
            <p:cNvPr id="24" name="Freeform 24"/>
            <p:cNvSpPr/>
            <p:nvPr/>
          </p:nvSpPr>
          <p:spPr>
            <a:xfrm>
              <a:off x="0" y="0"/>
              <a:ext cx="1291505" cy="395429"/>
            </a:xfrm>
            <a:custGeom>
              <a:avLst/>
              <a:gdLst/>
              <a:ahLst/>
              <a:cxnLst/>
              <a:rect l="l" t="t" r="r" b="b"/>
              <a:pathLst>
                <a:path w="1291505" h="395429">
                  <a:moveTo>
                    <a:pt x="80519" y="0"/>
                  </a:moveTo>
                  <a:lnTo>
                    <a:pt x="1210986" y="0"/>
                  </a:lnTo>
                  <a:cubicBezTo>
                    <a:pt x="1255456" y="0"/>
                    <a:pt x="1291505" y="36049"/>
                    <a:pt x="1291505" y="80519"/>
                  </a:cubicBezTo>
                  <a:lnTo>
                    <a:pt x="1291505" y="314910"/>
                  </a:lnTo>
                  <a:cubicBezTo>
                    <a:pt x="1291505" y="359379"/>
                    <a:pt x="1255456" y="395429"/>
                    <a:pt x="1210986" y="395429"/>
                  </a:cubicBezTo>
                  <a:lnTo>
                    <a:pt x="80519" y="395429"/>
                  </a:lnTo>
                  <a:cubicBezTo>
                    <a:pt x="36049" y="395429"/>
                    <a:pt x="0" y="359379"/>
                    <a:pt x="0" y="314910"/>
                  </a:cubicBezTo>
                  <a:lnTo>
                    <a:pt x="0" y="80519"/>
                  </a:lnTo>
                  <a:cubicBezTo>
                    <a:pt x="0" y="36049"/>
                    <a:pt x="36049" y="0"/>
                    <a:pt x="80519" y="0"/>
                  </a:cubicBezTo>
                  <a:close/>
                </a:path>
              </a:pathLst>
            </a:custGeom>
          </p:spPr>
          <p:txBody>
            <a:bodyPr/>
            <a:lstStyle/>
            <a:p>
              <a:endParaRPr lang="en-GB"/>
            </a:p>
          </p:txBody>
        </p:sp>
        <p:sp>
          <p:nvSpPr>
            <p:cNvPr id="25" name="TextBox 25"/>
            <p:cNvSpPr txBox="1"/>
            <p:nvPr/>
          </p:nvSpPr>
          <p:spPr>
            <a:xfrm>
              <a:off x="0" y="-47625"/>
              <a:ext cx="1291505" cy="443054"/>
            </a:xfrm>
            <a:prstGeom prst="rect">
              <a:avLst/>
            </a:prstGeom>
          </p:spPr>
          <p:txBody>
            <a:bodyPr lIns="254000" tIns="254000" rIns="254000" bIns="254000" rtlCol="0" anchor="t"/>
            <a:lstStyle/>
            <a:p>
              <a:pPr marL="0" lvl="0" indent="0" algn="just">
                <a:lnSpc>
                  <a:spcPts val="4199"/>
                </a:lnSpc>
                <a:spcBef>
                  <a:spcPct val="0"/>
                </a:spcBef>
              </a:pPr>
              <a:r>
                <a:rPr lang="en-US" sz="2999" b="1">
                  <a:solidFill>
                    <a:srgbClr val="000066"/>
                  </a:solidFill>
                  <a:latin typeface="Garet Bold"/>
                  <a:ea typeface="Garet Bold"/>
                  <a:cs typeface="Garet Bold"/>
                  <a:sym typeface="Garet Bold"/>
                </a:rPr>
                <a:t>Merchants</a:t>
              </a:r>
            </a:p>
          </p:txBody>
        </p:sp>
      </p:grpSp>
      <p:sp>
        <p:nvSpPr>
          <p:cNvPr id="26" name="TextBox 26"/>
          <p:cNvSpPr txBox="1"/>
          <p:nvPr/>
        </p:nvSpPr>
        <p:spPr>
          <a:xfrm>
            <a:off x="12356729" y="4643590"/>
            <a:ext cx="4903684" cy="1713231"/>
          </a:xfrm>
          <a:prstGeom prst="rect">
            <a:avLst/>
          </a:prstGeom>
        </p:spPr>
        <p:txBody>
          <a:bodyPr lIns="0" tIns="0" rIns="0" bIns="0" rtlCol="0" anchor="t">
            <a:spAutoFit/>
          </a:bodyPr>
          <a:lstStyle/>
          <a:p>
            <a:pPr algn="l">
              <a:lnSpc>
                <a:spcPts val="2260"/>
              </a:lnSpc>
            </a:pPr>
            <a:r>
              <a:rPr lang="en-US" sz="2000">
                <a:solidFill>
                  <a:srgbClr val="000066"/>
                </a:solidFill>
                <a:latin typeface="Garet"/>
                <a:ea typeface="Garet"/>
                <a:cs typeface="Garet"/>
                <a:sym typeface="Garet"/>
              </a:rPr>
              <a:t>Details all active merchants, listing details like ID, merchant category, average purchases/sales and anonymized categories (category, numerical).</a:t>
            </a:r>
          </a:p>
          <a:p>
            <a:pPr marL="0" lvl="0" indent="0" algn="l">
              <a:lnSpc>
                <a:spcPts val="2260"/>
              </a:lnSpc>
              <a:spcBef>
                <a:spcPct val="0"/>
              </a:spcBef>
            </a:pPr>
            <a:r>
              <a:rPr lang="en-US" sz="2000">
                <a:solidFill>
                  <a:srgbClr val="000066"/>
                </a:solidFill>
                <a:latin typeface="Garet"/>
                <a:ea typeface="Garet"/>
                <a:cs typeface="Garet"/>
                <a:sym typeface="Garet"/>
              </a:rPr>
              <a:t>334,696 rows.</a:t>
            </a:r>
          </a:p>
        </p:txBody>
      </p:sp>
      <p:grpSp>
        <p:nvGrpSpPr>
          <p:cNvPr id="27" name="Group 27"/>
          <p:cNvGrpSpPr/>
          <p:nvPr/>
        </p:nvGrpSpPr>
        <p:grpSpPr>
          <a:xfrm>
            <a:off x="6691602" y="6273467"/>
            <a:ext cx="4903684" cy="1000124"/>
            <a:chOff x="0" y="0"/>
            <a:chExt cx="1291505" cy="263407"/>
          </a:xfrm>
        </p:grpSpPr>
        <p:sp>
          <p:nvSpPr>
            <p:cNvPr id="28" name="Freeform 28"/>
            <p:cNvSpPr/>
            <p:nvPr/>
          </p:nvSpPr>
          <p:spPr>
            <a:xfrm>
              <a:off x="0" y="0"/>
              <a:ext cx="1291505" cy="263407"/>
            </a:xfrm>
            <a:custGeom>
              <a:avLst/>
              <a:gdLst/>
              <a:ahLst/>
              <a:cxnLst/>
              <a:rect l="l" t="t" r="r" b="b"/>
              <a:pathLst>
                <a:path w="1291505" h="263407">
                  <a:moveTo>
                    <a:pt x="80519" y="0"/>
                  </a:moveTo>
                  <a:lnTo>
                    <a:pt x="1210986" y="0"/>
                  </a:lnTo>
                  <a:cubicBezTo>
                    <a:pt x="1255456" y="0"/>
                    <a:pt x="1291505" y="36049"/>
                    <a:pt x="1291505" y="80519"/>
                  </a:cubicBezTo>
                  <a:lnTo>
                    <a:pt x="1291505" y="182889"/>
                  </a:lnTo>
                  <a:cubicBezTo>
                    <a:pt x="1291505" y="227358"/>
                    <a:pt x="1255456" y="263407"/>
                    <a:pt x="1210986" y="263407"/>
                  </a:cubicBezTo>
                  <a:lnTo>
                    <a:pt x="80519" y="263407"/>
                  </a:lnTo>
                  <a:cubicBezTo>
                    <a:pt x="36049" y="263407"/>
                    <a:pt x="0" y="227358"/>
                    <a:pt x="0" y="182889"/>
                  </a:cubicBezTo>
                  <a:lnTo>
                    <a:pt x="0" y="80519"/>
                  </a:lnTo>
                  <a:cubicBezTo>
                    <a:pt x="0" y="36049"/>
                    <a:pt x="36049" y="0"/>
                    <a:pt x="80519" y="0"/>
                  </a:cubicBezTo>
                  <a:close/>
                </a:path>
              </a:pathLst>
            </a:custGeom>
          </p:spPr>
          <p:txBody>
            <a:bodyPr/>
            <a:lstStyle/>
            <a:p>
              <a:endParaRPr lang="en-GB"/>
            </a:p>
          </p:txBody>
        </p:sp>
        <p:sp>
          <p:nvSpPr>
            <p:cNvPr id="29" name="TextBox 29"/>
            <p:cNvSpPr txBox="1"/>
            <p:nvPr/>
          </p:nvSpPr>
          <p:spPr>
            <a:xfrm>
              <a:off x="0" y="-47625"/>
              <a:ext cx="1291505" cy="311032"/>
            </a:xfrm>
            <a:prstGeom prst="rect">
              <a:avLst/>
            </a:prstGeom>
          </p:spPr>
          <p:txBody>
            <a:bodyPr lIns="254000" tIns="254000" rIns="254000" bIns="254000" rtlCol="0" anchor="t"/>
            <a:lstStyle/>
            <a:p>
              <a:pPr marL="0" lvl="0" indent="0" algn="just">
                <a:lnSpc>
                  <a:spcPts val="4199"/>
                </a:lnSpc>
                <a:spcBef>
                  <a:spcPct val="0"/>
                </a:spcBef>
              </a:pPr>
              <a:r>
                <a:rPr lang="en-US" sz="2999" b="1">
                  <a:solidFill>
                    <a:srgbClr val="000066"/>
                  </a:solidFill>
                  <a:latin typeface="Garet Bold"/>
                  <a:ea typeface="Garet Bold"/>
                  <a:cs typeface="Garet Bold"/>
                  <a:sym typeface="Garet Bold"/>
                </a:rPr>
                <a:t>Train</a:t>
              </a:r>
            </a:p>
          </p:txBody>
        </p:sp>
      </p:grpSp>
      <p:sp>
        <p:nvSpPr>
          <p:cNvPr id="30" name="TextBox 30"/>
          <p:cNvSpPr txBox="1"/>
          <p:nvPr/>
        </p:nvSpPr>
        <p:spPr>
          <a:xfrm>
            <a:off x="6691602" y="7370831"/>
            <a:ext cx="4903684" cy="1427481"/>
          </a:xfrm>
          <a:prstGeom prst="rect">
            <a:avLst/>
          </a:prstGeom>
        </p:spPr>
        <p:txBody>
          <a:bodyPr lIns="0" tIns="0" rIns="0" bIns="0" rtlCol="0" anchor="t">
            <a:spAutoFit/>
          </a:bodyPr>
          <a:lstStyle/>
          <a:p>
            <a:pPr algn="l">
              <a:lnSpc>
                <a:spcPts val="2260"/>
              </a:lnSpc>
            </a:pPr>
            <a:r>
              <a:rPr lang="en-US" sz="2000">
                <a:solidFill>
                  <a:srgbClr val="000066"/>
                </a:solidFill>
                <a:latin typeface="Garet"/>
                <a:ea typeface="Garet"/>
                <a:cs typeface="Garet"/>
                <a:sym typeface="Garet"/>
              </a:rPr>
              <a:t>Contains all card details (ID, first active month, installments etc.), as well as customer categories (labeled 1, 2 and 3).</a:t>
            </a:r>
          </a:p>
          <a:p>
            <a:pPr marL="0" lvl="0" indent="0" algn="l">
              <a:lnSpc>
                <a:spcPts val="2260"/>
              </a:lnSpc>
              <a:spcBef>
                <a:spcPct val="0"/>
              </a:spcBef>
            </a:pPr>
            <a:r>
              <a:rPr lang="en-US" sz="2000">
                <a:solidFill>
                  <a:srgbClr val="000066"/>
                </a:solidFill>
                <a:latin typeface="Garet"/>
                <a:ea typeface="Garet"/>
                <a:cs typeface="Garet"/>
                <a:sym typeface="Garet"/>
              </a:rPr>
              <a:t>201,917 rows.</a:t>
            </a:r>
          </a:p>
        </p:txBody>
      </p:sp>
      <p:sp>
        <p:nvSpPr>
          <p:cNvPr id="31" name="TextBox 31"/>
          <p:cNvSpPr txBox="1"/>
          <p:nvPr/>
        </p:nvSpPr>
        <p:spPr>
          <a:xfrm>
            <a:off x="1026475" y="7389881"/>
            <a:ext cx="4903684" cy="855981"/>
          </a:xfrm>
          <a:prstGeom prst="rect">
            <a:avLst/>
          </a:prstGeom>
        </p:spPr>
        <p:txBody>
          <a:bodyPr lIns="0" tIns="0" rIns="0" bIns="0" rtlCol="0" anchor="t">
            <a:spAutoFit/>
          </a:bodyPr>
          <a:lstStyle/>
          <a:p>
            <a:pPr algn="l">
              <a:lnSpc>
                <a:spcPts val="2260"/>
              </a:lnSpc>
            </a:pPr>
            <a:r>
              <a:rPr lang="en-US" sz="2000">
                <a:solidFill>
                  <a:srgbClr val="000066"/>
                </a:solidFill>
                <a:latin typeface="Garet"/>
                <a:ea typeface="Garet"/>
                <a:cs typeface="Garet"/>
                <a:sym typeface="Garet"/>
              </a:rPr>
              <a:t>Contains Card ID and a “target” column.</a:t>
            </a:r>
          </a:p>
          <a:p>
            <a:pPr marL="0" lvl="0" indent="0" algn="l">
              <a:lnSpc>
                <a:spcPts val="2260"/>
              </a:lnSpc>
              <a:spcBef>
                <a:spcPct val="0"/>
              </a:spcBef>
            </a:pPr>
            <a:r>
              <a:rPr lang="en-US" sz="2000">
                <a:solidFill>
                  <a:srgbClr val="000066"/>
                </a:solidFill>
                <a:latin typeface="Garet"/>
                <a:ea typeface="Garet"/>
                <a:cs typeface="Garet"/>
                <a:sym typeface="Garet"/>
              </a:rPr>
              <a:t>123,623 rows.</a:t>
            </a:r>
          </a:p>
        </p:txBody>
      </p:sp>
      <p:grpSp>
        <p:nvGrpSpPr>
          <p:cNvPr id="32" name="Group 32"/>
          <p:cNvGrpSpPr/>
          <p:nvPr/>
        </p:nvGrpSpPr>
        <p:grpSpPr>
          <a:xfrm>
            <a:off x="1026475" y="6292517"/>
            <a:ext cx="4903684" cy="1000124"/>
            <a:chOff x="0" y="0"/>
            <a:chExt cx="1291505" cy="263407"/>
          </a:xfrm>
        </p:grpSpPr>
        <p:sp>
          <p:nvSpPr>
            <p:cNvPr id="33" name="Freeform 33"/>
            <p:cNvSpPr/>
            <p:nvPr/>
          </p:nvSpPr>
          <p:spPr>
            <a:xfrm>
              <a:off x="0" y="0"/>
              <a:ext cx="1291505" cy="263407"/>
            </a:xfrm>
            <a:custGeom>
              <a:avLst/>
              <a:gdLst/>
              <a:ahLst/>
              <a:cxnLst/>
              <a:rect l="l" t="t" r="r" b="b"/>
              <a:pathLst>
                <a:path w="1291505" h="263407">
                  <a:moveTo>
                    <a:pt x="80519" y="0"/>
                  </a:moveTo>
                  <a:lnTo>
                    <a:pt x="1210986" y="0"/>
                  </a:lnTo>
                  <a:cubicBezTo>
                    <a:pt x="1255456" y="0"/>
                    <a:pt x="1291505" y="36049"/>
                    <a:pt x="1291505" y="80519"/>
                  </a:cubicBezTo>
                  <a:lnTo>
                    <a:pt x="1291505" y="182889"/>
                  </a:lnTo>
                  <a:cubicBezTo>
                    <a:pt x="1291505" y="227358"/>
                    <a:pt x="1255456" y="263407"/>
                    <a:pt x="1210986" y="263407"/>
                  </a:cubicBezTo>
                  <a:lnTo>
                    <a:pt x="80519" y="263407"/>
                  </a:lnTo>
                  <a:cubicBezTo>
                    <a:pt x="36049" y="263407"/>
                    <a:pt x="0" y="227358"/>
                    <a:pt x="0" y="182889"/>
                  </a:cubicBezTo>
                  <a:lnTo>
                    <a:pt x="0" y="80519"/>
                  </a:lnTo>
                  <a:cubicBezTo>
                    <a:pt x="0" y="36049"/>
                    <a:pt x="36049" y="0"/>
                    <a:pt x="80519" y="0"/>
                  </a:cubicBezTo>
                  <a:close/>
                </a:path>
              </a:pathLst>
            </a:custGeom>
          </p:spPr>
          <p:txBody>
            <a:bodyPr/>
            <a:lstStyle/>
            <a:p>
              <a:endParaRPr lang="en-GB"/>
            </a:p>
          </p:txBody>
        </p:sp>
        <p:sp>
          <p:nvSpPr>
            <p:cNvPr id="34" name="TextBox 34"/>
            <p:cNvSpPr txBox="1"/>
            <p:nvPr/>
          </p:nvSpPr>
          <p:spPr>
            <a:xfrm>
              <a:off x="0" y="-47625"/>
              <a:ext cx="1291505" cy="311032"/>
            </a:xfrm>
            <a:prstGeom prst="rect">
              <a:avLst/>
            </a:prstGeom>
          </p:spPr>
          <p:txBody>
            <a:bodyPr lIns="254000" tIns="254000" rIns="254000" bIns="254000" rtlCol="0" anchor="t"/>
            <a:lstStyle/>
            <a:p>
              <a:pPr marL="0" lvl="0" indent="0" algn="l">
                <a:lnSpc>
                  <a:spcPts val="4199"/>
                </a:lnSpc>
                <a:spcBef>
                  <a:spcPct val="0"/>
                </a:spcBef>
              </a:pPr>
              <a:r>
                <a:rPr lang="en-US" sz="2999" b="1">
                  <a:solidFill>
                    <a:srgbClr val="000066"/>
                  </a:solidFill>
                  <a:latin typeface="Garet Bold"/>
                  <a:ea typeface="Garet Bold"/>
                  <a:cs typeface="Garet Bold"/>
                  <a:sym typeface="Garet Bold"/>
                </a:rPr>
                <a:t>Sample Submission</a:t>
              </a:r>
            </a:p>
          </p:txBody>
        </p:sp>
      </p:grpSp>
      <p:grpSp>
        <p:nvGrpSpPr>
          <p:cNvPr id="35" name="Group 35"/>
          <p:cNvGrpSpPr/>
          <p:nvPr/>
        </p:nvGrpSpPr>
        <p:grpSpPr>
          <a:xfrm>
            <a:off x="12356729" y="6333410"/>
            <a:ext cx="4903684" cy="1000124"/>
            <a:chOff x="0" y="0"/>
            <a:chExt cx="1291505" cy="263407"/>
          </a:xfrm>
        </p:grpSpPr>
        <p:sp>
          <p:nvSpPr>
            <p:cNvPr id="36" name="Freeform 36"/>
            <p:cNvSpPr/>
            <p:nvPr/>
          </p:nvSpPr>
          <p:spPr>
            <a:xfrm>
              <a:off x="0" y="0"/>
              <a:ext cx="1291505" cy="263407"/>
            </a:xfrm>
            <a:custGeom>
              <a:avLst/>
              <a:gdLst/>
              <a:ahLst/>
              <a:cxnLst/>
              <a:rect l="l" t="t" r="r" b="b"/>
              <a:pathLst>
                <a:path w="1291505" h="263407">
                  <a:moveTo>
                    <a:pt x="80519" y="0"/>
                  </a:moveTo>
                  <a:lnTo>
                    <a:pt x="1210986" y="0"/>
                  </a:lnTo>
                  <a:cubicBezTo>
                    <a:pt x="1255456" y="0"/>
                    <a:pt x="1291505" y="36049"/>
                    <a:pt x="1291505" y="80519"/>
                  </a:cubicBezTo>
                  <a:lnTo>
                    <a:pt x="1291505" y="182889"/>
                  </a:lnTo>
                  <a:cubicBezTo>
                    <a:pt x="1291505" y="227358"/>
                    <a:pt x="1255456" y="263407"/>
                    <a:pt x="1210986" y="263407"/>
                  </a:cubicBezTo>
                  <a:lnTo>
                    <a:pt x="80519" y="263407"/>
                  </a:lnTo>
                  <a:cubicBezTo>
                    <a:pt x="36049" y="263407"/>
                    <a:pt x="0" y="227358"/>
                    <a:pt x="0" y="182889"/>
                  </a:cubicBezTo>
                  <a:lnTo>
                    <a:pt x="0" y="80519"/>
                  </a:lnTo>
                  <a:cubicBezTo>
                    <a:pt x="0" y="36049"/>
                    <a:pt x="36049" y="0"/>
                    <a:pt x="80519" y="0"/>
                  </a:cubicBezTo>
                  <a:close/>
                </a:path>
              </a:pathLst>
            </a:custGeom>
          </p:spPr>
          <p:txBody>
            <a:bodyPr/>
            <a:lstStyle/>
            <a:p>
              <a:endParaRPr lang="en-GB"/>
            </a:p>
          </p:txBody>
        </p:sp>
        <p:sp>
          <p:nvSpPr>
            <p:cNvPr id="37" name="TextBox 37"/>
            <p:cNvSpPr txBox="1"/>
            <p:nvPr/>
          </p:nvSpPr>
          <p:spPr>
            <a:xfrm>
              <a:off x="0" y="-47625"/>
              <a:ext cx="1291505" cy="311032"/>
            </a:xfrm>
            <a:prstGeom prst="rect">
              <a:avLst/>
            </a:prstGeom>
          </p:spPr>
          <p:txBody>
            <a:bodyPr lIns="254000" tIns="254000" rIns="254000" bIns="254000" rtlCol="0" anchor="t"/>
            <a:lstStyle/>
            <a:p>
              <a:pPr marL="0" lvl="0" indent="0" algn="just">
                <a:lnSpc>
                  <a:spcPts val="4199"/>
                </a:lnSpc>
                <a:spcBef>
                  <a:spcPct val="0"/>
                </a:spcBef>
              </a:pPr>
              <a:r>
                <a:rPr lang="en-US" sz="2999" b="1">
                  <a:solidFill>
                    <a:srgbClr val="000066"/>
                  </a:solidFill>
                  <a:latin typeface="Garet Bold"/>
                  <a:ea typeface="Garet Bold"/>
                  <a:cs typeface="Garet Bold"/>
                  <a:sym typeface="Garet Bold"/>
                </a:rPr>
                <a:t>Test</a:t>
              </a:r>
            </a:p>
          </p:txBody>
        </p:sp>
      </p:grpSp>
      <p:sp>
        <p:nvSpPr>
          <p:cNvPr id="38" name="TextBox 38"/>
          <p:cNvSpPr txBox="1"/>
          <p:nvPr/>
        </p:nvSpPr>
        <p:spPr>
          <a:xfrm>
            <a:off x="12357842" y="7329173"/>
            <a:ext cx="4901458" cy="1427481"/>
          </a:xfrm>
          <a:prstGeom prst="rect">
            <a:avLst/>
          </a:prstGeom>
        </p:spPr>
        <p:txBody>
          <a:bodyPr lIns="0" tIns="0" rIns="0" bIns="0" rtlCol="0" anchor="t">
            <a:spAutoFit/>
          </a:bodyPr>
          <a:lstStyle/>
          <a:p>
            <a:pPr algn="l">
              <a:lnSpc>
                <a:spcPts val="2260"/>
              </a:lnSpc>
            </a:pPr>
            <a:r>
              <a:rPr lang="en-US" sz="2000">
                <a:solidFill>
                  <a:srgbClr val="000066"/>
                </a:solidFill>
                <a:latin typeface="Garet"/>
                <a:ea typeface="Garet"/>
                <a:cs typeface="Garet"/>
                <a:sym typeface="Garet"/>
              </a:rPr>
              <a:t>Contains all card details (ID, first active month, installments etc.), as well as customer categories (labeled 1, 2 and 3).</a:t>
            </a:r>
          </a:p>
          <a:p>
            <a:pPr marL="0" lvl="0" indent="0" algn="l">
              <a:lnSpc>
                <a:spcPts val="2260"/>
              </a:lnSpc>
              <a:spcBef>
                <a:spcPct val="0"/>
              </a:spcBef>
            </a:pPr>
            <a:r>
              <a:rPr lang="en-US" sz="2000">
                <a:solidFill>
                  <a:srgbClr val="000066"/>
                </a:solidFill>
                <a:latin typeface="Garet"/>
                <a:ea typeface="Garet"/>
                <a:cs typeface="Garet"/>
                <a:sym typeface="Garet"/>
              </a:rPr>
              <a:t>123,623 rows.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6699FF"/>
        </a:solidFill>
        <a:effectLst/>
      </p:bgPr>
    </p:bg>
    <p:spTree>
      <p:nvGrpSpPr>
        <p:cNvPr id="1" name=""/>
        <p:cNvGrpSpPr/>
        <p:nvPr/>
      </p:nvGrpSpPr>
      <p:grpSpPr>
        <a:xfrm>
          <a:off x="0" y="0"/>
          <a:ext cx="0" cy="0"/>
          <a:chOff x="0" y="0"/>
          <a:chExt cx="0" cy="0"/>
        </a:xfrm>
      </p:grpSpPr>
      <p:grpSp>
        <p:nvGrpSpPr>
          <p:cNvPr id="2" name="Group 2"/>
          <p:cNvGrpSpPr/>
          <p:nvPr/>
        </p:nvGrpSpPr>
        <p:grpSpPr>
          <a:xfrm>
            <a:off x="188797" y="203992"/>
            <a:ext cx="17910406" cy="9879016"/>
            <a:chOff x="0" y="0"/>
            <a:chExt cx="4717144" cy="2601881"/>
          </a:xfrm>
        </p:grpSpPr>
        <p:sp>
          <p:nvSpPr>
            <p:cNvPr id="3" name="Freeform 3"/>
            <p:cNvSpPr/>
            <p:nvPr/>
          </p:nvSpPr>
          <p:spPr>
            <a:xfrm>
              <a:off x="0" y="0"/>
              <a:ext cx="4717144" cy="2601881"/>
            </a:xfrm>
            <a:custGeom>
              <a:avLst/>
              <a:gdLst/>
              <a:ahLst/>
              <a:cxnLst/>
              <a:rect l="l" t="t" r="r" b="b"/>
              <a:pathLst>
                <a:path w="4717144" h="2601881">
                  <a:moveTo>
                    <a:pt x="0" y="0"/>
                  </a:moveTo>
                  <a:lnTo>
                    <a:pt x="4717144" y="0"/>
                  </a:lnTo>
                  <a:lnTo>
                    <a:pt x="4717144" y="2601881"/>
                  </a:lnTo>
                  <a:lnTo>
                    <a:pt x="0" y="2601881"/>
                  </a:lnTo>
                  <a:close/>
                </a:path>
              </a:pathLst>
            </a:custGeom>
            <a:solidFill>
              <a:srgbClr val="FFFFFF"/>
            </a:solidFill>
          </p:spPr>
          <p:txBody>
            <a:bodyPr/>
            <a:lstStyle/>
            <a:p>
              <a:endParaRPr lang="en-GB"/>
            </a:p>
          </p:txBody>
        </p:sp>
        <p:sp>
          <p:nvSpPr>
            <p:cNvPr id="4" name="TextBox 4"/>
            <p:cNvSpPr txBox="1"/>
            <p:nvPr/>
          </p:nvSpPr>
          <p:spPr>
            <a:xfrm>
              <a:off x="0" y="-38100"/>
              <a:ext cx="4717144" cy="2639981"/>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699999">
            <a:off x="-2726595" y="-227420"/>
            <a:ext cx="4906166" cy="4505918"/>
            <a:chOff x="0" y="0"/>
            <a:chExt cx="3397795" cy="3120600"/>
          </a:xfrm>
        </p:grpSpPr>
        <p:sp>
          <p:nvSpPr>
            <p:cNvPr id="6" name="Freeform 6"/>
            <p:cNvSpPr/>
            <p:nvPr/>
          </p:nvSpPr>
          <p:spPr>
            <a:xfrm>
              <a:off x="0" y="0"/>
              <a:ext cx="3397795" cy="3120600"/>
            </a:xfrm>
            <a:custGeom>
              <a:avLst/>
              <a:gdLst/>
              <a:ahLst/>
              <a:cxnLst/>
              <a:rect l="l" t="t" r="r" b="b"/>
              <a:pathLst>
                <a:path w="3397795" h="3120600">
                  <a:moveTo>
                    <a:pt x="0" y="0"/>
                  </a:moveTo>
                  <a:lnTo>
                    <a:pt x="3397795" y="0"/>
                  </a:lnTo>
                  <a:lnTo>
                    <a:pt x="3397795" y="3120600"/>
                  </a:lnTo>
                  <a:lnTo>
                    <a:pt x="0" y="3120600"/>
                  </a:lnTo>
                  <a:close/>
                </a:path>
              </a:pathLst>
            </a:custGeom>
            <a:solidFill>
              <a:srgbClr val="336699"/>
            </a:solidFill>
          </p:spPr>
          <p:txBody>
            <a:bodyPr/>
            <a:lstStyle/>
            <a:p>
              <a:endParaRPr lang="en-GB"/>
            </a:p>
          </p:txBody>
        </p:sp>
        <p:sp>
          <p:nvSpPr>
            <p:cNvPr id="7" name="TextBox 7"/>
            <p:cNvSpPr txBox="1"/>
            <p:nvPr/>
          </p:nvSpPr>
          <p:spPr>
            <a:xfrm>
              <a:off x="0" y="-38100"/>
              <a:ext cx="3397795" cy="3158700"/>
            </a:xfrm>
            <a:prstGeom prst="rect">
              <a:avLst/>
            </a:prstGeom>
          </p:spPr>
          <p:txBody>
            <a:bodyPr lIns="46654" tIns="46654" rIns="46654" bIns="46654" rtlCol="0" anchor="ctr"/>
            <a:lstStyle/>
            <a:p>
              <a:pPr algn="ctr">
                <a:lnSpc>
                  <a:spcPts val="1800"/>
                </a:lnSpc>
                <a:spcBef>
                  <a:spcPct val="0"/>
                </a:spcBef>
              </a:pPr>
              <a:endParaRPr/>
            </a:p>
          </p:txBody>
        </p:sp>
      </p:grpSp>
      <p:grpSp>
        <p:nvGrpSpPr>
          <p:cNvPr id="8" name="Group 8"/>
          <p:cNvGrpSpPr/>
          <p:nvPr/>
        </p:nvGrpSpPr>
        <p:grpSpPr>
          <a:xfrm rot="-2699999">
            <a:off x="16178849" y="6533689"/>
            <a:ext cx="4906166" cy="4505918"/>
            <a:chOff x="0" y="0"/>
            <a:chExt cx="3397795" cy="3120600"/>
          </a:xfrm>
        </p:grpSpPr>
        <p:sp>
          <p:nvSpPr>
            <p:cNvPr id="9" name="Freeform 9"/>
            <p:cNvSpPr/>
            <p:nvPr/>
          </p:nvSpPr>
          <p:spPr>
            <a:xfrm>
              <a:off x="0" y="0"/>
              <a:ext cx="3397795" cy="3120600"/>
            </a:xfrm>
            <a:custGeom>
              <a:avLst/>
              <a:gdLst/>
              <a:ahLst/>
              <a:cxnLst/>
              <a:rect l="l" t="t" r="r" b="b"/>
              <a:pathLst>
                <a:path w="3397795" h="3120600">
                  <a:moveTo>
                    <a:pt x="0" y="0"/>
                  </a:moveTo>
                  <a:lnTo>
                    <a:pt x="3397795" y="0"/>
                  </a:lnTo>
                  <a:lnTo>
                    <a:pt x="3397795" y="3120600"/>
                  </a:lnTo>
                  <a:lnTo>
                    <a:pt x="0" y="3120600"/>
                  </a:lnTo>
                  <a:close/>
                </a:path>
              </a:pathLst>
            </a:custGeom>
            <a:solidFill>
              <a:srgbClr val="6699FF"/>
            </a:solidFill>
          </p:spPr>
          <p:txBody>
            <a:bodyPr/>
            <a:lstStyle/>
            <a:p>
              <a:endParaRPr lang="en-GB"/>
            </a:p>
          </p:txBody>
        </p:sp>
        <p:sp>
          <p:nvSpPr>
            <p:cNvPr id="10" name="TextBox 10"/>
            <p:cNvSpPr txBox="1"/>
            <p:nvPr/>
          </p:nvSpPr>
          <p:spPr>
            <a:xfrm>
              <a:off x="0" y="-38100"/>
              <a:ext cx="3397795" cy="3158700"/>
            </a:xfrm>
            <a:prstGeom prst="rect">
              <a:avLst/>
            </a:prstGeom>
          </p:spPr>
          <p:txBody>
            <a:bodyPr lIns="46654" tIns="46654" rIns="46654" bIns="46654" rtlCol="0" anchor="ctr"/>
            <a:lstStyle/>
            <a:p>
              <a:pPr algn="ctr">
                <a:lnSpc>
                  <a:spcPts val="1800"/>
                </a:lnSpc>
                <a:spcBef>
                  <a:spcPct val="0"/>
                </a:spcBef>
              </a:pPr>
              <a:endParaRPr/>
            </a:p>
          </p:txBody>
        </p:sp>
      </p:grpSp>
      <p:grpSp>
        <p:nvGrpSpPr>
          <p:cNvPr id="11" name="Group 11"/>
          <p:cNvGrpSpPr/>
          <p:nvPr/>
        </p:nvGrpSpPr>
        <p:grpSpPr>
          <a:xfrm rot="-2699999">
            <a:off x="1530331" y="3170689"/>
            <a:ext cx="1918747" cy="1762214"/>
            <a:chOff x="0" y="0"/>
            <a:chExt cx="1328840" cy="1220432"/>
          </a:xfrm>
        </p:grpSpPr>
        <p:sp>
          <p:nvSpPr>
            <p:cNvPr id="12" name="Freeform 12"/>
            <p:cNvSpPr/>
            <p:nvPr/>
          </p:nvSpPr>
          <p:spPr>
            <a:xfrm>
              <a:off x="0" y="0"/>
              <a:ext cx="1328840" cy="1220432"/>
            </a:xfrm>
            <a:custGeom>
              <a:avLst/>
              <a:gdLst/>
              <a:ahLst/>
              <a:cxnLst/>
              <a:rect l="l" t="t" r="r" b="b"/>
              <a:pathLst>
                <a:path w="1328840" h="1220432">
                  <a:moveTo>
                    <a:pt x="0" y="0"/>
                  </a:moveTo>
                  <a:lnTo>
                    <a:pt x="1328840" y="0"/>
                  </a:lnTo>
                  <a:lnTo>
                    <a:pt x="1328840" y="1220432"/>
                  </a:lnTo>
                  <a:lnTo>
                    <a:pt x="0" y="1220432"/>
                  </a:lnTo>
                  <a:close/>
                </a:path>
              </a:pathLst>
            </a:custGeom>
            <a:solidFill>
              <a:srgbClr val="6699FF"/>
            </a:solidFill>
          </p:spPr>
          <p:txBody>
            <a:bodyPr/>
            <a:lstStyle/>
            <a:p>
              <a:endParaRPr lang="en-GB"/>
            </a:p>
          </p:txBody>
        </p:sp>
        <p:sp>
          <p:nvSpPr>
            <p:cNvPr id="13" name="TextBox 13"/>
            <p:cNvSpPr txBox="1"/>
            <p:nvPr/>
          </p:nvSpPr>
          <p:spPr>
            <a:xfrm>
              <a:off x="0" y="-38100"/>
              <a:ext cx="1328840" cy="1258532"/>
            </a:xfrm>
            <a:prstGeom prst="rect">
              <a:avLst/>
            </a:prstGeom>
          </p:spPr>
          <p:txBody>
            <a:bodyPr lIns="46654" tIns="46654" rIns="46654" bIns="46654" rtlCol="0" anchor="ctr"/>
            <a:lstStyle/>
            <a:p>
              <a:pPr algn="ctr">
                <a:lnSpc>
                  <a:spcPts val="1800"/>
                </a:lnSpc>
                <a:spcBef>
                  <a:spcPct val="0"/>
                </a:spcBef>
              </a:pPr>
              <a:endParaRPr/>
            </a:p>
          </p:txBody>
        </p:sp>
      </p:grpSp>
      <p:graphicFrame>
        <p:nvGraphicFramePr>
          <p:cNvPr id="14" name="Table 14"/>
          <p:cNvGraphicFramePr>
            <a:graphicFrameLocks noGrp="1"/>
          </p:cNvGraphicFramePr>
          <p:nvPr/>
        </p:nvGraphicFramePr>
        <p:xfrm>
          <a:off x="1028700" y="2239500"/>
          <a:ext cx="16230600" cy="7018800"/>
        </p:xfrm>
        <a:graphic>
          <a:graphicData uri="http://schemas.openxmlformats.org/drawingml/2006/table">
            <a:tbl>
              <a:tblPr/>
              <a:tblGrid>
                <a:gridCol w="5623957">
                  <a:extLst>
                    <a:ext uri="{9D8B030D-6E8A-4147-A177-3AD203B41FA5}">
                      <a16:colId xmlns:a16="http://schemas.microsoft.com/office/drawing/2014/main" val="20000"/>
                    </a:ext>
                  </a:extLst>
                </a:gridCol>
                <a:gridCol w="4961788">
                  <a:extLst>
                    <a:ext uri="{9D8B030D-6E8A-4147-A177-3AD203B41FA5}">
                      <a16:colId xmlns:a16="http://schemas.microsoft.com/office/drawing/2014/main" val="20001"/>
                    </a:ext>
                  </a:extLst>
                </a:gridCol>
                <a:gridCol w="5644855">
                  <a:extLst>
                    <a:ext uri="{9D8B030D-6E8A-4147-A177-3AD203B41FA5}">
                      <a16:colId xmlns:a16="http://schemas.microsoft.com/office/drawing/2014/main" val="20002"/>
                    </a:ext>
                  </a:extLst>
                </a:gridCol>
              </a:tblGrid>
              <a:tr h="1171920">
                <a:tc>
                  <a:txBody>
                    <a:bodyPr/>
                    <a:lstStyle/>
                    <a:p>
                      <a:pPr algn="ctr">
                        <a:lnSpc>
                          <a:spcPts val="2250"/>
                        </a:lnSpc>
                        <a:defRPr/>
                      </a:pPr>
                      <a:r>
                        <a:rPr lang="en-US" sz="1500" b="1">
                          <a:solidFill>
                            <a:srgbClr val="000000"/>
                          </a:solidFill>
                          <a:latin typeface="Garet Bold"/>
                          <a:ea typeface="Garet Bold"/>
                          <a:cs typeface="Garet Bold"/>
                          <a:sym typeface="Garet Bold"/>
                        </a:rPr>
                        <a:t>Tables</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tc>
                  <a:txBody>
                    <a:bodyPr/>
                    <a:lstStyle/>
                    <a:p>
                      <a:pPr algn="ctr">
                        <a:lnSpc>
                          <a:spcPts val="2250"/>
                        </a:lnSpc>
                        <a:defRPr/>
                      </a:pPr>
                      <a:r>
                        <a:rPr lang="en-US" sz="1500" b="1">
                          <a:solidFill>
                            <a:srgbClr val="000000"/>
                          </a:solidFill>
                          <a:latin typeface="Garet Bold"/>
                          <a:ea typeface="Garet Bold"/>
                          <a:cs typeface="Garet Bold"/>
                          <a:sym typeface="Garet Bold"/>
                        </a:rPr>
                        <a:t>Connection Type</a:t>
                      </a:r>
                      <a:endParaRPr lang="en-US" sz="1100"/>
                    </a:p>
                    <a:p>
                      <a:pPr algn="ctr">
                        <a:lnSpc>
                          <a:spcPts val="2250"/>
                        </a:lnSpc>
                      </a:pPr>
                      <a:r>
                        <a:rPr lang="en-US" sz="1500">
                          <a:solidFill>
                            <a:srgbClr val="000000"/>
                          </a:solidFill>
                          <a:latin typeface="Garet"/>
                          <a:ea typeface="Garet"/>
                          <a:cs typeface="Garet"/>
                          <a:sym typeface="Garet"/>
                        </a:rPr>
                        <a:t>MRR.vw_GeographicSpending → DimTable</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tc>
                  <a:txBody>
                    <a:bodyPr/>
                    <a:lstStyle/>
                    <a:p>
                      <a:pPr algn="ctr">
                        <a:lnSpc>
                          <a:spcPts val="2250"/>
                        </a:lnSpc>
                        <a:defRPr/>
                      </a:pPr>
                      <a:r>
                        <a:rPr lang="en-US" sz="1500" b="1">
                          <a:solidFill>
                            <a:srgbClr val="000000"/>
                          </a:solidFill>
                          <a:latin typeface="Garet Bold"/>
                          <a:ea typeface="Garet Bold"/>
                          <a:cs typeface="Garet Bold"/>
                          <a:sym typeface="Garet Bold"/>
                        </a:rPr>
                        <a:t>Key Connections</a:t>
                      </a:r>
                      <a:endParaRPr lang="en-US" sz="1100"/>
                    </a:p>
                    <a:p>
                      <a:pPr algn="ctr">
                        <a:lnSpc>
                          <a:spcPts val="2250"/>
                        </a:lnSpc>
                      </a:pPr>
                      <a:r>
                        <a:rPr lang="en-US" sz="1500">
                          <a:solidFill>
                            <a:srgbClr val="000000"/>
                          </a:solidFill>
                          <a:latin typeface="Garet"/>
                          <a:ea typeface="Garet"/>
                          <a:cs typeface="Garet"/>
                          <a:sym typeface="Garet"/>
                        </a:rPr>
                        <a:t>[Primary key] → [Foreign key]</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extLst>
                  <a:ext uri="{0D108BD9-81ED-4DB2-BD59-A6C34878D82A}">
                    <a16:rowId xmlns:a16="http://schemas.microsoft.com/office/drawing/2014/main" val="10000"/>
                  </a:ext>
                </a:extLst>
              </a:tr>
              <a:tr h="974480">
                <a:tc>
                  <a:txBody>
                    <a:bodyPr/>
                    <a:lstStyle/>
                    <a:p>
                      <a:pPr algn="ctr">
                        <a:lnSpc>
                          <a:spcPts val="2250"/>
                        </a:lnSpc>
                        <a:defRPr/>
                      </a:pPr>
                      <a:r>
                        <a:rPr lang="en-US" sz="1500" dirty="0" err="1">
                          <a:solidFill>
                            <a:srgbClr val="000000"/>
                          </a:solidFill>
                          <a:latin typeface="Garet"/>
                          <a:ea typeface="Garet"/>
                          <a:cs typeface="Garet"/>
                          <a:sym typeface="Garet"/>
                        </a:rPr>
                        <a:t>MRR.DimMerchant</a:t>
                      </a:r>
                      <a:endParaRPr lang="en-US" sz="1100" dirty="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250"/>
                        </a:lnSpc>
                        <a:defRPr/>
                      </a:pPr>
                      <a:r>
                        <a:rPr lang="en-US" sz="1500">
                          <a:solidFill>
                            <a:srgbClr val="000000"/>
                          </a:solidFill>
                          <a:latin typeface="Garet"/>
                          <a:ea typeface="Garet"/>
                          <a:cs typeface="Garet"/>
                          <a:sym typeface="Garet"/>
                        </a:rPr>
                        <a:t>Many to One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250"/>
                        </a:lnSpc>
                        <a:defRPr/>
                      </a:pPr>
                      <a:r>
                        <a:rPr lang="en-US" sz="1500">
                          <a:solidFill>
                            <a:srgbClr val="000000"/>
                          </a:solidFill>
                          <a:latin typeface="Garet"/>
                          <a:ea typeface="Garet"/>
                          <a:cs typeface="Garet"/>
                          <a:sym typeface="Garet"/>
                        </a:rPr>
                        <a:t>merchant_id → merchant_id</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1"/>
                  </a:ext>
                </a:extLst>
              </a:tr>
              <a:tr h="974480">
                <a:tc>
                  <a:txBody>
                    <a:bodyPr/>
                    <a:lstStyle/>
                    <a:p>
                      <a:pPr algn="ctr">
                        <a:lnSpc>
                          <a:spcPts val="2250"/>
                        </a:lnSpc>
                        <a:defRPr/>
                      </a:pPr>
                      <a:r>
                        <a:rPr lang="en-US" sz="1500">
                          <a:solidFill>
                            <a:srgbClr val="000000"/>
                          </a:solidFill>
                          <a:latin typeface="Garet"/>
                          <a:ea typeface="Garet"/>
                          <a:cs typeface="Garet"/>
                          <a:sym typeface="Garet"/>
                        </a:rPr>
                        <a:t>MRR.DimDate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250"/>
                        </a:lnSpc>
                        <a:defRPr/>
                      </a:pPr>
                      <a:r>
                        <a:rPr lang="en-US" sz="1500">
                          <a:solidFill>
                            <a:srgbClr val="000000"/>
                          </a:solidFill>
                          <a:latin typeface="Garet"/>
                          <a:ea typeface="Garet"/>
                          <a:cs typeface="Garet"/>
                          <a:sym typeface="Garet"/>
                        </a:rPr>
                        <a:t>Many to One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250"/>
                        </a:lnSpc>
                        <a:defRPr/>
                      </a:pPr>
                      <a:r>
                        <a:rPr lang="en-US" sz="1500">
                          <a:solidFill>
                            <a:srgbClr val="000000"/>
                          </a:solidFill>
                          <a:latin typeface="Garet"/>
                          <a:ea typeface="Garet"/>
                          <a:cs typeface="Garet"/>
                          <a:sym typeface="Garet"/>
                        </a:rPr>
                        <a:t>FullDate → purchase_date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2"/>
                  </a:ext>
                </a:extLst>
              </a:tr>
              <a:tr h="974480">
                <a:tc>
                  <a:txBody>
                    <a:bodyPr/>
                    <a:lstStyle/>
                    <a:p>
                      <a:pPr algn="ctr">
                        <a:lnSpc>
                          <a:spcPts val="2250"/>
                        </a:lnSpc>
                        <a:defRPr/>
                      </a:pPr>
                      <a:r>
                        <a:rPr lang="en-US" sz="1500">
                          <a:solidFill>
                            <a:srgbClr val="000000"/>
                          </a:solidFill>
                          <a:latin typeface="Garet"/>
                          <a:ea typeface="Garet"/>
                          <a:cs typeface="Garet"/>
                          <a:sym typeface="Garet"/>
                        </a:rPr>
                        <a:t>MRR.DimLocation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250"/>
                        </a:lnSpc>
                        <a:defRPr/>
                      </a:pPr>
                      <a:r>
                        <a:rPr lang="en-US" sz="1500">
                          <a:solidFill>
                            <a:srgbClr val="000000"/>
                          </a:solidFill>
                          <a:latin typeface="Garet"/>
                          <a:ea typeface="Garet"/>
                          <a:cs typeface="Garet"/>
                          <a:sym typeface="Garet"/>
                        </a:rPr>
                        <a:t>Many to One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250"/>
                        </a:lnSpc>
                        <a:defRPr/>
                      </a:pPr>
                      <a:r>
                        <a:rPr lang="en-US" sz="1500">
                          <a:solidFill>
                            <a:srgbClr val="000000"/>
                          </a:solidFill>
                          <a:latin typeface="Garet"/>
                          <a:ea typeface="Garet"/>
                          <a:cs typeface="Garet"/>
                          <a:sym typeface="Garet"/>
                        </a:rPr>
                        <a:t>city_id → city_id</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3"/>
                  </a:ext>
                </a:extLst>
              </a:tr>
              <a:tr h="974480">
                <a:tc>
                  <a:txBody>
                    <a:bodyPr/>
                    <a:lstStyle/>
                    <a:p>
                      <a:pPr algn="ctr">
                        <a:lnSpc>
                          <a:spcPts val="2250"/>
                        </a:lnSpc>
                        <a:defRPr/>
                      </a:pPr>
                      <a:r>
                        <a:rPr lang="en-US" sz="1500">
                          <a:solidFill>
                            <a:srgbClr val="000000"/>
                          </a:solidFill>
                          <a:latin typeface="Garet"/>
                          <a:ea typeface="Garet"/>
                          <a:cs typeface="Garet"/>
                          <a:sym typeface="Garet"/>
                        </a:rPr>
                        <a:t>MRR.DimMerchantCategories</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250"/>
                        </a:lnSpc>
                        <a:defRPr/>
                      </a:pPr>
                      <a:r>
                        <a:rPr lang="en-US" sz="1500">
                          <a:solidFill>
                            <a:srgbClr val="000000"/>
                          </a:solidFill>
                          <a:latin typeface="Garet"/>
                          <a:ea typeface="Garet"/>
                          <a:cs typeface="Garet"/>
                          <a:sym typeface="Garet"/>
                        </a:rPr>
                        <a:t>Many to One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250"/>
                        </a:lnSpc>
                        <a:defRPr/>
                      </a:pPr>
                      <a:r>
                        <a:rPr lang="en-US" sz="1500">
                          <a:solidFill>
                            <a:srgbClr val="000000"/>
                          </a:solidFill>
                          <a:latin typeface="Garet"/>
                          <a:ea typeface="Garet"/>
                          <a:cs typeface="Garet"/>
                          <a:sym typeface="Garet"/>
                        </a:rPr>
                        <a:t>merchant_category_id → merchant_category_id</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4"/>
                  </a:ext>
                </a:extLst>
              </a:tr>
              <a:tr h="974480">
                <a:tc>
                  <a:txBody>
                    <a:bodyPr/>
                    <a:lstStyle/>
                    <a:p>
                      <a:pPr algn="ctr">
                        <a:lnSpc>
                          <a:spcPts val="2250"/>
                        </a:lnSpc>
                        <a:defRPr/>
                      </a:pPr>
                      <a:r>
                        <a:rPr lang="en-US" sz="1500">
                          <a:solidFill>
                            <a:srgbClr val="000000"/>
                          </a:solidFill>
                          <a:latin typeface="Garet"/>
                          <a:ea typeface="Garet"/>
                          <a:cs typeface="Garet"/>
                          <a:sym typeface="Garet"/>
                        </a:rPr>
                        <a:t>MRR.DimSubsector</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250"/>
                        </a:lnSpc>
                        <a:defRPr/>
                      </a:pPr>
                      <a:r>
                        <a:rPr lang="en-US" sz="1500">
                          <a:solidFill>
                            <a:srgbClr val="000000"/>
                          </a:solidFill>
                          <a:latin typeface="Garet"/>
                          <a:ea typeface="Garet"/>
                          <a:cs typeface="Garet"/>
                          <a:sym typeface="Garet"/>
                        </a:rPr>
                        <a:t>Many to One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250"/>
                        </a:lnSpc>
                        <a:defRPr/>
                      </a:pPr>
                      <a:r>
                        <a:rPr lang="en-US" sz="1500">
                          <a:solidFill>
                            <a:srgbClr val="000000"/>
                          </a:solidFill>
                          <a:latin typeface="Garet"/>
                          <a:ea typeface="Garet"/>
                          <a:cs typeface="Garet"/>
                          <a:sym typeface="Garet"/>
                        </a:rPr>
                        <a:t>subsector_id → subsector_id</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5"/>
                  </a:ext>
                </a:extLst>
              </a:tr>
              <a:tr h="974480">
                <a:tc>
                  <a:txBody>
                    <a:bodyPr/>
                    <a:lstStyle/>
                    <a:p>
                      <a:pPr algn="ctr">
                        <a:lnSpc>
                          <a:spcPts val="2250"/>
                        </a:lnSpc>
                        <a:defRPr/>
                      </a:pPr>
                      <a:r>
                        <a:rPr lang="en-US" sz="1500">
                          <a:solidFill>
                            <a:srgbClr val="000000"/>
                          </a:solidFill>
                          <a:latin typeface="Garet"/>
                          <a:ea typeface="Garet"/>
                          <a:cs typeface="Garet"/>
                          <a:sym typeface="Garet"/>
                        </a:rPr>
                        <a:t>MRR.DimCard</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250"/>
                        </a:lnSpc>
                        <a:defRPr/>
                      </a:pPr>
                      <a:r>
                        <a:rPr lang="en-US" sz="1500">
                          <a:solidFill>
                            <a:srgbClr val="000000"/>
                          </a:solidFill>
                          <a:latin typeface="Garet"/>
                          <a:ea typeface="Garet"/>
                          <a:cs typeface="Garet"/>
                          <a:sym typeface="Garet"/>
                        </a:rPr>
                        <a:t>Many to One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250"/>
                        </a:lnSpc>
                        <a:defRPr/>
                      </a:pPr>
                      <a:r>
                        <a:rPr lang="en-US" sz="1500" dirty="0" err="1">
                          <a:solidFill>
                            <a:srgbClr val="000000"/>
                          </a:solidFill>
                          <a:latin typeface="Garet"/>
                          <a:ea typeface="Garet"/>
                          <a:cs typeface="Garet"/>
                          <a:sym typeface="Garet"/>
                        </a:rPr>
                        <a:t>card_id</a:t>
                      </a:r>
                      <a:r>
                        <a:rPr lang="en-US" sz="1500" dirty="0">
                          <a:solidFill>
                            <a:srgbClr val="000000"/>
                          </a:solidFill>
                          <a:latin typeface="Garet"/>
                          <a:ea typeface="Garet"/>
                          <a:cs typeface="Garet"/>
                          <a:sym typeface="Garet"/>
                        </a:rPr>
                        <a:t> → </a:t>
                      </a:r>
                      <a:r>
                        <a:rPr lang="en-US" sz="1500" dirty="0" err="1">
                          <a:solidFill>
                            <a:srgbClr val="000000"/>
                          </a:solidFill>
                          <a:latin typeface="Garet"/>
                          <a:ea typeface="Garet"/>
                          <a:cs typeface="Garet"/>
                          <a:sym typeface="Garet"/>
                        </a:rPr>
                        <a:t>card_id</a:t>
                      </a:r>
                      <a:endParaRPr lang="en-US" sz="1100" dirty="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6"/>
                  </a:ext>
                </a:extLst>
              </a:tr>
            </a:tbl>
          </a:graphicData>
        </a:graphic>
      </p:graphicFrame>
      <p:sp>
        <p:nvSpPr>
          <p:cNvPr id="15" name="TextBox 15"/>
          <p:cNvSpPr txBox="1"/>
          <p:nvPr/>
        </p:nvSpPr>
        <p:spPr>
          <a:xfrm>
            <a:off x="1188288" y="746013"/>
            <a:ext cx="16071012" cy="993775"/>
          </a:xfrm>
          <a:prstGeom prst="rect">
            <a:avLst/>
          </a:prstGeom>
        </p:spPr>
        <p:txBody>
          <a:bodyPr lIns="0" tIns="0" rIns="0" bIns="0" rtlCol="0" anchor="t">
            <a:spAutoFit/>
          </a:bodyPr>
          <a:lstStyle/>
          <a:p>
            <a:pPr algn="ctr">
              <a:lnSpc>
                <a:spcPts val="3390"/>
              </a:lnSpc>
            </a:pPr>
            <a:r>
              <a:rPr lang="en-US" sz="3000" b="1">
                <a:solidFill>
                  <a:srgbClr val="000066"/>
                </a:solidFill>
                <a:latin typeface="Garet Bold"/>
                <a:ea typeface="Garet Bold"/>
                <a:cs typeface="Garet Bold"/>
                <a:sym typeface="Garet Bold"/>
              </a:rPr>
              <a:t>Keys &amp; Connections</a:t>
            </a:r>
          </a:p>
          <a:p>
            <a:pPr algn="ctr">
              <a:lnSpc>
                <a:spcPts val="2260"/>
              </a:lnSpc>
            </a:pPr>
            <a:endParaRPr lang="en-US" sz="3000" b="1">
              <a:solidFill>
                <a:srgbClr val="000066"/>
              </a:solidFill>
              <a:latin typeface="Garet Bold"/>
              <a:ea typeface="Garet Bold"/>
              <a:cs typeface="Garet Bold"/>
              <a:sym typeface="Garet Bold"/>
            </a:endParaRPr>
          </a:p>
          <a:p>
            <a:pPr algn="ctr">
              <a:lnSpc>
                <a:spcPts val="2260"/>
              </a:lnSpc>
              <a:spcBef>
                <a:spcPct val="0"/>
              </a:spcBef>
            </a:pPr>
            <a:r>
              <a:rPr lang="en-US" sz="2000">
                <a:solidFill>
                  <a:srgbClr val="000066"/>
                </a:solidFill>
                <a:latin typeface="Garet"/>
                <a:ea typeface="Garet"/>
                <a:cs typeface="Garet"/>
                <a:sym typeface="Garet"/>
              </a:rPr>
              <a:t>Connected to view MRR.vs_GeographicSpending built from fact table MRR.FactTransactions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6699FF"/>
        </a:solidFill>
        <a:effectLst/>
      </p:bgPr>
    </p:bg>
    <p:spTree>
      <p:nvGrpSpPr>
        <p:cNvPr id="1" name=""/>
        <p:cNvGrpSpPr/>
        <p:nvPr/>
      </p:nvGrpSpPr>
      <p:grpSpPr>
        <a:xfrm>
          <a:off x="0" y="0"/>
          <a:ext cx="0" cy="0"/>
          <a:chOff x="0" y="0"/>
          <a:chExt cx="0" cy="0"/>
        </a:xfrm>
      </p:grpSpPr>
      <p:grpSp>
        <p:nvGrpSpPr>
          <p:cNvPr id="2" name="Group 2"/>
          <p:cNvGrpSpPr/>
          <p:nvPr/>
        </p:nvGrpSpPr>
        <p:grpSpPr>
          <a:xfrm>
            <a:off x="188797" y="203992"/>
            <a:ext cx="17910406" cy="9879016"/>
            <a:chOff x="0" y="0"/>
            <a:chExt cx="4717144" cy="2601881"/>
          </a:xfrm>
        </p:grpSpPr>
        <p:sp>
          <p:nvSpPr>
            <p:cNvPr id="3" name="Freeform 3"/>
            <p:cNvSpPr/>
            <p:nvPr/>
          </p:nvSpPr>
          <p:spPr>
            <a:xfrm>
              <a:off x="0" y="0"/>
              <a:ext cx="4717144" cy="2601881"/>
            </a:xfrm>
            <a:custGeom>
              <a:avLst/>
              <a:gdLst/>
              <a:ahLst/>
              <a:cxnLst/>
              <a:rect l="l" t="t" r="r" b="b"/>
              <a:pathLst>
                <a:path w="4717144" h="2601881">
                  <a:moveTo>
                    <a:pt x="0" y="0"/>
                  </a:moveTo>
                  <a:lnTo>
                    <a:pt x="4717144" y="0"/>
                  </a:lnTo>
                  <a:lnTo>
                    <a:pt x="4717144" y="2601881"/>
                  </a:lnTo>
                  <a:lnTo>
                    <a:pt x="0" y="2601881"/>
                  </a:lnTo>
                  <a:close/>
                </a:path>
              </a:pathLst>
            </a:custGeom>
            <a:solidFill>
              <a:srgbClr val="FFFFFF"/>
            </a:solidFill>
          </p:spPr>
          <p:txBody>
            <a:bodyPr/>
            <a:lstStyle/>
            <a:p>
              <a:endParaRPr lang="en-GB" dirty="0"/>
            </a:p>
          </p:txBody>
        </p:sp>
        <p:sp>
          <p:nvSpPr>
            <p:cNvPr id="4" name="TextBox 4"/>
            <p:cNvSpPr txBox="1"/>
            <p:nvPr/>
          </p:nvSpPr>
          <p:spPr>
            <a:xfrm>
              <a:off x="0" y="-38100"/>
              <a:ext cx="4717144" cy="2639981"/>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699999">
            <a:off x="-2726595" y="-227420"/>
            <a:ext cx="4906166" cy="4505918"/>
            <a:chOff x="0" y="0"/>
            <a:chExt cx="3397795" cy="3120600"/>
          </a:xfrm>
        </p:grpSpPr>
        <p:sp>
          <p:nvSpPr>
            <p:cNvPr id="6" name="Freeform 6"/>
            <p:cNvSpPr/>
            <p:nvPr/>
          </p:nvSpPr>
          <p:spPr>
            <a:xfrm>
              <a:off x="0" y="0"/>
              <a:ext cx="3397795" cy="3120600"/>
            </a:xfrm>
            <a:custGeom>
              <a:avLst/>
              <a:gdLst/>
              <a:ahLst/>
              <a:cxnLst/>
              <a:rect l="l" t="t" r="r" b="b"/>
              <a:pathLst>
                <a:path w="3397795" h="3120600">
                  <a:moveTo>
                    <a:pt x="0" y="0"/>
                  </a:moveTo>
                  <a:lnTo>
                    <a:pt x="3397795" y="0"/>
                  </a:lnTo>
                  <a:lnTo>
                    <a:pt x="3397795" y="3120600"/>
                  </a:lnTo>
                  <a:lnTo>
                    <a:pt x="0" y="3120600"/>
                  </a:lnTo>
                  <a:close/>
                </a:path>
              </a:pathLst>
            </a:custGeom>
            <a:solidFill>
              <a:srgbClr val="336699"/>
            </a:solidFill>
          </p:spPr>
          <p:txBody>
            <a:bodyPr/>
            <a:lstStyle/>
            <a:p>
              <a:endParaRPr lang="en-GB"/>
            </a:p>
          </p:txBody>
        </p:sp>
        <p:sp>
          <p:nvSpPr>
            <p:cNvPr id="7" name="TextBox 7"/>
            <p:cNvSpPr txBox="1"/>
            <p:nvPr/>
          </p:nvSpPr>
          <p:spPr>
            <a:xfrm>
              <a:off x="0" y="-38100"/>
              <a:ext cx="3397795" cy="3158700"/>
            </a:xfrm>
            <a:prstGeom prst="rect">
              <a:avLst/>
            </a:prstGeom>
          </p:spPr>
          <p:txBody>
            <a:bodyPr lIns="46654" tIns="46654" rIns="46654" bIns="46654" rtlCol="0" anchor="ctr"/>
            <a:lstStyle/>
            <a:p>
              <a:pPr algn="ctr">
                <a:lnSpc>
                  <a:spcPts val="1800"/>
                </a:lnSpc>
                <a:spcBef>
                  <a:spcPct val="0"/>
                </a:spcBef>
              </a:pPr>
              <a:endParaRPr/>
            </a:p>
          </p:txBody>
        </p:sp>
      </p:grpSp>
      <p:grpSp>
        <p:nvGrpSpPr>
          <p:cNvPr id="8" name="Group 8"/>
          <p:cNvGrpSpPr/>
          <p:nvPr/>
        </p:nvGrpSpPr>
        <p:grpSpPr>
          <a:xfrm rot="-2699999">
            <a:off x="16178849" y="6533689"/>
            <a:ext cx="4906166" cy="4505918"/>
            <a:chOff x="0" y="0"/>
            <a:chExt cx="3397795" cy="3120600"/>
          </a:xfrm>
        </p:grpSpPr>
        <p:sp>
          <p:nvSpPr>
            <p:cNvPr id="9" name="Freeform 9"/>
            <p:cNvSpPr/>
            <p:nvPr/>
          </p:nvSpPr>
          <p:spPr>
            <a:xfrm>
              <a:off x="0" y="0"/>
              <a:ext cx="3397795" cy="3120600"/>
            </a:xfrm>
            <a:custGeom>
              <a:avLst/>
              <a:gdLst/>
              <a:ahLst/>
              <a:cxnLst/>
              <a:rect l="l" t="t" r="r" b="b"/>
              <a:pathLst>
                <a:path w="3397795" h="3120600">
                  <a:moveTo>
                    <a:pt x="0" y="0"/>
                  </a:moveTo>
                  <a:lnTo>
                    <a:pt x="3397795" y="0"/>
                  </a:lnTo>
                  <a:lnTo>
                    <a:pt x="3397795" y="3120600"/>
                  </a:lnTo>
                  <a:lnTo>
                    <a:pt x="0" y="3120600"/>
                  </a:lnTo>
                  <a:close/>
                </a:path>
              </a:pathLst>
            </a:custGeom>
            <a:solidFill>
              <a:srgbClr val="6699FF"/>
            </a:solidFill>
          </p:spPr>
          <p:txBody>
            <a:bodyPr/>
            <a:lstStyle/>
            <a:p>
              <a:endParaRPr lang="en-GB"/>
            </a:p>
          </p:txBody>
        </p:sp>
        <p:sp>
          <p:nvSpPr>
            <p:cNvPr id="10" name="TextBox 10"/>
            <p:cNvSpPr txBox="1"/>
            <p:nvPr/>
          </p:nvSpPr>
          <p:spPr>
            <a:xfrm>
              <a:off x="0" y="-38100"/>
              <a:ext cx="3397795" cy="3158700"/>
            </a:xfrm>
            <a:prstGeom prst="rect">
              <a:avLst/>
            </a:prstGeom>
          </p:spPr>
          <p:txBody>
            <a:bodyPr lIns="46654" tIns="46654" rIns="46654" bIns="46654" rtlCol="0" anchor="ctr"/>
            <a:lstStyle/>
            <a:p>
              <a:pPr algn="ctr">
                <a:lnSpc>
                  <a:spcPts val="1800"/>
                </a:lnSpc>
                <a:spcBef>
                  <a:spcPct val="0"/>
                </a:spcBef>
              </a:pPr>
              <a:endParaRPr/>
            </a:p>
          </p:txBody>
        </p:sp>
      </p:grpSp>
      <p:grpSp>
        <p:nvGrpSpPr>
          <p:cNvPr id="11" name="Group 11"/>
          <p:cNvGrpSpPr/>
          <p:nvPr/>
        </p:nvGrpSpPr>
        <p:grpSpPr>
          <a:xfrm rot="-2699999">
            <a:off x="1530331" y="3170689"/>
            <a:ext cx="1918747" cy="1762214"/>
            <a:chOff x="0" y="0"/>
            <a:chExt cx="1328840" cy="1220432"/>
          </a:xfrm>
        </p:grpSpPr>
        <p:sp>
          <p:nvSpPr>
            <p:cNvPr id="12" name="Freeform 12"/>
            <p:cNvSpPr/>
            <p:nvPr/>
          </p:nvSpPr>
          <p:spPr>
            <a:xfrm>
              <a:off x="0" y="0"/>
              <a:ext cx="1328840" cy="1220432"/>
            </a:xfrm>
            <a:custGeom>
              <a:avLst/>
              <a:gdLst/>
              <a:ahLst/>
              <a:cxnLst/>
              <a:rect l="l" t="t" r="r" b="b"/>
              <a:pathLst>
                <a:path w="1328840" h="1220432">
                  <a:moveTo>
                    <a:pt x="0" y="0"/>
                  </a:moveTo>
                  <a:lnTo>
                    <a:pt x="1328840" y="0"/>
                  </a:lnTo>
                  <a:lnTo>
                    <a:pt x="1328840" y="1220432"/>
                  </a:lnTo>
                  <a:lnTo>
                    <a:pt x="0" y="1220432"/>
                  </a:lnTo>
                  <a:close/>
                </a:path>
              </a:pathLst>
            </a:custGeom>
            <a:solidFill>
              <a:srgbClr val="6699FF"/>
            </a:solidFill>
          </p:spPr>
          <p:txBody>
            <a:bodyPr/>
            <a:lstStyle/>
            <a:p>
              <a:endParaRPr lang="en-GB"/>
            </a:p>
          </p:txBody>
        </p:sp>
        <p:sp>
          <p:nvSpPr>
            <p:cNvPr id="13" name="TextBox 13"/>
            <p:cNvSpPr txBox="1"/>
            <p:nvPr/>
          </p:nvSpPr>
          <p:spPr>
            <a:xfrm>
              <a:off x="0" y="-38100"/>
              <a:ext cx="1328840" cy="1258532"/>
            </a:xfrm>
            <a:prstGeom prst="rect">
              <a:avLst/>
            </a:prstGeom>
          </p:spPr>
          <p:txBody>
            <a:bodyPr lIns="46654" tIns="46654" rIns="46654" bIns="46654" rtlCol="0" anchor="ctr"/>
            <a:lstStyle/>
            <a:p>
              <a:pPr algn="ctr">
                <a:lnSpc>
                  <a:spcPts val="1800"/>
                </a:lnSpc>
                <a:spcBef>
                  <a:spcPct val="0"/>
                </a:spcBef>
              </a:pPr>
              <a:endParaRPr/>
            </a:p>
          </p:txBody>
        </p:sp>
      </p:grpSp>
      <p:sp>
        <p:nvSpPr>
          <p:cNvPr id="14" name="TextBox 14"/>
          <p:cNvSpPr txBox="1"/>
          <p:nvPr/>
        </p:nvSpPr>
        <p:spPr>
          <a:xfrm>
            <a:off x="1028700" y="1160669"/>
            <a:ext cx="16230600" cy="760095"/>
          </a:xfrm>
          <a:prstGeom prst="rect">
            <a:avLst/>
          </a:prstGeom>
        </p:spPr>
        <p:txBody>
          <a:bodyPr lIns="0" tIns="0" rIns="0" bIns="0" rtlCol="0" anchor="t">
            <a:spAutoFit/>
          </a:bodyPr>
          <a:lstStyle/>
          <a:p>
            <a:pPr marL="0" lvl="0" indent="0" algn="ctr">
              <a:lnSpc>
                <a:spcPts val="5640"/>
              </a:lnSpc>
              <a:spcBef>
                <a:spcPct val="0"/>
              </a:spcBef>
            </a:pPr>
            <a:r>
              <a:rPr lang="en-US" sz="6000" b="1" dirty="0">
                <a:solidFill>
                  <a:srgbClr val="000066"/>
                </a:solidFill>
                <a:latin typeface="Garet Bold"/>
                <a:ea typeface="Garet Bold"/>
                <a:cs typeface="Garet Bold"/>
                <a:sym typeface="Garet Bold"/>
              </a:rPr>
              <a:t>ERD Schema</a:t>
            </a:r>
          </a:p>
        </p:txBody>
      </p:sp>
      <p:pic>
        <p:nvPicPr>
          <p:cNvPr id="17" name="Picture 16">
            <a:extLst>
              <a:ext uri="{FF2B5EF4-FFF2-40B4-BE49-F238E27FC236}">
                <a16:creationId xmlns:a16="http://schemas.microsoft.com/office/drawing/2014/main" id="{5865F5D7-9819-CABD-BE6F-C079CEE32CDC}"/>
              </a:ext>
            </a:extLst>
          </p:cNvPr>
          <p:cNvPicPr>
            <a:picLocks noChangeAspect="1"/>
          </p:cNvPicPr>
          <p:nvPr/>
        </p:nvPicPr>
        <p:blipFill>
          <a:blip r:embed="rId2"/>
          <a:stretch>
            <a:fillRect/>
          </a:stretch>
        </p:blipFill>
        <p:spPr>
          <a:xfrm>
            <a:off x="4889412" y="2486210"/>
            <a:ext cx="8509175" cy="662794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699FF"/>
        </a:solidFill>
        <a:effectLst/>
      </p:bgPr>
    </p:bg>
    <p:spTree>
      <p:nvGrpSpPr>
        <p:cNvPr id="1" name=""/>
        <p:cNvGrpSpPr/>
        <p:nvPr/>
      </p:nvGrpSpPr>
      <p:grpSpPr>
        <a:xfrm>
          <a:off x="0" y="0"/>
          <a:ext cx="0" cy="0"/>
          <a:chOff x="0" y="0"/>
          <a:chExt cx="0" cy="0"/>
        </a:xfrm>
      </p:grpSpPr>
      <p:grpSp>
        <p:nvGrpSpPr>
          <p:cNvPr id="2" name="Group 2"/>
          <p:cNvGrpSpPr/>
          <p:nvPr/>
        </p:nvGrpSpPr>
        <p:grpSpPr>
          <a:xfrm>
            <a:off x="188797" y="203992"/>
            <a:ext cx="17910406" cy="9879016"/>
            <a:chOff x="0" y="0"/>
            <a:chExt cx="4717144" cy="2601881"/>
          </a:xfrm>
        </p:grpSpPr>
        <p:sp>
          <p:nvSpPr>
            <p:cNvPr id="3" name="Freeform 3"/>
            <p:cNvSpPr/>
            <p:nvPr/>
          </p:nvSpPr>
          <p:spPr>
            <a:xfrm>
              <a:off x="0" y="0"/>
              <a:ext cx="4717144" cy="2601881"/>
            </a:xfrm>
            <a:custGeom>
              <a:avLst/>
              <a:gdLst/>
              <a:ahLst/>
              <a:cxnLst/>
              <a:rect l="l" t="t" r="r" b="b"/>
              <a:pathLst>
                <a:path w="4717144" h="2601881">
                  <a:moveTo>
                    <a:pt x="0" y="0"/>
                  </a:moveTo>
                  <a:lnTo>
                    <a:pt x="4717144" y="0"/>
                  </a:lnTo>
                  <a:lnTo>
                    <a:pt x="4717144" y="2601881"/>
                  </a:lnTo>
                  <a:lnTo>
                    <a:pt x="0" y="2601881"/>
                  </a:lnTo>
                  <a:close/>
                </a:path>
              </a:pathLst>
            </a:custGeom>
            <a:solidFill>
              <a:srgbClr val="FFFFFF"/>
            </a:solidFill>
          </p:spPr>
          <p:txBody>
            <a:bodyPr/>
            <a:lstStyle/>
            <a:p>
              <a:endParaRPr lang="en-GB"/>
            </a:p>
          </p:txBody>
        </p:sp>
        <p:sp>
          <p:nvSpPr>
            <p:cNvPr id="4" name="TextBox 4"/>
            <p:cNvSpPr txBox="1"/>
            <p:nvPr/>
          </p:nvSpPr>
          <p:spPr>
            <a:xfrm>
              <a:off x="0" y="-38100"/>
              <a:ext cx="4717144" cy="2639981"/>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699999">
            <a:off x="-1745592" y="330581"/>
            <a:ext cx="3868778" cy="3553160"/>
            <a:chOff x="0" y="0"/>
            <a:chExt cx="2679345" cy="2460762"/>
          </a:xfrm>
        </p:grpSpPr>
        <p:sp>
          <p:nvSpPr>
            <p:cNvPr id="6" name="Freeform 6"/>
            <p:cNvSpPr/>
            <p:nvPr/>
          </p:nvSpPr>
          <p:spPr>
            <a:xfrm>
              <a:off x="0" y="0"/>
              <a:ext cx="2679345" cy="2460762"/>
            </a:xfrm>
            <a:custGeom>
              <a:avLst/>
              <a:gdLst/>
              <a:ahLst/>
              <a:cxnLst/>
              <a:rect l="l" t="t" r="r" b="b"/>
              <a:pathLst>
                <a:path w="2679345" h="2460762">
                  <a:moveTo>
                    <a:pt x="0" y="0"/>
                  </a:moveTo>
                  <a:lnTo>
                    <a:pt x="2679345" y="0"/>
                  </a:lnTo>
                  <a:lnTo>
                    <a:pt x="2679345" y="2460762"/>
                  </a:lnTo>
                  <a:lnTo>
                    <a:pt x="0" y="2460762"/>
                  </a:lnTo>
                  <a:close/>
                </a:path>
              </a:pathLst>
            </a:custGeom>
            <a:solidFill>
              <a:srgbClr val="6699FF"/>
            </a:solidFill>
          </p:spPr>
          <p:txBody>
            <a:bodyPr/>
            <a:lstStyle/>
            <a:p>
              <a:endParaRPr lang="en-GB"/>
            </a:p>
          </p:txBody>
        </p:sp>
        <p:sp>
          <p:nvSpPr>
            <p:cNvPr id="7" name="TextBox 7"/>
            <p:cNvSpPr txBox="1"/>
            <p:nvPr/>
          </p:nvSpPr>
          <p:spPr>
            <a:xfrm>
              <a:off x="0" y="-38100"/>
              <a:ext cx="2679345" cy="2498862"/>
            </a:xfrm>
            <a:prstGeom prst="rect">
              <a:avLst/>
            </a:prstGeom>
          </p:spPr>
          <p:txBody>
            <a:bodyPr lIns="46654" tIns="46654" rIns="46654" bIns="46654" rtlCol="0" anchor="ctr"/>
            <a:lstStyle/>
            <a:p>
              <a:pPr algn="ctr">
                <a:lnSpc>
                  <a:spcPts val="1800"/>
                </a:lnSpc>
                <a:spcBef>
                  <a:spcPct val="0"/>
                </a:spcBef>
              </a:pPr>
              <a:endParaRPr/>
            </a:p>
          </p:txBody>
        </p:sp>
      </p:grpSp>
      <p:grpSp>
        <p:nvGrpSpPr>
          <p:cNvPr id="8" name="Group 8"/>
          <p:cNvGrpSpPr/>
          <p:nvPr/>
        </p:nvGrpSpPr>
        <p:grpSpPr>
          <a:xfrm rot="-2699999">
            <a:off x="17059040" y="1358558"/>
            <a:ext cx="3868778" cy="3553160"/>
            <a:chOff x="0" y="0"/>
            <a:chExt cx="2679345" cy="2460762"/>
          </a:xfrm>
        </p:grpSpPr>
        <p:sp>
          <p:nvSpPr>
            <p:cNvPr id="9" name="Freeform 9"/>
            <p:cNvSpPr/>
            <p:nvPr/>
          </p:nvSpPr>
          <p:spPr>
            <a:xfrm>
              <a:off x="0" y="0"/>
              <a:ext cx="2679345" cy="2460762"/>
            </a:xfrm>
            <a:custGeom>
              <a:avLst/>
              <a:gdLst/>
              <a:ahLst/>
              <a:cxnLst/>
              <a:rect l="l" t="t" r="r" b="b"/>
              <a:pathLst>
                <a:path w="2679345" h="2460762">
                  <a:moveTo>
                    <a:pt x="0" y="0"/>
                  </a:moveTo>
                  <a:lnTo>
                    <a:pt x="2679345" y="0"/>
                  </a:lnTo>
                  <a:lnTo>
                    <a:pt x="2679345" y="2460762"/>
                  </a:lnTo>
                  <a:lnTo>
                    <a:pt x="0" y="2460762"/>
                  </a:lnTo>
                  <a:close/>
                </a:path>
              </a:pathLst>
            </a:custGeom>
            <a:solidFill>
              <a:srgbClr val="6699FF"/>
            </a:solidFill>
          </p:spPr>
          <p:txBody>
            <a:bodyPr/>
            <a:lstStyle/>
            <a:p>
              <a:endParaRPr lang="en-GB"/>
            </a:p>
          </p:txBody>
        </p:sp>
        <p:sp>
          <p:nvSpPr>
            <p:cNvPr id="10" name="TextBox 10"/>
            <p:cNvSpPr txBox="1"/>
            <p:nvPr/>
          </p:nvSpPr>
          <p:spPr>
            <a:xfrm>
              <a:off x="0" y="-38100"/>
              <a:ext cx="2679345" cy="2498862"/>
            </a:xfrm>
            <a:prstGeom prst="rect">
              <a:avLst/>
            </a:prstGeom>
          </p:spPr>
          <p:txBody>
            <a:bodyPr lIns="46654" tIns="46654" rIns="46654" bIns="46654" rtlCol="0" anchor="ctr"/>
            <a:lstStyle/>
            <a:p>
              <a:pPr algn="ctr">
                <a:lnSpc>
                  <a:spcPts val="1800"/>
                </a:lnSpc>
                <a:spcBef>
                  <a:spcPct val="0"/>
                </a:spcBef>
              </a:pPr>
              <a:endParaRPr/>
            </a:p>
          </p:txBody>
        </p:sp>
      </p:grpSp>
      <p:grpSp>
        <p:nvGrpSpPr>
          <p:cNvPr id="11" name="Group 11"/>
          <p:cNvGrpSpPr/>
          <p:nvPr/>
        </p:nvGrpSpPr>
        <p:grpSpPr>
          <a:xfrm rot="-2699999">
            <a:off x="15419116" y="-2079159"/>
            <a:ext cx="3680368" cy="3380122"/>
            <a:chOff x="0" y="0"/>
            <a:chExt cx="2548861" cy="2340923"/>
          </a:xfrm>
        </p:grpSpPr>
        <p:sp>
          <p:nvSpPr>
            <p:cNvPr id="12" name="Freeform 12"/>
            <p:cNvSpPr/>
            <p:nvPr/>
          </p:nvSpPr>
          <p:spPr>
            <a:xfrm>
              <a:off x="0" y="0"/>
              <a:ext cx="2548861" cy="2340923"/>
            </a:xfrm>
            <a:custGeom>
              <a:avLst/>
              <a:gdLst/>
              <a:ahLst/>
              <a:cxnLst/>
              <a:rect l="l" t="t" r="r" b="b"/>
              <a:pathLst>
                <a:path w="2548861" h="2340923">
                  <a:moveTo>
                    <a:pt x="0" y="0"/>
                  </a:moveTo>
                  <a:lnTo>
                    <a:pt x="2548861" y="0"/>
                  </a:lnTo>
                  <a:lnTo>
                    <a:pt x="2548861" y="2340923"/>
                  </a:lnTo>
                  <a:lnTo>
                    <a:pt x="0" y="2340923"/>
                  </a:lnTo>
                  <a:close/>
                </a:path>
              </a:pathLst>
            </a:custGeom>
            <a:solidFill>
              <a:srgbClr val="000066"/>
            </a:solidFill>
          </p:spPr>
          <p:txBody>
            <a:bodyPr/>
            <a:lstStyle/>
            <a:p>
              <a:endParaRPr lang="en-GB"/>
            </a:p>
          </p:txBody>
        </p:sp>
        <p:sp>
          <p:nvSpPr>
            <p:cNvPr id="13" name="TextBox 13"/>
            <p:cNvSpPr txBox="1"/>
            <p:nvPr/>
          </p:nvSpPr>
          <p:spPr>
            <a:xfrm>
              <a:off x="0" y="-38100"/>
              <a:ext cx="2548861" cy="2379023"/>
            </a:xfrm>
            <a:prstGeom prst="rect">
              <a:avLst/>
            </a:prstGeom>
          </p:spPr>
          <p:txBody>
            <a:bodyPr lIns="46654" tIns="46654" rIns="46654" bIns="46654" rtlCol="0" anchor="ctr"/>
            <a:lstStyle/>
            <a:p>
              <a:pPr algn="ctr">
                <a:lnSpc>
                  <a:spcPts val="1800"/>
                </a:lnSpc>
                <a:spcBef>
                  <a:spcPct val="0"/>
                </a:spcBef>
              </a:pPr>
              <a:endParaRPr/>
            </a:p>
          </p:txBody>
        </p:sp>
      </p:grpSp>
      <p:grpSp>
        <p:nvGrpSpPr>
          <p:cNvPr id="14" name="Group 14"/>
          <p:cNvGrpSpPr/>
          <p:nvPr/>
        </p:nvGrpSpPr>
        <p:grpSpPr>
          <a:xfrm rot="-2699999">
            <a:off x="2468217" y="-264109"/>
            <a:ext cx="2361227" cy="2168597"/>
            <a:chOff x="0" y="0"/>
            <a:chExt cx="1635282" cy="1501875"/>
          </a:xfrm>
        </p:grpSpPr>
        <p:sp>
          <p:nvSpPr>
            <p:cNvPr id="15" name="Freeform 15"/>
            <p:cNvSpPr/>
            <p:nvPr/>
          </p:nvSpPr>
          <p:spPr>
            <a:xfrm>
              <a:off x="0" y="0"/>
              <a:ext cx="1635282" cy="1501875"/>
            </a:xfrm>
            <a:custGeom>
              <a:avLst/>
              <a:gdLst/>
              <a:ahLst/>
              <a:cxnLst/>
              <a:rect l="l" t="t" r="r" b="b"/>
              <a:pathLst>
                <a:path w="1635282" h="1501875">
                  <a:moveTo>
                    <a:pt x="0" y="0"/>
                  </a:moveTo>
                  <a:lnTo>
                    <a:pt x="1635282" y="0"/>
                  </a:lnTo>
                  <a:lnTo>
                    <a:pt x="1635282" y="1501875"/>
                  </a:lnTo>
                  <a:lnTo>
                    <a:pt x="0" y="1501875"/>
                  </a:lnTo>
                  <a:close/>
                </a:path>
              </a:pathLst>
            </a:custGeom>
            <a:solidFill>
              <a:srgbClr val="336699"/>
            </a:solidFill>
          </p:spPr>
          <p:txBody>
            <a:bodyPr/>
            <a:lstStyle/>
            <a:p>
              <a:endParaRPr lang="en-GB"/>
            </a:p>
          </p:txBody>
        </p:sp>
        <p:sp>
          <p:nvSpPr>
            <p:cNvPr id="16" name="TextBox 16"/>
            <p:cNvSpPr txBox="1"/>
            <p:nvPr/>
          </p:nvSpPr>
          <p:spPr>
            <a:xfrm>
              <a:off x="0" y="-38100"/>
              <a:ext cx="1635282" cy="1539975"/>
            </a:xfrm>
            <a:prstGeom prst="rect">
              <a:avLst/>
            </a:prstGeom>
          </p:spPr>
          <p:txBody>
            <a:bodyPr lIns="46654" tIns="46654" rIns="46654" bIns="46654" rtlCol="0" anchor="ctr"/>
            <a:lstStyle/>
            <a:p>
              <a:pPr algn="ctr">
                <a:lnSpc>
                  <a:spcPts val="1800"/>
                </a:lnSpc>
                <a:spcBef>
                  <a:spcPct val="0"/>
                </a:spcBef>
              </a:pPr>
              <a:endParaRPr/>
            </a:p>
          </p:txBody>
        </p:sp>
      </p:grpSp>
      <p:sp>
        <p:nvSpPr>
          <p:cNvPr id="17" name="TextBox 17"/>
          <p:cNvSpPr txBox="1"/>
          <p:nvPr/>
        </p:nvSpPr>
        <p:spPr>
          <a:xfrm>
            <a:off x="1028700" y="1278255"/>
            <a:ext cx="16230600" cy="760095"/>
          </a:xfrm>
          <a:prstGeom prst="rect">
            <a:avLst/>
          </a:prstGeom>
        </p:spPr>
        <p:txBody>
          <a:bodyPr lIns="0" tIns="0" rIns="0" bIns="0" rtlCol="0" anchor="t">
            <a:spAutoFit/>
          </a:bodyPr>
          <a:lstStyle/>
          <a:p>
            <a:pPr marL="0" lvl="0" indent="0" algn="ctr">
              <a:lnSpc>
                <a:spcPts val="5640"/>
              </a:lnSpc>
              <a:spcBef>
                <a:spcPct val="0"/>
              </a:spcBef>
            </a:pPr>
            <a:r>
              <a:rPr lang="en-US" sz="6000" b="1">
                <a:solidFill>
                  <a:srgbClr val="000066"/>
                </a:solidFill>
                <a:latin typeface="Garet Bold"/>
                <a:ea typeface="Garet Bold"/>
                <a:cs typeface="Garet Bold"/>
                <a:sym typeface="Garet Bold"/>
              </a:rPr>
              <a:t>Questions &amp; Methodology</a:t>
            </a:r>
          </a:p>
        </p:txBody>
      </p:sp>
      <p:graphicFrame>
        <p:nvGraphicFramePr>
          <p:cNvPr id="18" name="Table 18"/>
          <p:cNvGraphicFramePr>
            <a:graphicFrameLocks noGrp="1"/>
          </p:cNvGraphicFramePr>
          <p:nvPr>
            <p:extLst>
              <p:ext uri="{D42A27DB-BD31-4B8C-83A1-F6EECF244321}">
                <p14:modId xmlns:p14="http://schemas.microsoft.com/office/powerpoint/2010/main" val="53508806"/>
              </p:ext>
            </p:extLst>
          </p:nvPr>
        </p:nvGraphicFramePr>
        <p:xfrm>
          <a:off x="1028700" y="2153978"/>
          <a:ext cx="16230600" cy="7210424"/>
        </p:xfrm>
        <a:graphic>
          <a:graphicData uri="http://schemas.openxmlformats.org/drawingml/2006/table">
            <a:tbl>
              <a:tblPr/>
              <a:tblGrid>
                <a:gridCol w="5623957">
                  <a:extLst>
                    <a:ext uri="{9D8B030D-6E8A-4147-A177-3AD203B41FA5}">
                      <a16:colId xmlns:a16="http://schemas.microsoft.com/office/drawing/2014/main" val="20000"/>
                    </a:ext>
                  </a:extLst>
                </a:gridCol>
                <a:gridCol w="4961788">
                  <a:extLst>
                    <a:ext uri="{9D8B030D-6E8A-4147-A177-3AD203B41FA5}">
                      <a16:colId xmlns:a16="http://schemas.microsoft.com/office/drawing/2014/main" val="20001"/>
                    </a:ext>
                  </a:extLst>
                </a:gridCol>
                <a:gridCol w="5644855">
                  <a:extLst>
                    <a:ext uri="{9D8B030D-6E8A-4147-A177-3AD203B41FA5}">
                      <a16:colId xmlns:a16="http://schemas.microsoft.com/office/drawing/2014/main" val="20002"/>
                    </a:ext>
                  </a:extLst>
                </a:gridCol>
              </a:tblGrid>
              <a:tr h="777490">
                <a:tc>
                  <a:txBody>
                    <a:bodyPr/>
                    <a:lstStyle/>
                    <a:p>
                      <a:pPr algn="ctr">
                        <a:lnSpc>
                          <a:spcPts val="2250"/>
                        </a:lnSpc>
                        <a:defRPr/>
                      </a:pPr>
                      <a:r>
                        <a:rPr lang="en-US" sz="1500" b="1">
                          <a:solidFill>
                            <a:srgbClr val="000000"/>
                          </a:solidFill>
                          <a:latin typeface="Garet Bold"/>
                          <a:ea typeface="Garet Bold"/>
                          <a:cs typeface="Garet Bold"/>
                          <a:sym typeface="Garet Bold"/>
                        </a:rPr>
                        <a:t>Category &amp; Core Business Question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tc>
                  <a:txBody>
                    <a:bodyPr/>
                    <a:lstStyle/>
                    <a:p>
                      <a:pPr algn="ctr">
                        <a:lnSpc>
                          <a:spcPts val="2250"/>
                        </a:lnSpc>
                        <a:defRPr/>
                      </a:pPr>
                      <a:r>
                        <a:rPr lang="en-US" sz="1500" b="1">
                          <a:solidFill>
                            <a:srgbClr val="000000"/>
                          </a:solidFill>
                          <a:latin typeface="Garet Bold"/>
                          <a:ea typeface="Garet Bold"/>
                          <a:cs typeface="Garet Bold"/>
                          <a:sym typeface="Garet Bold"/>
                        </a:rPr>
                        <a:t>Business Importance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tc>
                  <a:txBody>
                    <a:bodyPr/>
                    <a:lstStyle/>
                    <a:p>
                      <a:pPr marL="0" lvl="0" indent="0" algn="ctr">
                        <a:lnSpc>
                          <a:spcPts val="2250"/>
                        </a:lnSpc>
                        <a:spcBef>
                          <a:spcPct val="0"/>
                        </a:spcBef>
                        <a:defRPr/>
                      </a:pPr>
                      <a:r>
                        <a:rPr lang="en-US" sz="1500" b="1" u="none" strike="noStrike">
                          <a:solidFill>
                            <a:srgbClr val="000000"/>
                          </a:solidFill>
                          <a:latin typeface="Garet Bold"/>
                          <a:ea typeface="Garet Bold"/>
                          <a:cs typeface="Garet Bold"/>
                          <a:sym typeface="Garet Bold"/>
                        </a:rPr>
                        <a:t>Analytical Tool &amp; Method</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extLst>
                  <a:ext uri="{0D108BD9-81ED-4DB2-BD59-A6C34878D82A}">
                    <a16:rowId xmlns:a16="http://schemas.microsoft.com/office/drawing/2014/main" val="10000"/>
                  </a:ext>
                </a:extLst>
              </a:tr>
              <a:tr h="1736040">
                <a:tc>
                  <a:txBody>
                    <a:bodyPr/>
                    <a:lstStyle/>
                    <a:p>
                      <a:pPr algn="ctr">
                        <a:lnSpc>
                          <a:spcPts val="1800"/>
                        </a:lnSpc>
                        <a:defRPr/>
                      </a:pPr>
                      <a:r>
                        <a:rPr lang="en-US" sz="1200" b="1">
                          <a:solidFill>
                            <a:srgbClr val="000000"/>
                          </a:solidFill>
                          <a:latin typeface="Garet Bold"/>
                          <a:ea typeface="Garet Bold"/>
                          <a:cs typeface="Garet Bold"/>
                          <a:sym typeface="Garet Bold"/>
                        </a:rPr>
                        <a:t>Geographic Concentration</a:t>
                      </a:r>
                      <a:endParaRPr lang="en-US" sz="1100"/>
                    </a:p>
                    <a:p>
                      <a:pPr algn="ctr">
                        <a:lnSpc>
                          <a:spcPts val="1800"/>
                        </a:lnSpc>
                      </a:pPr>
                      <a:r>
                        <a:rPr lang="en-US" sz="1200">
                          <a:solidFill>
                            <a:srgbClr val="000000"/>
                          </a:solidFill>
                          <a:latin typeface="Garet"/>
                          <a:ea typeface="Garet"/>
                          <a:cs typeface="Garet"/>
                          <a:sym typeface="Garet"/>
                        </a:rPr>
                        <a:t>Which states and cities generate the highest transaction volume and revenue?</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1800"/>
                        </a:lnSpc>
                        <a:defRPr/>
                      </a:pPr>
                      <a:r>
                        <a:rPr lang="en-US" sz="1200">
                          <a:solidFill>
                            <a:srgbClr val="000000"/>
                          </a:solidFill>
                          <a:latin typeface="Garet"/>
                          <a:ea typeface="Garet"/>
                          <a:cs typeface="Garet"/>
                          <a:sym typeface="Garet"/>
                        </a:rPr>
                        <a:t>Identifies regional market penetration, high-value territories, and expansion targets for local merchant partnerships.</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1800"/>
                        </a:lnSpc>
                        <a:defRPr/>
                      </a:pPr>
                      <a:r>
                        <a:rPr lang="en-US" sz="1200" b="1" dirty="0">
                          <a:solidFill>
                            <a:srgbClr val="000000"/>
                          </a:solidFill>
                          <a:latin typeface="Garet Bold"/>
                          <a:ea typeface="Garet Bold"/>
                          <a:cs typeface="Garet Bold"/>
                          <a:sym typeface="Garet Bold"/>
                        </a:rPr>
                        <a:t>SQL Views &amp; Power BI:</a:t>
                      </a:r>
                      <a:endParaRPr lang="en-US" sz="1100" dirty="0"/>
                    </a:p>
                    <a:p>
                      <a:pPr algn="ctr">
                        <a:lnSpc>
                          <a:spcPts val="1800"/>
                        </a:lnSpc>
                      </a:pPr>
                      <a:r>
                        <a:rPr lang="en-US" sz="1200" dirty="0">
                          <a:solidFill>
                            <a:srgbClr val="000000"/>
                          </a:solidFill>
                          <a:latin typeface="Garet"/>
                          <a:ea typeface="Garet"/>
                          <a:cs typeface="Garet"/>
                          <a:sym typeface="Garet"/>
                        </a:rPr>
                        <a:t>• Pre-aggregated in 3 different views </a:t>
                      </a:r>
                    </a:p>
                    <a:p>
                      <a:pPr algn="ctr">
                        <a:lnSpc>
                          <a:spcPts val="1800"/>
                        </a:lnSpc>
                      </a:pPr>
                      <a:r>
                        <a:rPr lang="en-US" sz="1200" dirty="0">
                          <a:solidFill>
                            <a:srgbClr val="000000"/>
                          </a:solidFill>
                          <a:latin typeface="Garet"/>
                          <a:ea typeface="Garet"/>
                          <a:cs typeface="Garet"/>
                          <a:sym typeface="Garet"/>
                        </a:rPr>
                        <a:t>• DAX TOPN &amp; CONCATENATEX measures for top states</a:t>
                      </a:r>
                    </a:p>
                    <a:p>
                      <a:pPr algn="ctr">
                        <a:lnSpc>
                          <a:spcPts val="1800"/>
                        </a:lnSpc>
                      </a:pPr>
                      <a:r>
                        <a:rPr lang="en-US" sz="1200" dirty="0">
                          <a:solidFill>
                            <a:srgbClr val="000000"/>
                          </a:solidFill>
                          <a:latin typeface="Garet"/>
                          <a:ea typeface="Garet"/>
                          <a:cs typeface="Garet"/>
                          <a:sym typeface="Garet"/>
                        </a:rPr>
                        <a:t>• Matrix drill-down (</a:t>
                      </a:r>
                      <a:r>
                        <a:rPr lang="en-US" sz="1200" dirty="0" err="1">
                          <a:solidFill>
                            <a:srgbClr val="000000"/>
                          </a:solidFill>
                          <a:latin typeface="Garet"/>
                          <a:ea typeface="Garet"/>
                          <a:cs typeface="Garet"/>
                          <a:sym typeface="Garet"/>
                        </a:rPr>
                        <a:t>state_id</a:t>
                      </a:r>
                      <a:r>
                        <a:rPr lang="en-US" sz="1200" dirty="0">
                          <a:solidFill>
                            <a:srgbClr val="000000"/>
                          </a:solidFill>
                          <a:latin typeface="Garet"/>
                          <a:ea typeface="Garet"/>
                          <a:cs typeface="Garet"/>
                          <a:sym typeface="Garet"/>
                        </a:rPr>
                        <a:t> → </a:t>
                      </a:r>
                      <a:r>
                        <a:rPr lang="en-US" sz="1200" dirty="0" err="1">
                          <a:solidFill>
                            <a:srgbClr val="000000"/>
                          </a:solidFill>
                          <a:latin typeface="Garet"/>
                          <a:ea typeface="Garet"/>
                          <a:cs typeface="Garet"/>
                          <a:sym typeface="Garet"/>
                        </a:rPr>
                        <a:t>city_id</a:t>
                      </a:r>
                      <a:r>
                        <a:rPr lang="en-US" sz="1200" dirty="0">
                          <a:solidFill>
                            <a:srgbClr val="000000"/>
                          </a:solidFill>
                          <a:latin typeface="Garet"/>
                          <a:ea typeface="Garet"/>
                          <a:cs typeface="Garet"/>
                          <a:sym typeface="Garet"/>
                        </a:rPr>
                        <a:t>)</a:t>
                      </a:r>
                    </a:p>
                    <a:p>
                      <a:pPr algn="ctr">
                        <a:lnSpc>
                          <a:spcPts val="1800"/>
                        </a:lnSpc>
                      </a:pPr>
                      <a:endParaRPr lang="en-US" sz="1200" dirty="0">
                        <a:solidFill>
                          <a:srgbClr val="000000"/>
                        </a:solidFill>
                        <a:latin typeface="Garet"/>
                        <a:ea typeface="Garet"/>
                        <a:cs typeface="Garet"/>
                        <a:sym typeface="Garet"/>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1"/>
                  </a:ext>
                </a:extLst>
              </a:tr>
              <a:tr h="1224814">
                <a:tc>
                  <a:txBody>
                    <a:bodyPr/>
                    <a:lstStyle/>
                    <a:p>
                      <a:pPr marL="0" lvl="0" indent="0" algn="ctr">
                        <a:lnSpc>
                          <a:spcPts val="1800"/>
                        </a:lnSpc>
                        <a:spcBef>
                          <a:spcPct val="0"/>
                        </a:spcBef>
                        <a:defRPr/>
                      </a:pPr>
                      <a:r>
                        <a:rPr lang="en-US" sz="1200" b="1" u="none" strike="noStrike">
                          <a:solidFill>
                            <a:srgbClr val="000000"/>
                          </a:solidFill>
                          <a:latin typeface="Garet Bold"/>
                          <a:ea typeface="Garet Bold"/>
                          <a:cs typeface="Garet Bold"/>
                          <a:sym typeface="Garet Bold"/>
                        </a:rPr>
                        <a:t>Merchant Category &amp; Subsectors</a:t>
                      </a:r>
                      <a:endParaRPr lang="en-US" sz="1100"/>
                    </a:p>
                    <a:p>
                      <a:pPr marL="0" lvl="0" indent="0" algn="ctr">
                        <a:lnSpc>
                          <a:spcPts val="1800"/>
                        </a:lnSpc>
                        <a:spcBef>
                          <a:spcPct val="0"/>
                        </a:spcBef>
                      </a:pPr>
                      <a:r>
                        <a:rPr lang="en-US" sz="1200" u="none" strike="noStrike">
                          <a:solidFill>
                            <a:srgbClr val="000000"/>
                          </a:solidFill>
                          <a:latin typeface="Garet"/>
                          <a:ea typeface="Garet"/>
                          <a:cs typeface="Garet"/>
                          <a:sym typeface="Garet"/>
                        </a:rPr>
                        <a:t>Which subsectors and niche merchant categories dominate total customer spend?</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1800"/>
                        </a:lnSpc>
                        <a:defRPr/>
                      </a:pPr>
                      <a:r>
                        <a:rPr lang="en-US" sz="1200">
                          <a:solidFill>
                            <a:srgbClr val="000000"/>
                          </a:solidFill>
                          <a:latin typeface="Garet"/>
                          <a:ea typeface="Garet"/>
                          <a:cs typeface="Garet"/>
                          <a:sym typeface="Garet"/>
                        </a:rPr>
                        <a:t>Uncovers category-wise spending patterns, guiding targeted merchant acquisition and partner discount programs.</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1800"/>
                        </a:lnSpc>
                        <a:defRPr/>
                      </a:pPr>
                      <a:r>
                        <a:rPr lang="en-US" sz="1200" b="1" dirty="0">
                          <a:solidFill>
                            <a:srgbClr val="000000"/>
                          </a:solidFill>
                          <a:latin typeface="Garet Bold"/>
                          <a:ea typeface="Garet Bold"/>
                          <a:cs typeface="Garet Bold"/>
                          <a:sym typeface="Garet Bold"/>
                        </a:rPr>
                        <a:t>SQL &amp; Power BI:</a:t>
                      </a:r>
                      <a:endParaRPr lang="en-US" sz="1100" dirty="0"/>
                    </a:p>
                    <a:p>
                      <a:pPr algn="ctr">
                        <a:lnSpc>
                          <a:spcPts val="1800"/>
                        </a:lnSpc>
                      </a:pPr>
                      <a:r>
                        <a:rPr lang="en-US" sz="1200" dirty="0">
                          <a:solidFill>
                            <a:srgbClr val="000000"/>
                          </a:solidFill>
                          <a:latin typeface="Garet"/>
                          <a:ea typeface="Garet"/>
                          <a:cs typeface="Garet"/>
                          <a:sym typeface="Garet"/>
                        </a:rPr>
                        <a:t>• Dimension modeling (</a:t>
                      </a:r>
                      <a:r>
                        <a:rPr lang="en-US" sz="1200" dirty="0" err="1">
                          <a:solidFill>
                            <a:srgbClr val="000000"/>
                          </a:solidFill>
                          <a:latin typeface="Garet"/>
                          <a:ea typeface="Garet"/>
                          <a:cs typeface="Garet"/>
                          <a:sym typeface="Garet"/>
                        </a:rPr>
                        <a:t>DimSubsector</a:t>
                      </a:r>
                      <a:r>
                        <a:rPr lang="en-US" sz="1200" dirty="0">
                          <a:solidFill>
                            <a:srgbClr val="000000"/>
                          </a:solidFill>
                          <a:latin typeface="Garet"/>
                          <a:ea typeface="Garet"/>
                          <a:cs typeface="Garet"/>
                          <a:sym typeface="Garet"/>
                        </a:rPr>
                        <a:t>, </a:t>
                      </a:r>
                      <a:r>
                        <a:rPr lang="en-US" sz="1200" dirty="0" err="1">
                          <a:solidFill>
                            <a:srgbClr val="000000"/>
                          </a:solidFill>
                          <a:latin typeface="Garet"/>
                          <a:ea typeface="Garet"/>
                          <a:cs typeface="Garet"/>
                          <a:sym typeface="Garet"/>
                        </a:rPr>
                        <a:t>DimMerchantCategories</a:t>
                      </a:r>
                      <a:r>
                        <a:rPr lang="en-US" sz="1200" dirty="0">
                          <a:solidFill>
                            <a:srgbClr val="000000"/>
                          </a:solidFill>
                          <a:latin typeface="Garet"/>
                          <a:ea typeface="Garet"/>
                          <a:cs typeface="Garet"/>
                          <a:sym typeface="Garet"/>
                        </a:rPr>
                        <a:t>)</a:t>
                      </a:r>
                    </a:p>
                    <a:p>
                      <a:pPr algn="ctr">
                        <a:lnSpc>
                          <a:spcPts val="1800"/>
                        </a:lnSpc>
                      </a:pPr>
                      <a:r>
                        <a:rPr lang="en-US" sz="1200" dirty="0">
                          <a:solidFill>
                            <a:srgbClr val="000000"/>
                          </a:solidFill>
                          <a:latin typeface="Garet"/>
                          <a:ea typeface="Garet"/>
                          <a:cs typeface="Garet"/>
                          <a:sym typeface="Garet"/>
                        </a:rPr>
                        <a:t>• Stacked bar charts and Top 10 category visualizations</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2"/>
                  </a:ext>
                </a:extLst>
              </a:tr>
              <a:tr h="1736040">
                <a:tc>
                  <a:txBody>
                    <a:bodyPr/>
                    <a:lstStyle/>
                    <a:p>
                      <a:pPr algn="ctr">
                        <a:lnSpc>
                          <a:spcPts val="1800"/>
                        </a:lnSpc>
                        <a:defRPr/>
                      </a:pPr>
                      <a:r>
                        <a:rPr lang="en-US" sz="1200" b="1">
                          <a:solidFill>
                            <a:srgbClr val="000000"/>
                          </a:solidFill>
                          <a:latin typeface="Garet Bold"/>
                          <a:ea typeface="Garet Bold"/>
                          <a:cs typeface="Garet Bold"/>
                          <a:sym typeface="Garet Bold"/>
                        </a:rPr>
                        <a:t>Customer Behavior &amp; Installments</a:t>
                      </a:r>
                      <a:endParaRPr lang="en-US" sz="1100"/>
                    </a:p>
                    <a:p>
                      <a:pPr algn="ctr">
                        <a:lnSpc>
                          <a:spcPts val="1800"/>
                        </a:lnSpc>
                      </a:pPr>
                      <a:r>
                        <a:rPr lang="en-US" sz="1200">
                          <a:solidFill>
                            <a:srgbClr val="000000"/>
                          </a:solidFill>
                          <a:latin typeface="Garet"/>
                          <a:ea typeface="Garet"/>
                          <a:cs typeface="Garet"/>
                          <a:sym typeface="Garet"/>
                        </a:rPr>
                        <a:t>How do customers utilize installment payment plans across different card feature cohorts?</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1800"/>
                        </a:lnSpc>
                        <a:defRPr/>
                      </a:pPr>
                      <a:r>
                        <a:rPr lang="en-US" sz="1200">
                          <a:solidFill>
                            <a:srgbClr val="000000"/>
                          </a:solidFill>
                          <a:latin typeface="Garet"/>
                          <a:ea typeface="Garet"/>
                          <a:cs typeface="Garet"/>
                          <a:sym typeface="Garet"/>
                        </a:rPr>
                        <a:t>Assesses credit risk and payment preference trends, enabling tailored credit limits and installment promotions.</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1800"/>
                        </a:lnSpc>
                        <a:defRPr/>
                      </a:pPr>
                      <a:r>
                        <a:rPr lang="en-US" sz="1200" b="1" dirty="0">
                          <a:solidFill>
                            <a:srgbClr val="000000"/>
                          </a:solidFill>
                          <a:latin typeface="Garet Bold"/>
                          <a:ea typeface="Garet Bold"/>
                          <a:cs typeface="Garet Bold"/>
                          <a:sym typeface="Garet Bold"/>
                        </a:rPr>
                        <a:t>DAX &amp; Power BI:</a:t>
                      </a:r>
                      <a:endParaRPr lang="en-US" sz="1100" dirty="0"/>
                    </a:p>
                    <a:p>
                      <a:pPr algn="ctr">
                        <a:lnSpc>
                          <a:spcPts val="1800"/>
                        </a:lnSpc>
                      </a:pPr>
                      <a:r>
                        <a:rPr lang="en-US" sz="1200" dirty="0">
                          <a:solidFill>
                            <a:srgbClr val="000000"/>
                          </a:solidFill>
                          <a:latin typeface="Garet"/>
                          <a:ea typeface="Garet"/>
                          <a:cs typeface="Garet"/>
                          <a:sym typeface="Garet"/>
                        </a:rPr>
                        <a:t>• Custom Calculated Column with SWITCH(TRUE(), ...) for installment binning</a:t>
                      </a:r>
                    </a:p>
                    <a:p>
                      <a:pPr algn="ctr">
                        <a:lnSpc>
                          <a:spcPts val="1800"/>
                        </a:lnSpc>
                      </a:pPr>
                      <a:r>
                        <a:rPr lang="en-US" sz="1200" dirty="0">
                          <a:solidFill>
                            <a:srgbClr val="000000"/>
                          </a:solidFill>
                          <a:latin typeface="Garet"/>
                          <a:ea typeface="Garet"/>
                          <a:cs typeface="Garet"/>
                          <a:sym typeface="Garet"/>
                        </a:rPr>
                        <a:t>• Cohort slicing via feature_1, feature_2, feature_3</a:t>
                      </a:r>
                    </a:p>
                    <a:p>
                      <a:pPr algn="ctr">
                        <a:lnSpc>
                          <a:spcPts val="1800"/>
                        </a:lnSpc>
                      </a:pPr>
                      <a:endParaRPr lang="en-US" sz="1200" dirty="0">
                        <a:solidFill>
                          <a:srgbClr val="000000"/>
                        </a:solidFill>
                        <a:latin typeface="Garet"/>
                        <a:ea typeface="Garet"/>
                        <a:cs typeface="Garet"/>
                        <a:sym typeface="Garet"/>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3"/>
                  </a:ext>
                </a:extLst>
              </a:tr>
              <a:tr h="1736040">
                <a:tc>
                  <a:txBody>
                    <a:bodyPr/>
                    <a:lstStyle/>
                    <a:p>
                      <a:pPr algn="ctr">
                        <a:lnSpc>
                          <a:spcPts val="1800"/>
                        </a:lnSpc>
                        <a:defRPr/>
                      </a:pPr>
                      <a:r>
                        <a:rPr lang="en-US" sz="1200" b="1">
                          <a:solidFill>
                            <a:srgbClr val="000000"/>
                          </a:solidFill>
                          <a:latin typeface="Garet Bold"/>
                          <a:ea typeface="Garet Bold"/>
                          <a:cs typeface="Garet Bold"/>
                          <a:sym typeface="Garet Bold"/>
                        </a:rPr>
                        <a:t>Historical vs. New Merchant Growth</a:t>
                      </a:r>
                      <a:endParaRPr lang="en-US" sz="1100"/>
                    </a:p>
                    <a:p>
                      <a:pPr algn="ctr">
                        <a:lnSpc>
                          <a:spcPts val="1800"/>
                        </a:lnSpc>
                      </a:pPr>
                      <a:r>
                        <a:rPr lang="en-US" sz="1200">
                          <a:solidFill>
                            <a:srgbClr val="000000"/>
                          </a:solidFill>
                          <a:latin typeface="Garet"/>
                          <a:ea typeface="Garet"/>
                          <a:cs typeface="Garet"/>
                          <a:sym typeface="Garet"/>
                        </a:rPr>
                        <a:t>How does transaction velocity and volume shift when customers purchase at new vs. historical merchants?</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1800"/>
                        </a:lnSpc>
                        <a:defRPr/>
                      </a:pPr>
                      <a:r>
                        <a:rPr lang="en-US" sz="1200">
                          <a:solidFill>
                            <a:srgbClr val="000000"/>
                          </a:solidFill>
                          <a:latin typeface="Garet"/>
                          <a:ea typeface="Garet"/>
                          <a:cs typeface="Garet"/>
                          <a:sym typeface="Garet"/>
                        </a:rPr>
                        <a:t>Measures merchant network expansion, brand loyalty, and customer willingness to adopt new merchants. </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1800"/>
                        </a:lnSpc>
                        <a:defRPr/>
                      </a:pPr>
                      <a:r>
                        <a:rPr lang="en-US" sz="1200" b="1" dirty="0">
                          <a:solidFill>
                            <a:srgbClr val="000000"/>
                          </a:solidFill>
                          <a:latin typeface="Garet Bold"/>
                          <a:ea typeface="Garet Bold"/>
                          <a:cs typeface="Garet Bold"/>
                          <a:sym typeface="Garet Bold"/>
                        </a:rPr>
                        <a:t>ETL / SQL &amp; DAX:</a:t>
                      </a:r>
                      <a:endParaRPr lang="en-US" sz="1100" dirty="0"/>
                    </a:p>
                    <a:p>
                      <a:pPr algn="ctr">
                        <a:lnSpc>
                          <a:spcPts val="1800"/>
                        </a:lnSpc>
                      </a:pPr>
                      <a:r>
                        <a:rPr lang="en-US" sz="1200" dirty="0">
                          <a:solidFill>
                            <a:srgbClr val="000000"/>
                          </a:solidFill>
                          <a:latin typeface="Garet"/>
                          <a:ea typeface="Garet"/>
                          <a:cs typeface="Garet"/>
                          <a:sym typeface="Garet"/>
                        </a:rPr>
                        <a:t>• Unified </a:t>
                      </a:r>
                      <a:r>
                        <a:rPr lang="en-US" sz="1200" dirty="0" err="1">
                          <a:solidFill>
                            <a:srgbClr val="000000"/>
                          </a:solidFill>
                          <a:latin typeface="Garet"/>
                          <a:ea typeface="Garet"/>
                          <a:cs typeface="Garet"/>
                          <a:sym typeface="Garet"/>
                        </a:rPr>
                        <a:t>FactTransactions</a:t>
                      </a:r>
                      <a:r>
                        <a:rPr lang="en-US" sz="1200" dirty="0">
                          <a:solidFill>
                            <a:srgbClr val="000000"/>
                          </a:solidFill>
                          <a:latin typeface="Garet"/>
                          <a:ea typeface="Garet"/>
                          <a:cs typeface="Garet"/>
                          <a:sym typeface="Garet"/>
                        </a:rPr>
                        <a:t> with </a:t>
                      </a:r>
                      <a:r>
                        <a:rPr lang="en-US" sz="1200" dirty="0" err="1">
                          <a:solidFill>
                            <a:srgbClr val="000000"/>
                          </a:solidFill>
                          <a:latin typeface="Garet"/>
                          <a:ea typeface="Garet"/>
                          <a:cs typeface="Garet"/>
                          <a:sym typeface="Garet"/>
                        </a:rPr>
                        <a:t>transaction_type</a:t>
                      </a:r>
                      <a:r>
                        <a:rPr lang="en-US" sz="1200" dirty="0">
                          <a:solidFill>
                            <a:srgbClr val="000000"/>
                          </a:solidFill>
                          <a:latin typeface="Garet"/>
                          <a:ea typeface="Garet"/>
                          <a:cs typeface="Garet"/>
                          <a:sym typeface="Garet"/>
                        </a:rPr>
                        <a:t> indicator (Historical vs. New). </a:t>
                      </a:r>
                    </a:p>
                    <a:p>
                      <a:pPr algn="ctr">
                        <a:lnSpc>
                          <a:spcPts val="1800"/>
                        </a:lnSpc>
                      </a:pPr>
                      <a:r>
                        <a:rPr lang="en-US" sz="1200" dirty="0">
                          <a:solidFill>
                            <a:srgbClr val="000000"/>
                          </a:solidFill>
                          <a:latin typeface="Garet"/>
                          <a:ea typeface="Garet"/>
                          <a:cs typeface="Garet"/>
                          <a:sym typeface="Garet"/>
                        </a:rPr>
                        <a:t>• Time-series monthly spend line chart.</a:t>
                      </a:r>
                    </a:p>
                    <a:p>
                      <a:pPr algn="ctr">
                        <a:lnSpc>
                          <a:spcPts val="1800"/>
                        </a:lnSpc>
                      </a:pPr>
                      <a:endParaRPr lang="en-US" sz="1200" dirty="0">
                        <a:solidFill>
                          <a:srgbClr val="000000"/>
                        </a:solidFill>
                        <a:latin typeface="Garet"/>
                        <a:ea typeface="Garet"/>
                        <a:cs typeface="Garet"/>
                        <a:sym typeface="Garet"/>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699FF"/>
        </a:solidFill>
        <a:effectLst/>
      </p:bgPr>
    </p:bg>
    <p:spTree>
      <p:nvGrpSpPr>
        <p:cNvPr id="1" name=""/>
        <p:cNvGrpSpPr/>
        <p:nvPr/>
      </p:nvGrpSpPr>
      <p:grpSpPr>
        <a:xfrm>
          <a:off x="0" y="0"/>
          <a:ext cx="0" cy="0"/>
          <a:chOff x="0" y="0"/>
          <a:chExt cx="0" cy="0"/>
        </a:xfrm>
      </p:grpSpPr>
      <p:grpSp>
        <p:nvGrpSpPr>
          <p:cNvPr id="2" name="Group 2"/>
          <p:cNvGrpSpPr/>
          <p:nvPr/>
        </p:nvGrpSpPr>
        <p:grpSpPr>
          <a:xfrm>
            <a:off x="188797" y="203992"/>
            <a:ext cx="17910406" cy="9879016"/>
            <a:chOff x="0" y="0"/>
            <a:chExt cx="4717144" cy="2601881"/>
          </a:xfrm>
        </p:grpSpPr>
        <p:sp>
          <p:nvSpPr>
            <p:cNvPr id="3" name="Freeform 3"/>
            <p:cNvSpPr/>
            <p:nvPr/>
          </p:nvSpPr>
          <p:spPr>
            <a:xfrm>
              <a:off x="0" y="0"/>
              <a:ext cx="4717144" cy="2601881"/>
            </a:xfrm>
            <a:custGeom>
              <a:avLst/>
              <a:gdLst/>
              <a:ahLst/>
              <a:cxnLst/>
              <a:rect l="l" t="t" r="r" b="b"/>
              <a:pathLst>
                <a:path w="4717144" h="2601881">
                  <a:moveTo>
                    <a:pt x="0" y="0"/>
                  </a:moveTo>
                  <a:lnTo>
                    <a:pt x="4717144" y="0"/>
                  </a:lnTo>
                  <a:lnTo>
                    <a:pt x="4717144" y="2601881"/>
                  </a:lnTo>
                  <a:lnTo>
                    <a:pt x="0" y="2601881"/>
                  </a:lnTo>
                  <a:close/>
                </a:path>
              </a:pathLst>
            </a:custGeom>
            <a:solidFill>
              <a:srgbClr val="FFFFFF"/>
            </a:solidFill>
          </p:spPr>
          <p:txBody>
            <a:bodyPr/>
            <a:lstStyle/>
            <a:p>
              <a:endParaRPr lang="en-GB"/>
            </a:p>
          </p:txBody>
        </p:sp>
        <p:sp>
          <p:nvSpPr>
            <p:cNvPr id="4" name="TextBox 4"/>
            <p:cNvSpPr txBox="1"/>
            <p:nvPr/>
          </p:nvSpPr>
          <p:spPr>
            <a:xfrm>
              <a:off x="0" y="-38100"/>
              <a:ext cx="4717144" cy="2639981"/>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556524" y="4484290"/>
            <a:ext cx="5220044" cy="4774010"/>
            <a:chOff x="0" y="0"/>
            <a:chExt cx="1374826" cy="1257352"/>
          </a:xfrm>
        </p:grpSpPr>
        <p:sp>
          <p:nvSpPr>
            <p:cNvPr id="6" name="Freeform 6"/>
            <p:cNvSpPr/>
            <p:nvPr/>
          </p:nvSpPr>
          <p:spPr>
            <a:xfrm>
              <a:off x="0" y="0"/>
              <a:ext cx="1374826" cy="1257352"/>
            </a:xfrm>
            <a:custGeom>
              <a:avLst/>
              <a:gdLst/>
              <a:ahLst/>
              <a:cxnLst/>
              <a:rect l="l" t="t" r="r" b="b"/>
              <a:pathLst>
                <a:path w="1374826" h="1257352">
                  <a:moveTo>
                    <a:pt x="0" y="0"/>
                  </a:moveTo>
                  <a:lnTo>
                    <a:pt x="1374826" y="0"/>
                  </a:lnTo>
                  <a:lnTo>
                    <a:pt x="1374826" y="1257352"/>
                  </a:lnTo>
                  <a:lnTo>
                    <a:pt x="0" y="1257352"/>
                  </a:lnTo>
                  <a:close/>
                </a:path>
              </a:pathLst>
            </a:custGeom>
            <a:solidFill>
              <a:srgbClr val="000066"/>
            </a:solidFill>
          </p:spPr>
          <p:txBody>
            <a:bodyPr/>
            <a:lstStyle/>
            <a:p>
              <a:endParaRPr lang="en-GB"/>
            </a:p>
          </p:txBody>
        </p:sp>
        <p:sp>
          <p:nvSpPr>
            <p:cNvPr id="7" name="TextBox 7"/>
            <p:cNvSpPr txBox="1"/>
            <p:nvPr/>
          </p:nvSpPr>
          <p:spPr>
            <a:xfrm>
              <a:off x="0" y="-38100"/>
              <a:ext cx="1374826" cy="1295452"/>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028700" y="1181100"/>
            <a:ext cx="16230600" cy="760095"/>
          </a:xfrm>
          <a:prstGeom prst="rect">
            <a:avLst/>
          </a:prstGeom>
        </p:spPr>
        <p:txBody>
          <a:bodyPr lIns="0" tIns="0" rIns="0" bIns="0" rtlCol="0" anchor="t">
            <a:spAutoFit/>
          </a:bodyPr>
          <a:lstStyle/>
          <a:p>
            <a:pPr marL="0" lvl="0" indent="0" algn="ctr">
              <a:lnSpc>
                <a:spcPts val="5640"/>
              </a:lnSpc>
              <a:spcBef>
                <a:spcPct val="0"/>
              </a:spcBef>
            </a:pPr>
            <a:r>
              <a:rPr lang="en-US" sz="6000" b="1">
                <a:solidFill>
                  <a:srgbClr val="000066"/>
                </a:solidFill>
                <a:latin typeface="Garet Bold"/>
                <a:ea typeface="Garet Bold"/>
                <a:cs typeface="Garet Bold"/>
                <a:sym typeface="Garet Bold"/>
              </a:rPr>
              <a:t>Analysis Workflow</a:t>
            </a:r>
          </a:p>
        </p:txBody>
      </p:sp>
      <p:sp>
        <p:nvSpPr>
          <p:cNvPr id="9" name="TextBox 9"/>
          <p:cNvSpPr txBox="1"/>
          <p:nvPr/>
        </p:nvSpPr>
        <p:spPr>
          <a:xfrm>
            <a:off x="11067616" y="6673846"/>
            <a:ext cx="4197860" cy="1944497"/>
          </a:xfrm>
          <a:prstGeom prst="rect">
            <a:avLst/>
          </a:prstGeom>
        </p:spPr>
        <p:txBody>
          <a:bodyPr lIns="0" tIns="0" rIns="0" bIns="0" rtlCol="0" anchor="t">
            <a:spAutoFit/>
          </a:bodyPr>
          <a:lstStyle/>
          <a:p>
            <a:pPr marL="0" lvl="0" indent="0" algn="ctr">
              <a:lnSpc>
                <a:spcPts val="2599"/>
              </a:lnSpc>
              <a:spcBef>
                <a:spcPct val="0"/>
              </a:spcBef>
            </a:pPr>
            <a:r>
              <a:rPr lang="en-US" sz="2300">
                <a:solidFill>
                  <a:srgbClr val="FFFFFF"/>
                </a:solidFill>
                <a:latin typeface="Garet"/>
                <a:ea typeface="Garet"/>
                <a:cs typeface="Garet"/>
                <a:sym typeface="Garet"/>
              </a:rPr>
              <a:t>M</a:t>
            </a:r>
            <a:r>
              <a:rPr lang="en-US" sz="2300" u="none" strike="noStrike">
                <a:solidFill>
                  <a:srgbClr val="FFFFFF"/>
                </a:solidFill>
                <a:latin typeface="Garet"/>
                <a:ea typeface="Garet"/>
                <a:cs typeface="Garet"/>
                <a:sym typeface="Garet"/>
              </a:rPr>
              <a:t>odeled star schema relationships (Many to One) and authored dynamic DAX measures for real-time interactive slicing and KPI tracking.</a:t>
            </a:r>
          </a:p>
        </p:txBody>
      </p:sp>
      <p:sp>
        <p:nvSpPr>
          <p:cNvPr id="10" name="TextBox 10"/>
          <p:cNvSpPr txBox="1"/>
          <p:nvPr/>
        </p:nvSpPr>
        <p:spPr>
          <a:xfrm>
            <a:off x="11067616" y="5067258"/>
            <a:ext cx="4197860" cy="855345"/>
          </a:xfrm>
          <a:prstGeom prst="rect">
            <a:avLst/>
          </a:prstGeom>
        </p:spPr>
        <p:txBody>
          <a:bodyPr lIns="0" tIns="0" rIns="0" bIns="0" rtlCol="0" anchor="t">
            <a:spAutoFit/>
          </a:bodyPr>
          <a:lstStyle/>
          <a:p>
            <a:pPr marL="0" lvl="0" indent="0" algn="ctr">
              <a:lnSpc>
                <a:spcPts val="3390"/>
              </a:lnSpc>
              <a:spcBef>
                <a:spcPct val="0"/>
              </a:spcBef>
            </a:pPr>
            <a:r>
              <a:rPr lang="en-US" sz="3000" b="1">
                <a:solidFill>
                  <a:srgbClr val="FFFFFF"/>
                </a:solidFill>
                <a:latin typeface="Garet Bold"/>
                <a:ea typeface="Garet Bold"/>
                <a:cs typeface="Garet Bold"/>
                <a:sym typeface="Garet Bold"/>
              </a:rPr>
              <a:t>Exploration &amp; Modeling (Power BI)</a:t>
            </a:r>
          </a:p>
        </p:txBody>
      </p:sp>
      <p:grpSp>
        <p:nvGrpSpPr>
          <p:cNvPr id="11" name="Group 11"/>
          <p:cNvGrpSpPr/>
          <p:nvPr/>
        </p:nvGrpSpPr>
        <p:grpSpPr>
          <a:xfrm rot="-2699999">
            <a:off x="-1934389" y="-747880"/>
            <a:ext cx="3868778" cy="3553160"/>
            <a:chOff x="0" y="0"/>
            <a:chExt cx="2679345" cy="2460762"/>
          </a:xfrm>
        </p:grpSpPr>
        <p:sp>
          <p:nvSpPr>
            <p:cNvPr id="12" name="Freeform 12"/>
            <p:cNvSpPr/>
            <p:nvPr/>
          </p:nvSpPr>
          <p:spPr>
            <a:xfrm>
              <a:off x="0" y="0"/>
              <a:ext cx="2679345" cy="2460762"/>
            </a:xfrm>
            <a:custGeom>
              <a:avLst/>
              <a:gdLst/>
              <a:ahLst/>
              <a:cxnLst/>
              <a:rect l="l" t="t" r="r" b="b"/>
              <a:pathLst>
                <a:path w="2679345" h="2460762">
                  <a:moveTo>
                    <a:pt x="0" y="0"/>
                  </a:moveTo>
                  <a:lnTo>
                    <a:pt x="2679345" y="0"/>
                  </a:lnTo>
                  <a:lnTo>
                    <a:pt x="2679345" y="2460762"/>
                  </a:lnTo>
                  <a:lnTo>
                    <a:pt x="0" y="2460762"/>
                  </a:lnTo>
                  <a:close/>
                </a:path>
              </a:pathLst>
            </a:custGeom>
            <a:solidFill>
              <a:srgbClr val="336699"/>
            </a:solidFill>
          </p:spPr>
          <p:txBody>
            <a:bodyPr/>
            <a:lstStyle/>
            <a:p>
              <a:endParaRPr lang="en-GB"/>
            </a:p>
          </p:txBody>
        </p:sp>
        <p:sp>
          <p:nvSpPr>
            <p:cNvPr id="13" name="TextBox 13"/>
            <p:cNvSpPr txBox="1"/>
            <p:nvPr/>
          </p:nvSpPr>
          <p:spPr>
            <a:xfrm>
              <a:off x="0" y="-38100"/>
              <a:ext cx="2679345" cy="2498862"/>
            </a:xfrm>
            <a:prstGeom prst="rect">
              <a:avLst/>
            </a:prstGeom>
          </p:spPr>
          <p:txBody>
            <a:bodyPr lIns="46654" tIns="46654" rIns="46654" bIns="46654" rtlCol="0" anchor="ctr"/>
            <a:lstStyle/>
            <a:p>
              <a:pPr algn="ctr">
                <a:lnSpc>
                  <a:spcPts val="1800"/>
                </a:lnSpc>
                <a:spcBef>
                  <a:spcPct val="0"/>
                </a:spcBef>
              </a:pPr>
              <a:endParaRPr/>
            </a:p>
          </p:txBody>
        </p:sp>
      </p:grpSp>
      <p:grpSp>
        <p:nvGrpSpPr>
          <p:cNvPr id="14" name="Group 14"/>
          <p:cNvGrpSpPr/>
          <p:nvPr/>
        </p:nvGrpSpPr>
        <p:grpSpPr>
          <a:xfrm rot="-2699999">
            <a:off x="16542837" y="1273066"/>
            <a:ext cx="3868778" cy="3553160"/>
            <a:chOff x="0" y="0"/>
            <a:chExt cx="2679345" cy="2460762"/>
          </a:xfrm>
        </p:grpSpPr>
        <p:sp>
          <p:nvSpPr>
            <p:cNvPr id="15" name="Freeform 15"/>
            <p:cNvSpPr/>
            <p:nvPr/>
          </p:nvSpPr>
          <p:spPr>
            <a:xfrm>
              <a:off x="0" y="0"/>
              <a:ext cx="2679345" cy="2460762"/>
            </a:xfrm>
            <a:custGeom>
              <a:avLst/>
              <a:gdLst/>
              <a:ahLst/>
              <a:cxnLst/>
              <a:rect l="l" t="t" r="r" b="b"/>
              <a:pathLst>
                <a:path w="2679345" h="2460762">
                  <a:moveTo>
                    <a:pt x="0" y="0"/>
                  </a:moveTo>
                  <a:lnTo>
                    <a:pt x="2679345" y="0"/>
                  </a:lnTo>
                  <a:lnTo>
                    <a:pt x="2679345" y="2460762"/>
                  </a:lnTo>
                  <a:lnTo>
                    <a:pt x="0" y="2460762"/>
                  </a:lnTo>
                  <a:close/>
                </a:path>
              </a:pathLst>
            </a:custGeom>
            <a:solidFill>
              <a:srgbClr val="000066"/>
            </a:solidFill>
          </p:spPr>
          <p:txBody>
            <a:bodyPr/>
            <a:lstStyle/>
            <a:p>
              <a:endParaRPr lang="en-GB"/>
            </a:p>
          </p:txBody>
        </p:sp>
        <p:sp>
          <p:nvSpPr>
            <p:cNvPr id="16" name="TextBox 16"/>
            <p:cNvSpPr txBox="1"/>
            <p:nvPr/>
          </p:nvSpPr>
          <p:spPr>
            <a:xfrm>
              <a:off x="0" y="-38100"/>
              <a:ext cx="2679345" cy="2498862"/>
            </a:xfrm>
            <a:prstGeom prst="rect">
              <a:avLst/>
            </a:prstGeom>
          </p:spPr>
          <p:txBody>
            <a:bodyPr lIns="46654" tIns="46654" rIns="46654" bIns="46654" rtlCol="0" anchor="ctr"/>
            <a:lstStyle/>
            <a:p>
              <a:pPr algn="ctr">
                <a:lnSpc>
                  <a:spcPts val="1800"/>
                </a:lnSpc>
                <a:spcBef>
                  <a:spcPct val="0"/>
                </a:spcBef>
              </a:pPr>
              <a:endParaRPr/>
            </a:p>
          </p:txBody>
        </p:sp>
      </p:grpSp>
      <p:grpSp>
        <p:nvGrpSpPr>
          <p:cNvPr id="17" name="Group 17"/>
          <p:cNvGrpSpPr/>
          <p:nvPr/>
        </p:nvGrpSpPr>
        <p:grpSpPr>
          <a:xfrm rot="-2699999">
            <a:off x="15004062" y="1282712"/>
            <a:ext cx="1545012" cy="1418968"/>
            <a:chOff x="0" y="0"/>
            <a:chExt cx="1070007" cy="982715"/>
          </a:xfrm>
        </p:grpSpPr>
        <p:sp>
          <p:nvSpPr>
            <p:cNvPr id="18" name="Freeform 18"/>
            <p:cNvSpPr/>
            <p:nvPr/>
          </p:nvSpPr>
          <p:spPr>
            <a:xfrm>
              <a:off x="0" y="0"/>
              <a:ext cx="1070007" cy="982715"/>
            </a:xfrm>
            <a:custGeom>
              <a:avLst/>
              <a:gdLst/>
              <a:ahLst/>
              <a:cxnLst/>
              <a:rect l="l" t="t" r="r" b="b"/>
              <a:pathLst>
                <a:path w="1070007" h="982715">
                  <a:moveTo>
                    <a:pt x="0" y="0"/>
                  </a:moveTo>
                  <a:lnTo>
                    <a:pt x="1070007" y="0"/>
                  </a:lnTo>
                  <a:lnTo>
                    <a:pt x="1070007" y="982715"/>
                  </a:lnTo>
                  <a:lnTo>
                    <a:pt x="0" y="982715"/>
                  </a:lnTo>
                  <a:close/>
                </a:path>
              </a:pathLst>
            </a:custGeom>
            <a:solidFill>
              <a:srgbClr val="336699"/>
            </a:solidFill>
          </p:spPr>
          <p:txBody>
            <a:bodyPr/>
            <a:lstStyle/>
            <a:p>
              <a:endParaRPr lang="en-GB"/>
            </a:p>
          </p:txBody>
        </p:sp>
        <p:sp>
          <p:nvSpPr>
            <p:cNvPr id="19" name="TextBox 19"/>
            <p:cNvSpPr txBox="1"/>
            <p:nvPr/>
          </p:nvSpPr>
          <p:spPr>
            <a:xfrm>
              <a:off x="0" y="-38100"/>
              <a:ext cx="1070007" cy="1020815"/>
            </a:xfrm>
            <a:prstGeom prst="rect">
              <a:avLst/>
            </a:prstGeom>
          </p:spPr>
          <p:txBody>
            <a:bodyPr lIns="46654" tIns="46654" rIns="46654" bIns="46654" rtlCol="0" anchor="ctr"/>
            <a:lstStyle/>
            <a:p>
              <a:pPr algn="ctr">
                <a:lnSpc>
                  <a:spcPts val="1800"/>
                </a:lnSpc>
                <a:spcBef>
                  <a:spcPct val="0"/>
                </a:spcBef>
              </a:pPr>
              <a:endParaRPr/>
            </a:p>
          </p:txBody>
        </p:sp>
      </p:grpSp>
      <p:grpSp>
        <p:nvGrpSpPr>
          <p:cNvPr id="20" name="Group 20"/>
          <p:cNvGrpSpPr/>
          <p:nvPr/>
        </p:nvGrpSpPr>
        <p:grpSpPr>
          <a:xfrm rot="-2699999">
            <a:off x="2168435" y="1098230"/>
            <a:ext cx="1967492" cy="1806982"/>
            <a:chOff x="0" y="0"/>
            <a:chExt cx="1362598" cy="1251436"/>
          </a:xfrm>
        </p:grpSpPr>
        <p:sp>
          <p:nvSpPr>
            <p:cNvPr id="21" name="Freeform 21"/>
            <p:cNvSpPr/>
            <p:nvPr/>
          </p:nvSpPr>
          <p:spPr>
            <a:xfrm>
              <a:off x="0" y="0"/>
              <a:ext cx="1362598" cy="1251436"/>
            </a:xfrm>
            <a:custGeom>
              <a:avLst/>
              <a:gdLst/>
              <a:ahLst/>
              <a:cxnLst/>
              <a:rect l="l" t="t" r="r" b="b"/>
              <a:pathLst>
                <a:path w="1362598" h="1251436">
                  <a:moveTo>
                    <a:pt x="0" y="0"/>
                  </a:moveTo>
                  <a:lnTo>
                    <a:pt x="1362598" y="0"/>
                  </a:lnTo>
                  <a:lnTo>
                    <a:pt x="1362598" y="1251436"/>
                  </a:lnTo>
                  <a:lnTo>
                    <a:pt x="0" y="1251436"/>
                  </a:lnTo>
                  <a:close/>
                </a:path>
              </a:pathLst>
            </a:custGeom>
            <a:solidFill>
              <a:srgbClr val="6699FF"/>
            </a:solidFill>
          </p:spPr>
          <p:txBody>
            <a:bodyPr/>
            <a:lstStyle/>
            <a:p>
              <a:endParaRPr lang="en-GB"/>
            </a:p>
          </p:txBody>
        </p:sp>
        <p:sp>
          <p:nvSpPr>
            <p:cNvPr id="22" name="TextBox 22"/>
            <p:cNvSpPr txBox="1"/>
            <p:nvPr/>
          </p:nvSpPr>
          <p:spPr>
            <a:xfrm>
              <a:off x="0" y="-38100"/>
              <a:ext cx="1362598" cy="1289536"/>
            </a:xfrm>
            <a:prstGeom prst="rect">
              <a:avLst/>
            </a:prstGeom>
          </p:spPr>
          <p:txBody>
            <a:bodyPr lIns="46654" tIns="46654" rIns="46654" bIns="46654" rtlCol="0" anchor="ctr"/>
            <a:lstStyle/>
            <a:p>
              <a:pPr algn="ctr">
                <a:lnSpc>
                  <a:spcPts val="1800"/>
                </a:lnSpc>
                <a:spcBef>
                  <a:spcPct val="0"/>
                </a:spcBef>
              </a:pPr>
              <a:endParaRPr/>
            </a:p>
          </p:txBody>
        </p:sp>
      </p:grpSp>
      <p:grpSp>
        <p:nvGrpSpPr>
          <p:cNvPr id="23" name="Group 23"/>
          <p:cNvGrpSpPr/>
          <p:nvPr/>
        </p:nvGrpSpPr>
        <p:grpSpPr>
          <a:xfrm>
            <a:off x="2244727" y="4484290"/>
            <a:ext cx="5220044" cy="4774010"/>
            <a:chOff x="0" y="0"/>
            <a:chExt cx="1374826" cy="1257352"/>
          </a:xfrm>
        </p:grpSpPr>
        <p:sp>
          <p:nvSpPr>
            <p:cNvPr id="24" name="Freeform 24"/>
            <p:cNvSpPr/>
            <p:nvPr/>
          </p:nvSpPr>
          <p:spPr>
            <a:xfrm>
              <a:off x="0" y="0"/>
              <a:ext cx="1374826" cy="1257352"/>
            </a:xfrm>
            <a:custGeom>
              <a:avLst/>
              <a:gdLst/>
              <a:ahLst/>
              <a:cxnLst/>
              <a:rect l="l" t="t" r="r" b="b"/>
              <a:pathLst>
                <a:path w="1374826" h="1257352">
                  <a:moveTo>
                    <a:pt x="0" y="0"/>
                  </a:moveTo>
                  <a:lnTo>
                    <a:pt x="1374826" y="0"/>
                  </a:lnTo>
                  <a:lnTo>
                    <a:pt x="1374826" y="1257352"/>
                  </a:lnTo>
                  <a:lnTo>
                    <a:pt x="0" y="1257352"/>
                  </a:lnTo>
                  <a:close/>
                </a:path>
              </a:pathLst>
            </a:custGeom>
            <a:solidFill>
              <a:srgbClr val="000066"/>
            </a:solidFill>
          </p:spPr>
          <p:txBody>
            <a:bodyPr/>
            <a:lstStyle/>
            <a:p>
              <a:endParaRPr lang="en-GB"/>
            </a:p>
          </p:txBody>
        </p:sp>
        <p:sp>
          <p:nvSpPr>
            <p:cNvPr id="25" name="TextBox 25"/>
            <p:cNvSpPr txBox="1"/>
            <p:nvPr/>
          </p:nvSpPr>
          <p:spPr>
            <a:xfrm>
              <a:off x="0" y="-38100"/>
              <a:ext cx="1374826" cy="1295452"/>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2755819" y="6673846"/>
            <a:ext cx="4197860" cy="1944497"/>
          </a:xfrm>
          <a:prstGeom prst="rect">
            <a:avLst/>
          </a:prstGeom>
        </p:spPr>
        <p:txBody>
          <a:bodyPr lIns="0" tIns="0" rIns="0" bIns="0" rtlCol="0" anchor="t">
            <a:spAutoFit/>
          </a:bodyPr>
          <a:lstStyle/>
          <a:p>
            <a:pPr marL="0" lvl="0" indent="0" algn="ctr">
              <a:lnSpc>
                <a:spcPts val="2599"/>
              </a:lnSpc>
              <a:spcBef>
                <a:spcPct val="0"/>
              </a:spcBef>
            </a:pPr>
            <a:r>
              <a:rPr lang="en-US" sz="2300">
                <a:solidFill>
                  <a:srgbClr val="FFFFFF"/>
                </a:solidFill>
                <a:latin typeface="Garet"/>
                <a:ea typeface="Garet"/>
                <a:cs typeface="Garet"/>
                <a:sym typeface="Garet"/>
              </a:rPr>
              <a:t>Han</a:t>
            </a:r>
            <a:r>
              <a:rPr lang="en-US" sz="2300" u="none" strike="noStrike">
                <a:solidFill>
                  <a:srgbClr val="FFFFFF"/>
                </a:solidFill>
                <a:latin typeface="Garet"/>
                <a:ea typeface="Garet"/>
                <a:cs typeface="Garet"/>
                <a:sym typeface="Garet"/>
              </a:rPr>
              <a:t>dled heavy data manipulation operations, deduplications and view aggregations in SQL Server to optimize memory efficiency.</a:t>
            </a:r>
          </a:p>
        </p:txBody>
      </p:sp>
      <p:sp>
        <p:nvSpPr>
          <p:cNvPr id="27" name="TextBox 27"/>
          <p:cNvSpPr txBox="1"/>
          <p:nvPr/>
        </p:nvSpPr>
        <p:spPr>
          <a:xfrm>
            <a:off x="2755819" y="5067258"/>
            <a:ext cx="4197860" cy="855345"/>
          </a:xfrm>
          <a:prstGeom prst="rect">
            <a:avLst/>
          </a:prstGeom>
        </p:spPr>
        <p:txBody>
          <a:bodyPr lIns="0" tIns="0" rIns="0" bIns="0" rtlCol="0" anchor="t">
            <a:spAutoFit/>
          </a:bodyPr>
          <a:lstStyle/>
          <a:p>
            <a:pPr marL="0" lvl="0" indent="0" algn="ctr">
              <a:lnSpc>
                <a:spcPts val="3390"/>
              </a:lnSpc>
              <a:spcBef>
                <a:spcPct val="0"/>
              </a:spcBef>
            </a:pPr>
            <a:r>
              <a:rPr lang="en-US" sz="3000" b="1">
                <a:solidFill>
                  <a:srgbClr val="FFFFFF"/>
                </a:solidFill>
                <a:latin typeface="Garet Bold"/>
                <a:ea typeface="Garet Bold"/>
                <a:cs typeface="Garet Bold"/>
                <a:sym typeface="Garet Bold"/>
              </a:rPr>
              <a:t>Data Extraction &amp; Aggregation (SQL)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699FF"/>
        </a:solidFill>
        <a:effectLst/>
      </p:bgPr>
    </p:bg>
    <p:spTree>
      <p:nvGrpSpPr>
        <p:cNvPr id="1" name=""/>
        <p:cNvGrpSpPr/>
        <p:nvPr/>
      </p:nvGrpSpPr>
      <p:grpSpPr>
        <a:xfrm>
          <a:off x="0" y="0"/>
          <a:ext cx="0" cy="0"/>
          <a:chOff x="0" y="0"/>
          <a:chExt cx="0" cy="0"/>
        </a:xfrm>
      </p:grpSpPr>
      <p:grpSp>
        <p:nvGrpSpPr>
          <p:cNvPr id="2" name="Group 2"/>
          <p:cNvGrpSpPr/>
          <p:nvPr/>
        </p:nvGrpSpPr>
        <p:grpSpPr>
          <a:xfrm>
            <a:off x="188797" y="203992"/>
            <a:ext cx="17910406" cy="9879016"/>
            <a:chOff x="0" y="0"/>
            <a:chExt cx="4717144" cy="2601881"/>
          </a:xfrm>
        </p:grpSpPr>
        <p:sp>
          <p:nvSpPr>
            <p:cNvPr id="3" name="Freeform 3"/>
            <p:cNvSpPr/>
            <p:nvPr/>
          </p:nvSpPr>
          <p:spPr>
            <a:xfrm>
              <a:off x="0" y="0"/>
              <a:ext cx="4717144" cy="2601881"/>
            </a:xfrm>
            <a:custGeom>
              <a:avLst/>
              <a:gdLst/>
              <a:ahLst/>
              <a:cxnLst/>
              <a:rect l="l" t="t" r="r" b="b"/>
              <a:pathLst>
                <a:path w="4717144" h="2601881">
                  <a:moveTo>
                    <a:pt x="0" y="0"/>
                  </a:moveTo>
                  <a:lnTo>
                    <a:pt x="4717144" y="0"/>
                  </a:lnTo>
                  <a:lnTo>
                    <a:pt x="4717144" y="2601881"/>
                  </a:lnTo>
                  <a:lnTo>
                    <a:pt x="0" y="2601881"/>
                  </a:lnTo>
                  <a:close/>
                </a:path>
              </a:pathLst>
            </a:custGeom>
            <a:solidFill>
              <a:srgbClr val="FFFFFF"/>
            </a:solidFill>
          </p:spPr>
          <p:txBody>
            <a:bodyPr/>
            <a:lstStyle/>
            <a:p>
              <a:endParaRPr lang="en-GB"/>
            </a:p>
          </p:txBody>
        </p:sp>
        <p:sp>
          <p:nvSpPr>
            <p:cNvPr id="4" name="TextBox 4"/>
            <p:cNvSpPr txBox="1"/>
            <p:nvPr/>
          </p:nvSpPr>
          <p:spPr>
            <a:xfrm>
              <a:off x="0" y="-38100"/>
              <a:ext cx="4717144" cy="2639981"/>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028700" y="1181100"/>
            <a:ext cx="16230600" cy="760095"/>
          </a:xfrm>
          <a:prstGeom prst="rect">
            <a:avLst/>
          </a:prstGeom>
        </p:spPr>
        <p:txBody>
          <a:bodyPr lIns="0" tIns="0" rIns="0" bIns="0" rtlCol="0" anchor="t">
            <a:spAutoFit/>
          </a:bodyPr>
          <a:lstStyle/>
          <a:p>
            <a:pPr marL="0" lvl="0" indent="0" algn="ctr">
              <a:lnSpc>
                <a:spcPts val="5640"/>
              </a:lnSpc>
              <a:spcBef>
                <a:spcPct val="0"/>
              </a:spcBef>
            </a:pPr>
            <a:r>
              <a:rPr lang="en-US" sz="6000" b="1">
                <a:solidFill>
                  <a:srgbClr val="000066"/>
                </a:solidFill>
                <a:latin typeface="Garet Bold"/>
                <a:ea typeface="Garet Bold"/>
                <a:cs typeface="Garet Bold"/>
                <a:sym typeface="Garet Bold"/>
              </a:rPr>
              <a:t>Business Insights</a:t>
            </a:r>
          </a:p>
        </p:txBody>
      </p:sp>
      <p:grpSp>
        <p:nvGrpSpPr>
          <p:cNvPr id="6" name="Group 6"/>
          <p:cNvGrpSpPr/>
          <p:nvPr/>
        </p:nvGrpSpPr>
        <p:grpSpPr>
          <a:xfrm rot="-2699999">
            <a:off x="16940536" y="7527576"/>
            <a:ext cx="4066725" cy="3734959"/>
            <a:chOff x="0" y="0"/>
            <a:chExt cx="2816434" cy="2586668"/>
          </a:xfrm>
        </p:grpSpPr>
        <p:sp>
          <p:nvSpPr>
            <p:cNvPr id="7" name="Freeform 7"/>
            <p:cNvSpPr/>
            <p:nvPr/>
          </p:nvSpPr>
          <p:spPr>
            <a:xfrm>
              <a:off x="0" y="0"/>
              <a:ext cx="2816434" cy="2586668"/>
            </a:xfrm>
            <a:custGeom>
              <a:avLst/>
              <a:gdLst/>
              <a:ahLst/>
              <a:cxnLst/>
              <a:rect l="l" t="t" r="r" b="b"/>
              <a:pathLst>
                <a:path w="2816434" h="2586668">
                  <a:moveTo>
                    <a:pt x="0" y="0"/>
                  </a:moveTo>
                  <a:lnTo>
                    <a:pt x="2816434" y="0"/>
                  </a:lnTo>
                  <a:lnTo>
                    <a:pt x="2816434" y="2586668"/>
                  </a:lnTo>
                  <a:lnTo>
                    <a:pt x="0" y="2586668"/>
                  </a:lnTo>
                  <a:close/>
                </a:path>
              </a:pathLst>
            </a:custGeom>
            <a:solidFill>
              <a:srgbClr val="000066"/>
            </a:solidFill>
          </p:spPr>
          <p:txBody>
            <a:bodyPr/>
            <a:lstStyle/>
            <a:p>
              <a:endParaRPr lang="en-GB"/>
            </a:p>
          </p:txBody>
        </p:sp>
        <p:sp>
          <p:nvSpPr>
            <p:cNvPr id="8" name="TextBox 8"/>
            <p:cNvSpPr txBox="1"/>
            <p:nvPr/>
          </p:nvSpPr>
          <p:spPr>
            <a:xfrm>
              <a:off x="0" y="-38100"/>
              <a:ext cx="2816434" cy="2624768"/>
            </a:xfrm>
            <a:prstGeom prst="rect">
              <a:avLst/>
            </a:prstGeom>
          </p:spPr>
          <p:txBody>
            <a:bodyPr lIns="46654" tIns="46654" rIns="46654" bIns="46654" rtlCol="0" anchor="ctr"/>
            <a:lstStyle/>
            <a:p>
              <a:pPr algn="ctr">
                <a:lnSpc>
                  <a:spcPts val="1800"/>
                </a:lnSpc>
                <a:spcBef>
                  <a:spcPct val="0"/>
                </a:spcBef>
              </a:pPr>
              <a:endParaRPr/>
            </a:p>
          </p:txBody>
        </p:sp>
      </p:grpSp>
      <p:grpSp>
        <p:nvGrpSpPr>
          <p:cNvPr id="9" name="Group 9"/>
          <p:cNvGrpSpPr/>
          <p:nvPr/>
        </p:nvGrpSpPr>
        <p:grpSpPr>
          <a:xfrm rot="-2699999">
            <a:off x="-2033362" y="-643107"/>
            <a:ext cx="4066725" cy="3734959"/>
            <a:chOff x="0" y="0"/>
            <a:chExt cx="2816434" cy="2586668"/>
          </a:xfrm>
        </p:grpSpPr>
        <p:sp>
          <p:nvSpPr>
            <p:cNvPr id="10" name="Freeform 10"/>
            <p:cNvSpPr/>
            <p:nvPr/>
          </p:nvSpPr>
          <p:spPr>
            <a:xfrm>
              <a:off x="0" y="0"/>
              <a:ext cx="2816434" cy="2586668"/>
            </a:xfrm>
            <a:custGeom>
              <a:avLst/>
              <a:gdLst/>
              <a:ahLst/>
              <a:cxnLst/>
              <a:rect l="l" t="t" r="r" b="b"/>
              <a:pathLst>
                <a:path w="2816434" h="2586668">
                  <a:moveTo>
                    <a:pt x="0" y="0"/>
                  </a:moveTo>
                  <a:lnTo>
                    <a:pt x="2816434" y="0"/>
                  </a:lnTo>
                  <a:lnTo>
                    <a:pt x="2816434" y="2586668"/>
                  </a:lnTo>
                  <a:lnTo>
                    <a:pt x="0" y="2586668"/>
                  </a:lnTo>
                  <a:close/>
                </a:path>
              </a:pathLst>
            </a:custGeom>
            <a:solidFill>
              <a:srgbClr val="6699FF"/>
            </a:solidFill>
          </p:spPr>
          <p:txBody>
            <a:bodyPr/>
            <a:lstStyle/>
            <a:p>
              <a:endParaRPr lang="en-GB"/>
            </a:p>
          </p:txBody>
        </p:sp>
        <p:sp>
          <p:nvSpPr>
            <p:cNvPr id="11" name="TextBox 11"/>
            <p:cNvSpPr txBox="1"/>
            <p:nvPr/>
          </p:nvSpPr>
          <p:spPr>
            <a:xfrm>
              <a:off x="0" y="-38100"/>
              <a:ext cx="2816434" cy="2624768"/>
            </a:xfrm>
            <a:prstGeom prst="rect">
              <a:avLst/>
            </a:prstGeom>
          </p:spPr>
          <p:txBody>
            <a:bodyPr lIns="46654" tIns="46654" rIns="46654" bIns="46654" rtlCol="0" anchor="ctr"/>
            <a:lstStyle/>
            <a:p>
              <a:pPr algn="ctr">
                <a:lnSpc>
                  <a:spcPts val="1800"/>
                </a:lnSpc>
                <a:spcBef>
                  <a:spcPct val="0"/>
                </a:spcBef>
              </a:pPr>
              <a:endParaRPr/>
            </a:p>
          </p:txBody>
        </p:sp>
      </p:grpSp>
      <p:grpSp>
        <p:nvGrpSpPr>
          <p:cNvPr id="12" name="Group 12"/>
          <p:cNvGrpSpPr/>
          <p:nvPr/>
        </p:nvGrpSpPr>
        <p:grpSpPr>
          <a:xfrm rot="-2699999">
            <a:off x="2357437" y="-973775"/>
            <a:ext cx="1932482" cy="1774829"/>
            <a:chOff x="0" y="0"/>
            <a:chExt cx="1338352" cy="1229168"/>
          </a:xfrm>
        </p:grpSpPr>
        <p:sp>
          <p:nvSpPr>
            <p:cNvPr id="13" name="Freeform 13"/>
            <p:cNvSpPr/>
            <p:nvPr/>
          </p:nvSpPr>
          <p:spPr>
            <a:xfrm>
              <a:off x="0" y="0"/>
              <a:ext cx="1338352" cy="1229168"/>
            </a:xfrm>
            <a:custGeom>
              <a:avLst/>
              <a:gdLst/>
              <a:ahLst/>
              <a:cxnLst/>
              <a:rect l="l" t="t" r="r" b="b"/>
              <a:pathLst>
                <a:path w="1338352" h="1229168">
                  <a:moveTo>
                    <a:pt x="0" y="0"/>
                  </a:moveTo>
                  <a:lnTo>
                    <a:pt x="1338352" y="0"/>
                  </a:lnTo>
                  <a:lnTo>
                    <a:pt x="1338352" y="1229168"/>
                  </a:lnTo>
                  <a:lnTo>
                    <a:pt x="0" y="1229168"/>
                  </a:lnTo>
                  <a:close/>
                </a:path>
              </a:pathLst>
            </a:custGeom>
            <a:solidFill>
              <a:srgbClr val="336699"/>
            </a:solidFill>
          </p:spPr>
          <p:txBody>
            <a:bodyPr/>
            <a:lstStyle/>
            <a:p>
              <a:endParaRPr lang="en-GB"/>
            </a:p>
          </p:txBody>
        </p:sp>
        <p:sp>
          <p:nvSpPr>
            <p:cNvPr id="14" name="TextBox 14"/>
            <p:cNvSpPr txBox="1"/>
            <p:nvPr/>
          </p:nvSpPr>
          <p:spPr>
            <a:xfrm>
              <a:off x="0" y="-38100"/>
              <a:ext cx="1338352" cy="1267268"/>
            </a:xfrm>
            <a:prstGeom prst="rect">
              <a:avLst/>
            </a:prstGeom>
          </p:spPr>
          <p:txBody>
            <a:bodyPr lIns="46654" tIns="46654" rIns="46654" bIns="46654" rtlCol="0" anchor="ctr"/>
            <a:lstStyle/>
            <a:p>
              <a:pPr algn="ctr">
                <a:lnSpc>
                  <a:spcPts val="1800"/>
                </a:lnSpc>
                <a:spcBef>
                  <a:spcPct val="0"/>
                </a:spcBef>
              </a:pPr>
              <a:endParaRPr/>
            </a:p>
          </p:txBody>
        </p:sp>
      </p:grpSp>
      <p:sp>
        <p:nvSpPr>
          <p:cNvPr id="15" name="Freeform 15"/>
          <p:cNvSpPr/>
          <p:nvPr/>
        </p:nvSpPr>
        <p:spPr>
          <a:xfrm>
            <a:off x="1028700" y="3809874"/>
            <a:ext cx="8795174" cy="5448426"/>
          </a:xfrm>
          <a:custGeom>
            <a:avLst/>
            <a:gdLst/>
            <a:ahLst/>
            <a:cxnLst/>
            <a:rect l="l" t="t" r="r" b="b"/>
            <a:pathLst>
              <a:path w="8795174" h="5448426">
                <a:moveTo>
                  <a:pt x="0" y="0"/>
                </a:moveTo>
                <a:lnTo>
                  <a:pt x="8795174" y="0"/>
                </a:lnTo>
                <a:lnTo>
                  <a:pt x="8795174" y="5448426"/>
                </a:lnTo>
                <a:lnTo>
                  <a:pt x="0" y="5448426"/>
                </a:lnTo>
                <a:lnTo>
                  <a:pt x="0" y="0"/>
                </a:lnTo>
                <a:close/>
              </a:path>
            </a:pathLst>
          </a:custGeom>
          <a:blipFill>
            <a:blip r:embed="rId2"/>
            <a:stretch>
              <a:fillRect/>
            </a:stretch>
          </a:blipFill>
        </p:spPr>
        <p:txBody>
          <a:bodyPr/>
          <a:lstStyle/>
          <a:p>
            <a:endParaRPr lang="en-GB"/>
          </a:p>
        </p:txBody>
      </p:sp>
      <p:sp>
        <p:nvSpPr>
          <p:cNvPr id="17" name="TextBox 17"/>
          <p:cNvSpPr txBox="1"/>
          <p:nvPr/>
        </p:nvSpPr>
        <p:spPr>
          <a:xfrm>
            <a:off x="1028700" y="2283943"/>
            <a:ext cx="16230600" cy="1044575"/>
          </a:xfrm>
          <a:prstGeom prst="rect">
            <a:avLst/>
          </a:prstGeom>
        </p:spPr>
        <p:txBody>
          <a:bodyPr lIns="0" tIns="0" rIns="0" bIns="0" rtlCol="0" anchor="t">
            <a:spAutoFit/>
          </a:bodyPr>
          <a:lstStyle/>
          <a:p>
            <a:pPr algn="ctr">
              <a:lnSpc>
                <a:spcPts val="2800"/>
              </a:lnSpc>
            </a:pPr>
            <a:r>
              <a:rPr lang="en-US" sz="2000">
                <a:solidFill>
                  <a:srgbClr val="000066"/>
                </a:solidFill>
                <a:latin typeface="Garet"/>
                <a:ea typeface="Garet"/>
                <a:cs typeface="Garet"/>
                <a:sym typeface="Garet"/>
              </a:rPr>
              <a:t>The most active state by transaction volume is state 9, which outpreforms every other state by a large margin with 8.2M transactions, which is roughly 4 times more than the second most active state, 24 (2.4M transactions). City 69 performs the best by far within State 9 (3,770,441 transactions). This suggests market penetration in state 9 is the most effective overall.</a:t>
            </a:r>
          </a:p>
        </p:txBody>
      </p:sp>
      <p:pic>
        <p:nvPicPr>
          <p:cNvPr id="19" name="Picture 18">
            <a:extLst>
              <a:ext uri="{FF2B5EF4-FFF2-40B4-BE49-F238E27FC236}">
                <a16:creationId xmlns:a16="http://schemas.microsoft.com/office/drawing/2014/main" id="{AA32CC99-7B49-7261-4283-0BB442B9C32B}"/>
              </a:ext>
            </a:extLst>
          </p:cNvPr>
          <p:cNvPicPr>
            <a:picLocks noChangeAspect="1"/>
          </p:cNvPicPr>
          <p:nvPr/>
        </p:nvPicPr>
        <p:blipFill>
          <a:blip r:embed="rId3"/>
          <a:stretch>
            <a:fillRect/>
          </a:stretch>
        </p:blipFill>
        <p:spPr>
          <a:xfrm>
            <a:off x="10178200" y="3809874"/>
            <a:ext cx="7142755" cy="544842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699FF"/>
        </a:solidFill>
        <a:effectLst/>
      </p:bgPr>
    </p:bg>
    <p:spTree>
      <p:nvGrpSpPr>
        <p:cNvPr id="1" name=""/>
        <p:cNvGrpSpPr/>
        <p:nvPr/>
      </p:nvGrpSpPr>
      <p:grpSpPr>
        <a:xfrm>
          <a:off x="0" y="0"/>
          <a:ext cx="0" cy="0"/>
          <a:chOff x="0" y="0"/>
          <a:chExt cx="0" cy="0"/>
        </a:xfrm>
      </p:grpSpPr>
      <p:grpSp>
        <p:nvGrpSpPr>
          <p:cNvPr id="2" name="Group 2"/>
          <p:cNvGrpSpPr/>
          <p:nvPr/>
        </p:nvGrpSpPr>
        <p:grpSpPr>
          <a:xfrm>
            <a:off x="188797" y="203992"/>
            <a:ext cx="17910406" cy="9879016"/>
            <a:chOff x="0" y="0"/>
            <a:chExt cx="4717144" cy="2601881"/>
          </a:xfrm>
        </p:grpSpPr>
        <p:sp>
          <p:nvSpPr>
            <p:cNvPr id="3" name="Freeform 3"/>
            <p:cNvSpPr/>
            <p:nvPr/>
          </p:nvSpPr>
          <p:spPr>
            <a:xfrm>
              <a:off x="0" y="0"/>
              <a:ext cx="4717144" cy="2601881"/>
            </a:xfrm>
            <a:custGeom>
              <a:avLst/>
              <a:gdLst/>
              <a:ahLst/>
              <a:cxnLst/>
              <a:rect l="l" t="t" r="r" b="b"/>
              <a:pathLst>
                <a:path w="4717144" h="2601881">
                  <a:moveTo>
                    <a:pt x="0" y="0"/>
                  </a:moveTo>
                  <a:lnTo>
                    <a:pt x="4717144" y="0"/>
                  </a:lnTo>
                  <a:lnTo>
                    <a:pt x="4717144" y="2601881"/>
                  </a:lnTo>
                  <a:lnTo>
                    <a:pt x="0" y="2601881"/>
                  </a:lnTo>
                  <a:close/>
                </a:path>
              </a:pathLst>
            </a:custGeom>
            <a:solidFill>
              <a:srgbClr val="FFFFFF"/>
            </a:solidFill>
          </p:spPr>
          <p:txBody>
            <a:bodyPr/>
            <a:lstStyle/>
            <a:p>
              <a:endParaRPr lang="en-GB"/>
            </a:p>
          </p:txBody>
        </p:sp>
        <p:sp>
          <p:nvSpPr>
            <p:cNvPr id="4" name="TextBox 4"/>
            <p:cNvSpPr txBox="1"/>
            <p:nvPr/>
          </p:nvSpPr>
          <p:spPr>
            <a:xfrm>
              <a:off x="0" y="-38100"/>
              <a:ext cx="4717144" cy="2639981"/>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028700" y="1181100"/>
            <a:ext cx="16230600" cy="760095"/>
          </a:xfrm>
          <a:prstGeom prst="rect">
            <a:avLst/>
          </a:prstGeom>
        </p:spPr>
        <p:txBody>
          <a:bodyPr lIns="0" tIns="0" rIns="0" bIns="0" rtlCol="0" anchor="t">
            <a:spAutoFit/>
          </a:bodyPr>
          <a:lstStyle/>
          <a:p>
            <a:pPr marL="0" lvl="0" indent="0" algn="ctr">
              <a:lnSpc>
                <a:spcPts val="5640"/>
              </a:lnSpc>
              <a:spcBef>
                <a:spcPct val="0"/>
              </a:spcBef>
            </a:pPr>
            <a:r>
              <a:rPr lang="en-US" sz="6000" b="1">
                <a:solidFill>
                  <a:srgbClr val="000066"/>
                </a:solidFill>
                <a:latin typeface="Garet Bold"/>
                <a:ea typeface="Garet Bold"/>
                <a:cs typeface="Garet Bold"/>
                <a:sym typeface="Garet Bold"/>
              </a:rPr>
              <a:t>Business Insights</a:t>
            </a:r>
          </a:p>
        </p:txBody>
      </p:sp>
      <p:grpSp>
        <p:nvGrpSpPr>
          <p:cNvPr id="6" name="Group 6"/>
          <p:cNvGrpSpPr/>
          <p:nvPr/>
        </p:nvGrpSpPr>
        <p:grpSpPr>
          <a:xfrm rot="-2699999">
            <a:off x="16940536" y="7527576"/>
            <a:ext cx="4066725" cy="3734959"/>
            <a:chOff x="0" y="0"/>
            <a:chExt cx="2816434" cy="2586668"/>
          </a:xfrm>
        </p:grpSpPr>
        <p:sp>
          <p:nvSpPr>
            <p:cNvPr id="7" name="Freeform 7"/>
            <p:cNvSpPr/>
            <p:nvPr/>
          </p:nvSpPr>
          <p:spPr>
            <a:xfrm>
              <a:off x="0" y="0"/>
              <a:ext cx="2816434" cy="2586668"/>
            </a:xfrm>
            <a:custGeom>
              <a:avLst/>
              <a:gdLst/>
              <a:ahLst/>
              <a:cxnLst/>
              <a:rect l="l" t="t" r="r" b="b"/>
              <a:pathLst>
                <a:path w="2816434" h="2586668">
                  <a:moveTo>
                    <a:pt x="0" y="0"/>
                  </a:moveTo>
                  <a:lnTo>
                    <a:pt x="2816434" y="0"/>
                  </a:lnTo>
                  <a:lnTo>
                    <a:pt x="2816434" y="2586668"/>
                  </a:lnTo>
                  <a:lnTo>
                    <a:pt x="0" y="2586668"/>
                  </a:lnTo>
                  <a:close/>
                </a:path>
              </a:pathLst>
            </a:custGeom>
            <a:solidFill>
              <a:srgbClr val="000066"/>
            </a:solidFill>
          </p:spPr>
          <p:txBody>
            <a:bodyPr/>
            <a:lstStyle/>
            <a:p>
              <a:endParaRPr lang="en-GB"/>
            </a:p>
          </p:txBody>
        </p:sp>
        <p:sp>
          <p:nvSpPr>
            <p:cNvPr id="8" name="TextBox 8"/>
            <p:cNvSpPr txBox="1"/>
            <p:nvPr/>
          </p:nvSpPr>
          <p:spPr>
            <a:xfrm>
              <a:off x="0" y="-38100"/>
              <a:ext cx="2816434" cy="2624768"/>
            </a:xfrm>
            <a:prstGeom prst="rect">
              <a:avLst/>
            </a:prstGeom>
          </p:spPr>
          <p:txBody>
            <a:bodyPr lIns="46654" tIns="46654" rIns="46654" bIns="46654" rtlCol="0" anchor="ctr"/>
            <a:lstStyle/>
            <a:p>
              <a:pPr algn="ctr">
                <a:lnSpc>
                  <a:spcPts val="1800"/>
                </a:lnSpc>
                <a:spcBef>
                  <a:spcPct val="0"/>
                </a:spcBef>
              </a:pPr>
              <a:endParaRPr/>
            </a:p>
          </p:txBody>
        </p:sp>
      </p:grpSp>
      <p:grpSp>
        <p:nvGrpSpPr>
          <p:cNvPr id="9" name="Group 9"/>
          <p:cNvGrpSpPr/>
          <p:nvPr/>
        </p:nvGrpSpPr>
        <p:grpSpPr>
          <a:xfrm rot="-2699999">
            <a:off x="-2033362" y="-643107"/>
            <a:ext cx="4066725" cy="3734959"/>
            <a:chOff x="0" y="0"/>
            <a:chExt cx="2816434" cy="2586668"/>
          </a:xfrm>
        </p:grpSpPr>
        <p:sp>
          <p:nvSpPr>
            <p:cNvPr id="10" name="Freeform 10"/>
            <p:cNvSpPr/>
            <p:nvPr/>
          </p:nvSpPr>
          <p:spPr>
            <a:xfrm>
              <a:off x="0" y="0"/>
              <a:ext cx="2816434" cy="2586668"/>
            </a:xfrm>
            <a:custGeom>
              <a:avLst/>
              <a:gdLst/>
              <a:ahLst/>
              <a:cxnLst/>
              <a:rect l="l" t="t" r="r" b="b"/>
              <a:pathLst>
                <a:path w="2816434" h="2586668">
                  <a:moveTo>
                    <a:pt x="0" y="0"/>
                  </a:moveTo>
                  <a:lnTo>
                    <a:pt x="2816434" y="0"/>
                  </a:lnTo>
                  <a:lnTo>
                    <a:pt x="2816434" y="2586668"/>
                  </a:lnTo>
                  <a:lnTo>
                    <a:pt x="0" y="2586668"/>
                  </a:lnTo>
                  <a:close/>
                </a:path>
              </a:pathLst>
            </a:custGeom>
            <a:solidFill>
              <a:srgbClr val="6699FF"/>
            </a:solidFill>
          </p:spPr>
          <p:txBody>
            <a:bodyPr/>
            <a:lstStyle/>
            <a:p>
              <a:endParaRPr lang="en-GB"/>
            </a:p>
          </p:txBody>
        </p:sp>
        <p:sp>
          <p:nvSpPr>
            <p:cNvPr id="11" name="TextBox 11"/>
            <p:cNvSpPr txBox="1"/>
            <p:nvPr/>
          </p:nvSpPr>
          <p:spPr>
            <a:xfrm>
              <a:off x="0" y="-38100"/>
              <a:ext cx="2816434" cy="2624768"/>
            </a:xfrm>
            <a:prstGeom prst="rect">
              <a:avLst/>
            </a:prstGeom>
          </p:spPr>
          <p:txBody>
            <a:bodyPr lIns="46654" tIns="46654" rIns="46654" bIns="46654" rtlCol="0" anchor="ctr"/>
            <a:lstStyle/>
            <a:p>
              <a:pPr algn="ctr">
                <a:lnSpc>
                  <a:spcPts val="1800"/>
                </a:lnSpc>
                <a:spcBef>
                  <a:spcPct val="0"/>
                </a:spcBef>
              </a:pPr>
              <a:endParaRPr/>
            </a:p>
          </p:txBody>
        </p:sp>
      </p:grpSp>
      <p:grpSp>
        <p:nvGrpSpPr>
          <p:cNvPr id="12" name="Group 12"/>
          <p:cNvGrpSpPr/>
          <p:nvPr/>
        </p:nvGrpSpPr>
        <p:grpSpPr>
          <a:xfrm rot="-2699999">
            <a:off x="2357437" y="-973775"/>
            <a:ext cx="1932482" cy="1774829"/>
            <a:chOff x="0" y="0"/>
            <a:chExt cx="1338352" cy="1229168"/>
          </a:xfrm>
        </p:grpSpPr>
        <p:sp>
          <p:nvSpPr>
            <p:cNvPr id="13" name="Freeform 13"/>
            <p:cNvSpPr/>
            <p:nvPr/>
          </p:nvSpPr>
          <p:spPr>
            <a:xfrm>
              <a:off x="0" y="0"/>
              <a:ext cx="1338352" cy="1229168"/>
            </a:xfrm>
            <a:custGeom>
              <a:avLst/>
              <a:gdLst/>
              <a:ahLst/>
              <a:cxnLst/>
              <a:rect l="l" t="t" r="r" b="b"/>
              <a:pathLst>
                <a:path w="1338352" h="1229168">
                  <a:moveTo>
                    <a:pt x="0" y="0"/>
                  </a:moveTo>
                  <a:lnTo>
                    <a:pt x="1338352" y="0"/>
                  </a:lnTo>
                  <a:lnTo>
                    <a:pt x="1338352" y="1229168"/>
                  </a:lnTo>
                  <a:lnTo>
                    <a:pt x="0" y="1229168"/>
                  </a:lnTo>
                  <a:close/>
                </a:path>
              </a:pathLst>
            </a:custGeom>
            <a:solidFill>
              <a:srgbClr val="336699"/>
            </a:solidFill>
          </p:spPr>
          <p:txBody>
            <a:bodyPr/>
            <a:lstStyle/>
            <a:p>
              <a:endParaRPr lang="en-GB"/>
            </a:p>
          </p:txBody>
        </p:sp>
        <p:sp>
          <p:nvSpPr>
            <p:cNvPr id="14" name="TextBox 14"/>
            <p:cNvSpPr txBox="1"/>
            <p:nvPr/>
          </p:nvSpPr>
          <p:spPr>
            <a:xfrm>
              <a:off x="0" y="-38100"/>
              <a:ext cx="1338352" cy="1267268"/>
            </a:xfrm>
            <a:prstGeom prst="rect">
              <a:avLst/>
            </a:prstGeom>
          </p:spPr>
          <p:txBody>
            <a:bodyPr lIns="46654" tIns="46654" rIns="46654" bIns="46654" rtlCol="0" anchor="ctr"/>
            <a:lstStyle/>
            <a:p>
              <a:pPr algn="ctr">
                <a:lnSpc>
                  <a:spcPts val="1800"/>
                </a:lnSpc>
                <a:spcBef>
                  <a:spcPct val="0"/>
                </a:spcBef>
              </a:pPr>
              <a:endParaRPr/>
            </a:p>
          </p:txBody>
        </p:sp>
      </p:grpSp>
      <p:sp>
        <p:nvSpPr>
          <p:cNvPr id="15" name="Freeform 15"/>
          <p:cNvSpPr/>
          <p:nvPr/>
        </p:nvSpPr>
        <p:spPr>
          <a:xfrm>
            <a:off x="5135801" y="3720922"/>
            <a:ext cx="8016399" cy="5537378"/>
          </a:xfrm>
          <a:custGeom>
            <a:avLst/>
            <a:gdLst/>
            <a:ahLst/>
            <a:cxnLst/>
            <a:rect l="l" t="t" r="r" b="b"/>
            <a:pathLst>
              <a:path w="8016399" h="5537378">
                <a:moveTo>
                  <a:pt x="0" y="0"/>
                </a:moveTo>
                <a:lnTo>
                  <a:pt x="8016398" y="0"/>
                </a:lnTo>
                <a:lnTo>
                  <a:pt x="8016398" y="5537378"/>
                </a:lnTo>
                <a:lnTo>
                  <a:pt x="0" y="5537378"/>
                </a:lnTo>
                <a:lnTo>
                  <a:pt x="0" y="0"/>
                </a:lnTo>
                <a:close/>
              </a:path>
            </a:pathLst>
          </a:custGeom>
          <a:blipFill>
            <a:blip r:embed="rId2"/>
            <a:stretch>
              <a:fillRect/>
            </a:stretch>
          </a:blipFill>
        </p:spPr>
        <p:txBody>
          <a:bodyPr/>
          <a:lstStyle/>
          <a:p>
            <a:endParaRPr lang="en-GB"/>
          </a:p>
        </p:txBody>
      </p:sp>
      <p:sp>
        <p:nvSpPr>
          <p:cNvPr id="16" name="TextBox 16"/>
          <p:cNvSpPr txBox="1"/>
          <p:nvPr/>
        </p:nvSpPr>
        <p:spPr>
          <a:xfrm>
            <a:off x="1028700" y="2334729"/>
            <a:ext cx="16230600" cy="1044575"/>
          </a:xfrm>
          <a:prstGeom prst="rect">
            <a:avLst/>
          </a:prstGeom>
        </p:spPr>
        <p:txBody>
          <a:bodyPr lIns="0" tIns="0" rIns="0" bIns="0" rtlCol="0" anchor="t">
            <a:spAutoFit/>
          </a:bodyPr>
          <a:lstStyle/>
          <a:p>
            <a:pPr algn="ctr">
              <a:lnSpc>
                <a:spcPts val="2800"/>
              </a:lnSpc>
            </a:pPr>
            <a:r>
              <a:rPr lang="en-US" sz="2000">
                <a:solidFill>
                  <a:srgbClr val="000066"/>
                </a:solidFill>
                <a:latin typeface="Garet"/>
                <a:ea typeface="Garet"/>
                <a:cs typeface="Garet"/>
                <a:sym typeface="Garet"/>
              </a:rPr>
              <a:t>Out of 21.96M transactions, only 8.94% (1.96M) are newly listed. This is mainly because both amouts and volume for newly listed transactions has had a sharp increase between February and April of 2018, meaning there haven’t been much new transactions until recently.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6699FF"/>
        </a:solidFill>
        <a:effectLst/>
      </p:bgPr>
    </p:bg>
    <p:spTree>
      <p:nvGrpSpPr>
        <p:cNvPr id="1" name=""/>
        <p:cNvGrpSpPr/>
        <p:nvPr/>
      </p:nvGrpSpPr>
      <p:grpSpPr>
        <a:xfrm>
          <a:off x="0" y="0"/>
          <a:ext cx="0" cy="0"/>
          <a:chOff x="0" y="0"/>
          <a:chExt cx="0" cy="0"/>
        </a:xfrm>
      </p:grpSpPr>
      <p:grpSp>
        <p:nvGrpSpPr>
          <p:cNvPr id="2" name="Group 2"/>
          <p:cNvGrpSpPr/>
          <p:nvPr/>
        </p:nvGrpSpPr>
        <p:grpSpPr>
          <a:xfrm>
            <a:off x="188797" y="203992"/>
            <a:ext cx="17910406" cy="9879016"/>
            <a:chOff x="0" y="0"/>
            <a:chExt cx="4717144" cy="2601881"/>
          </a:xfrm>
        </p:grpSpPr>
        <p:sp>
          <p:nvSpPr>
            <p:cNvPr id="3" name="Freeform 3"/>
            <p:cNvSpPr/>
            <p:nvPr/>
          </p:nvSpPr>
          <p:spPr>
            <a:xfrm>
              <a:off x="0" y="0"/>
              <a:ext cx="4717144" cy="2601881"/>
            </a:xfrm>
            <a:custGeom>
              <a:avLst/>
              <a:gdLst/>
              <a:ahLst/>
              <a:cxnLst/>
              <a:rect l="l" t="t" r="r" b="b"/>
              <a:pathLst>
                <a:path w="4717144" h="2601881">
                  <a:moveTo>
                    <a:pt x="0" y="0"/>
                  </a:moveTo>
                  <a:lnTo>
                    <a:pt x="4717144" y="0"/>
                  </a:lnTo>
                  <a:lnTo>
                    <a:pt x="4717144" y="2601881"/>
                  </a:lnTo>
                  <a:lnTo>
                    <a:pt x="0" y="2601881"/>
                  </a:lnTo>
                  <a:close/>
                </a:path>
              </a:pathLst>
            </a:custGeom>
            <a:solidFill>
              <a:srgbClr val="FFFFFF"/>
            </a:solidFill>
          </p:spPr>
          <p:txBody>
            <a:bodyPr/>
            <a:lstStyle/>
            <a:p>
              <a:endParaRPr lang="en-GB"/>
            </a:p>
          </p:txBody>
        </p:sp>
        <p:sp>
          <p:nvSpPr>
            <p:cNvPr id="4" name="TextBox 4"/>
            <p:cNvSpPr txBox="1"/>
            <p:nvPr/>
          </p:nvSpPr>
          <p:spPr>
            <a:xfrm>
              <a:off x="0" y="-38100"/>
              <a:ext cx="4717144" cy="2639981"/>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028700" y="1181100"/>
            <a:ext cx="16230600" cy="760095"/>
          </a:xfrm>
          <a:prstGeom prst="rect">
            <a:avLst/>
          </a:prstGeom>
        </p:spPr>
        <p:txBody>
          <a:bodyPr lIns="0" tIns="0" rIns="0" bIns="0" rtlCol="0" anchor="t">
            <a:spAutoFit/>
          </a:bodyPr>
          <a:lstStyle/>
          <a:p>
            <a:pPr marL="0" lvl="0" indent="0" algn="ctr">
              <a:lnSpc>
                <a:spcPts val="5640"/>
              </a:lnSpc>
              <a:spcBef>
                <a:spcPct val="0"/>
              </a:spcBef>
            </a:pPr>
            <a:r>
              <a:rPr lang="en-US" sz="6000" b="1">
                <a:solidFill>
                  <a:srgbClr val="000066"/>
                </a:solidFill>
                <a:latin typeface="Garet Bold"/>
                <a:ea typeface="Garet Bold"/>
                <a:cs typeface="Garet Bold"/>
                <a:sym typeface="Garet Bold"/>
              </a:rPr>
              <a:t>Business Insights</a:t>
            </a:r>
          </a:p>
        </p:txBody>
      </p:sp>
      <p:grpSp>
        <p:nvGrpSpPr>
          <p:cNvPr id="6" name="Group 6"/>
          <p:cNvGrpSpPr/>
          <p:nvPr/>
        </p:nvGrpSpPr>
        <p:grpSpPr>
          <a:xfrm rot="-2699999">
            <a:off x="16940536" y="7527576"/>
            <a:ext cx="4066725" cy="3734959"/>
            <a:chOff x="0" y="0"/>
            <a:chExt cx="2816434" cy="2586668"/>
          </a:xfrm>
        </p:grpSpPr>
        <p:sp>
          <p:nvSpPr>
            <p:cNvPr id="7" name="Freeform 7"/>
            <p:cNvSpPr/>
            <p:nvPr/>
          </p:nvSpPr>
          <p:spPr>
            <a:xfrm>
              <a:off x="0" y="0"/>
              <a:ext cx="2816434" cy="2586668"/>
            </a:xfrm>
            <a:custGeom>
              <a:avLst/>
              <a:gdLst/>
              <a:ahLst/>
              <a:cxnLst/>
              <a:rect l="l" t="t" r="r" b="b"/>
              <a:pathLst>
                <a:path w="2816434" h="2586668">
                  <a:moveTo>
                    <a:pt x="0" y="0"/>
                  </a:moveTo>
                  <a:lnTo>
                    <a:pt x="2816434" y="0"/>
                  </a:lnTo>
                  <a:lnTo>
                    <a:pt x="2816434" y="2586668"/>
                  </a:lnTo>
                  <a:lnTo>
                    <a:pt x="0" y="2586668"/>
                  </a:lnTo>
                  <a:close/>
                </a:path>
              </a:pathLst>
            </a:custGeom>
            <a:solidFill>
              <a:srgbClr val="000066"/>
            </a:solidFill>
          </p:spPr>
          <p:txBody>
            <a:bodyPr/>
            <a:lstStyle/>
            <a:p>
              <a:endParaRPr lang="en-GB"/>
            </a:p>
          </p:txBody>
        </p:sp>
        <p:sp>
          <p:nvSpPr>
            <p:cNvPr id="8" name="TextBox 8"/>
            <p:cNvSpPr txBox="1"/>
            <p:nvPr/>
          </p:nvSpPr>
          <p:spPr>
            <a:xfrm>
              <a:off x="0" y="-38100"/>
              <a:ext cx="2816434" cy="2624768"/>
            </a:xfrm>
            <a:prstGeom prst="rect">
              <a:avLst/>
            </a:prstGeom>
          </p:spPr>
          <p:txBody>
            <a:bodyPr lIns="46654" tIns="46654" rIns="46654" bIns="46654" rtlCol="0" anchor="ctr"/>
            <a:lstStyle/>
            <a:p>
              <a:pPr algn="ctr">
                <a:lnSpc>
                  <a:spcPts val="1800"/>
                </a:lnSpc>
                <a:spcBef>
                  <a:spcPct val="0"/>
                </a:spcBef>
              </a:pPr>
              <a:endParaRPr/>
            </a:p>
          </p:txBody>
        </p:sp>
      </p:grpSp>
      <p:grpSp>
        <p:nvGrpSpPr>
          <p:cNvPr id="9" name="Group 9"/>
          <p:cNvGrpSpPr/>
          <p:nvPr/>
        </p:nvGrpSpPr>
        <p:grpSpPr>
          <a:xfrm rot="-2699999">
            <a:off x="-2033362" y="-643107"/>
            <a:ext cx="4066725" cy="3734959"/>
            <a:chOff x="0" y="0"/>
            <a:chExt cx="2816434" cy="2586668"/>
          </a:xfrm>
        </p:grpSpPr>
        <p:sp>
          <p:nvSpPr>
            <p:cNvPr id="10" name="Freeform 10"/>
            <p:cNvSpPr/>
            <p:nvPr/>
          </p:nvSpPr>
          <p:spPr>
            <a:xfrm>
              <a:off x="0" y="0"/>
              <a:ext cx="2816434" cy="2586668"/>
            </a:xfrm>
            <a:custGeom>
              <a:avLst/>
              <a:gdLst/>
              <a:ahLst/>
              <a:cxnLst/>
              <a:rect l="l" t="t" r="r" b="b"/>
              <a:pathLst>
                <a:path w="2816434" h="2586668">
                  <a:moveTo>
                    <a:pt x="0" y="0"/>
                  </a:moveTo>
                  <a:lnTo>
                    <a:pt x="2816434" y="0"/>
                  </a:lnTo>
                  <a:lnTo>
                    <a:pt x="2816434" y="2586668"/>
                  </a:lnTo>
                  <a:lnTo>
                    <a:pt x="0" y="2586668"/>
                  </a:lnTo>
                  <a:close/>
                </a:path>
              </a:pathLst>
            </a:custGeom>
            <a:solidFill>
              <a:srgbClr val="6699FF"/>
            </a:solidFill>
          </p:spPr>
          <p:txBody>
            <a:bodyPr/>
            <a:lstStyle/>
            <a:p>
              <a:endParaRPr lang="en-GB"/>
            </a:p>
          </p:txBody>
        </p:sp>
        <p:sp>
          <p:nvSpPr>
            <p:cNvPr id="11" name="TextBox 11"/>
            <p:cNvSpPr txBox="1"/>
            <p:nvPr/>
          </p:nvSpPr>
          <p:spPr>
            <a:xfrm>
              <a:off x="0" y="-38100"/>
              <a:ext cx="2816434" cy="2624768"/>
            </a:xfrm>
            <a:prstGeom prst="rect">
              <a:avLst/>
            </a:prstGeom>
          </p:spPr>
          <p:txBody>
            <a:bodyPr lIns="46654" tIns="46654" rIns="46654" bIns="46654" rtlCol="0" anchor="ctr"/>
            <a:lstStyle/>
            <a:p>
              <a:pPr algn="ctr">
                <a:lnSpc>
                  <a:spcPts val="1800"/>
                </a:lnSpc>
                <a:spcBef>
                  <a:spcPct val="0"/>
                </a:spcBef>
              </a:pPr>
              <a:endParaRPr/>
            </a:p>
          </p:txBody>
        </p:sp>
      </p:grpSp>
      <p:grpSp>
        <p:nvGrpSpPr>
          <p:cNvPr id="12" name="Group 12"/>
          <p:cNvGrpSpPr/>
          <p:nvPr/>
        </p:nvGrpSpPr>
        <p:grpSpPr>
          <a:xfrm rot="-2699999">
            <a:off x="2357437" y="-973775"/>
            <a:ext cx="1932482" cy="1774829"/>
            <a:chOff x="0" y="0"/>
            <a:chExt cx="1338352" cy="1229168"/>
          </a:xfrm>
        </p:grpSpPr>
        <p:sp>
          <p:nvSpPr>
            <p:cNvPr id="13" name="Freeform 13"/>
            <p:cNvSpPr/>
            <p:nvPr/>
          </p:nvSpPr>
          <p:spPr>
            <a:xfrm>
              <a:off x="0" y="0"/>
              <a:ext cx="1338352" cy="1229168"/>
            </a:xfrm>
            <a:custGeom>
              <a:avLst/>
              <a:gdLst/>
              <a:ahLst/>
              <a:cxnLst/>
              <a:rect l="l" t="t" r="r" b="b"/>
              <a:pathLst>
                <a:path w="1338352" h="1229168">
                  <a:moveTo>
                    <a:pt x="0" y="0"/>
                  </a:moveTo>
                  <a:lnTo>
                    <a:pt x="1338352" y="0"/>
                  </a:lnTo>
                  <a:lnTo>
                    <a:pt x="1338352" y="1229168"/>
                  </a:lnTo>
                  <a:lnTo>
                    <a:pt x="0" y="1229168"/>
                  </a:lnTo>
                  <a:close/>
                </a:path>
              </a:pathLst>
            </a:custGeom>
            <a:solidFill>
              <a:srgbClr val="336699"/>
            </a:solidFill>
          </p:spPr>
          <p:txBody>
            <a:bodyPr/>
            <a:lstStyle/>
            <a:p>
              <a:endParaRPr lang="en-GB"/>
            </a:p>
          </p:txBody>
        </p:sp>
        <p:sp>
          <p:nvSpPr>
            <p:cNvPr id="14" name="TextBox 14"/>
            <p:cNvSpPr txBox="1"/>
            <p:nvPr/>
          </p:nvSpPr>
          <p:spPr>
            <a:xfrm>
              <a:off x="0" y="-38100"/>
              <a:ext cx="1338352" cy="1267268"/>
            </a:xfrm>
            <a:prstGeom prst="rect">
              <a:avLst/>
            </a:prstGeom>
          </p:spPr>
          <p:txBody>
            <a:bodyPr lIns="46654" tIns="46654" rIns="46654" bIns="46654" rtlCol="0" anchor="ctr"/>
            <a:lstStyle/>
            <a:p>
              <a:pPr algn="ctr">
                <a:lnSpc>
                  <a:spcPts val="1800"/>
                </a:lnSpc>
                <a:spcBef>
                  <a:spcPct val="0"/>
                </a:spcBef>
              </a:pPr>
              <a:endParaRPr/>
            </a:p>
          </p:txBody>
        </p:sp>
      </p:grpSp>
      <p:sp>
        <p:nvSpPr>
          <p:cNvPr id="16" name="Freeform 16"/>
          <p:cNvSpPr/>
          <p:nvPr/>
        </p:nvSpPr>
        <p:spPr>
          <a:xfrm>
            <a:off x="2949138" y="3464212"/>
            <a:ext cx="12389724" cy="1358478"/>
          </a:xfrm>
          <a:custGeom>
            <a:avLst/>
            <a:gdLst/>
            <a:ahLst/>
            <a:cxnLst/>
            <a:rect l="l" t="t" r="r" b="b"/>
            <a:pathLst>
              <a:path w="12389724" h="1358478">
                <a:moveTo>
                  <a:pt x="0" y="0"/>
                </a:moveTo>
                <a:lnTo>
                  <a:pt x="12389724" y="0"/>
                </a:lnTo>
                <a:lnTo>
                  <a:pt x="12389724" y="1358478"/>
                </a:lnTo>
                <a:lnTo>
                  <a:pt x="0" y="1358478"/>
                </a:lnTo>
                <a:lnTo>
                  <a:pt x="0" y="0"/>
                </a:lnTo>
                <a:close/>
              </a:path>
            </a:pathLst>
          </a:custGeom>
          <a:blipFill>
            <a:blip r:embed="rId2"/>
            <a:stretch>
              <a:fillRect/>
            </a:stretch>
          </a:blipFill>
        </p:spPr>
        <p:txBody>
          <a:bodyPr/>
          <a:lstStyle/>
          <a:p>
            <a:endParaRPr lang="en-GB"/>
          </a:p>
        </p:txBody>
      </p:sp>
      <p:sp>
        <p:nvSpPr>
          <p:cNvPr id="17" name="TextBox 17"/>
          <p:cNvSpPr txBox="1"/>
          <p:nvPr/>
        </p:nvSpPr>
        <p:spPr>
          <a:xfrm>
            <a:off x="1028700" y="2098827"/>
            <a:ext cx="16230600" cy="1044575"/>
          </a:xfrm>
          <a:prstGeom prst="rect">
            <a:avLst/>
          </a:prstGeom>
        </p:spPr>
        <p:txBody>
          <a:bodyPr lIns="0" tIns="0" rIns="0" bIns="0" rtlCol="0" anchor="t">
            <a:spAutoFit/>
          </a:bodyPr>
          <a:lstStyle/>
          <a:p>
            <a:pPr algn="ctr">
              <a:lnSpc>
                <a:spcPts val="2800"/>
              </a:lnSpc>
            </a:pPr>
            <a:r>
              <a:rPr lang="en-US" sz="2000" dirty="0">
                <a:solidFill>
                  <a:srgbClr val="000066"/>
                </a:solidFill>
                <a:latin typeface="Garet"/>
                <a:ea typeface="Garet"/>
                <a:cs typeface="Garet"/>
                <a:sym typeface="Garet"/>
              </a:rPr>
              <a:t>Number 1 in Category 2 is correlated with the most merchant categories, being active across most active merchant categories and business subsectors. It is also the most active of Category 2, with more than 3M in total spending. This suggests Number 1 is the most prevalent characteristic amongst customers in regards to Category 2.</a:t>
            </a:r>
          </a:p>
        </p:txBody>
      </p:sp>
      <p:pic>
        <p:nvPicPr>
          <p:cNvPr id="19" name="Picture 18">
            <a:extLst>
              <a:ext uri="{FF2B5EF4-FFF2-40B4-BE49-F238E27FC236}">
                <a16:creationId xmlns:a16="http://schemas.microsoft.com/office/drawing/2014/main" id="{18BB5168-E153-AFF5-0D9F-0515CCA1ACF6}"/>
              </a:ext>
            </a:extLst>
          </p:cNvPr>
          <p:cNvPicPr>
            <a:picLocks noChangeAspect="1"/>
          </p:cNvPicPr>
          <p:nvPr/>
        </p:nvPicPr>
        <p:blipFill>
          <a:blip r:embed="rId3"/>
          <a:stretch>
            <a:fillRect/>
          </a:stretch>
        </p:blipFill>
        <p:spPr>
          <a:xfrm>
            <a:off x="5634105" y="4994300"/>
            <a:ext cx="7019790" cy="428207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6699FF"/>
        </a:solidFill>
        <a:effectLst/>
      </p:bgPr>
    </p:bg>
    <p:spTree>
      <p:nvGrpSpPr>
        <p:cNvPr id="1" name=""/>
        <p:cNvGrpSpPr/>
        <p:nvPr/>
      </p:nvGrpSpPr>
      <p:grpSpPr>
        <a:xfrm>
          <a:off x="0" y="0"/>
          <a:ext cx="0" cy="0"/>
          <a:chOff x="0" y="0"/>
          <a:chExt cx="0" cy="0"/>
        </a:xfrm>
      </p:grpSpPr>
      <p:grpSp>
        <p:nvGrpSpPr>
          <p:cNvPr id="2" name="Group 2"/>
          <p:cNvGrpSpPr/>
          <p:nvPr/>
        </p:nvGrpSpPr>
        <p:grpSpPr>
          <a:xfrm>
            <a:off x="188797" y="203992"/>
            <a:ext cx="17910406" cy="9879016"/>
            <a:chOff x="0" y="0"/>
            <a:chExt cx="4717144" cy="2601881"/>
          </a:xfrm>
        </p:grpSpPr>
        <p:sp>
          <p:nvSpPr>
            <p:cNvPr id="3" name="Freeform 3"/>
            <p:cNvSpPr/>
            <p:nvPr/>
          </p:nvSpPr>
          <p:spPr>
            <a:xfrm>
              <a:off x="0" y="0"/>
              <a:ext cx="4717144" cy="2601881"/>
            </a:xfrm>
            <a:custGeom>
              <a:avLst/>
              <a:gdLst/>
              <a:ahLst/>
              <a:cxnLst/>
              <a:rect l="l" t="t" r="r" b="b"/>
              <a:pathLst>
                <a:path w="4717144" h="2601881">
                  <a:moveTo>
                    <a:pt x="0" y="0"/>
                  </a:moveTo>
                  <a:lnTo>
                    <a:pt x="4717144" y="0"/>
                  </a:lnTo>
                  <a:lnTo>
                    <a:pt x="4717144" y="2601881"/>
                  </a:lnTo>
                  <a:lnTo>
                    <a:pt x="0" y="2601881"/>
                  </a:lnTo>
                  <a:close/>
                </a:path>
              </a:pathLst>
            </a:custGeom>
            <a:solidFill>
              <a:srgbClr val="FFFFFF"/>
            </a:solidFill>
          </p:spPr>
          <p:txBody>
            <a:bodyPr/>
            <a:lstStyle/>
            <a:p>
              <a:endParaRPr lang="en-GB"/>
            </a:p>
          </p:txBody>
        </p:sp>
        <p:sp>
          <p:nvSpPr>
            <p:cNvPr id="4" name="TextBox 4"/>
            <p:cNvSpPr txBox="1"/>
            <p:nvPr/>
          </p:nvSpPr>
          <p:spPr>
            <a:xfrm>
              <a:off x="0" y="-38100"/>
              <a:ext cx="4717144" cy="2639981"/>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028700" y="1181100"/>
            <a:ext cx="16230600" cy="760095"/>
          </a:xfrm>
          <a:prstGeom prst="rect">
            <a:avLst/>
          </a:prstGeom>
        </p:spPr>
        <p:txBody>
          <a:bodyPr lIns="0" tIns="0" rIns="0" bIns="0" rtlCol="0" anchor="t">
            <a:spAutoFit/>
          </a:bodyPr>
          <a:lstStyle/>
          <a:p>
            <a:pPr marL="0" lvl="0" indent="0" algn="ctr">
              <a:lnSpc>
                <a:spcPts val="5640"/>
              </a:lnSpc>
              <a:spcBef>
                <a:spcPct val="0"/>
              </a:spcBef>
            </a:pPr>
            <a:r>
              <a:rPr lang="en-US" sz="6000" b="1" dirty="0">
                <a:solidFill>
                  <a:srgbClr val="000066"/>
                </a:solidFill>
                <a:latin typeface="Garet Bold"/>
                <a:ea typeface="Garet Bold"/>
                <a:cs typeface="Garet Bold"/>
                <a:sym typeface="Garet Bold"/>
              </a:rPr>
              <a:t>Business Insights</a:t>
            </a:r>
          </a:p>
        </p:txBody>
      </p:sp>
      <p:grpSp>
        <p:nvGrpSpPr>
          <p:cNvPr id="6" name="Group 6"/>
          <p:cNvGrpSpPr/>
          <p:nvPr/>
        </p:nvGrpSpPr>
        <p:grpSpPr>
          <a:xfrm rot="-2699999">
            <a:off x="16940536" y="7527576"/>
            <a:ext cx="4066725" cy="3734959"/>
            <a:chOff x="0" y="0"/>
            <a:chExt cx="2816434" cy="2586668"/>
          </a:xfrm>
        </p:grpSpPr>
        <p:sp>
          <p:nvSpPr>
            <p:cNvPr id="7" name="Freeform 7"/>
            <p:cNvSpPr/>
            <p:nvPr/>
          </p:nvSpPr>
          <p:spPr>
            <a:xfrm>
              <a:off x="0" y="0"/>
              <a:ext cx="2816434" cy="2586668"/>
            </a:xfrm>
            <a:custGeom>
              <a:avLst/>
              <a:gdLst/>
              <a:ahLst/>
              <a:cxnLst/>
              <a:rect l="l" t="t" r="r" b="b"/>
              <a:pathLst>
                <a:path w="2816434" h="2586668">
                  <a:moveTo>
                    <a:pt x="0" y="0"/>
                  </a:moveTo>
                  <a:lnTo>
                    <a:pt x="2816434" y="0"/>
                  </a:lnTo>
                  <a:lnTo>
                    <a:pt x="2816434" y="2586668"/>
                  </a:lnTo>
                  <a:lnTo>
                    <a:pt x="0" y="2586668"/>
                  </a:lnTo>
                  <a:close/>
                </a:path>
              </a:pathLst>
            </a:custGeom>
            <a:solidFill>
              <a:srgbClr val="000066"/>
            </a:solidFill>
          </p:spPr>
          <p:txBody>
            <a:bodyPr/>
            <a:lstStyle/>
            <a:p>
              <a:endParaRPr lang="en-GB"/>
            </a:p>
          </p:txBody>
        </p:sp>
        <p:sp>
          <p:nvSpPr>
            <p:cNvPr id="8" name="TextBox 8"/>
            <p:cNvSpPr txBox="1"/>
            <p:nvPr/>
          </p:nvSpPr>
          <p:spPr>
            <a:xfrm>
              <a:off x="0" y="-38100"/>
              <a:ext cx="2816434" cy="2624768"/>
            </a:xfrm>
            <a:prstGeom prst="rect">
              <a:avLst/>
            </a:prstGeom>
          </p:spPr>
          <p:txBody>
            <a:bodyPr lIns="46654" tIns="46654" rIns="46654" bIns="46654" rtlCol="0" anchor="ctr"/>
            <a:lstStyle/>
            <a:p>
              <a:pPr algn="ctr">
                <a:lnSpc>
                  <a:spcPts val="1800"/>
                </a:lnSpc>
                <a:spcBef>
                  <a:spcPct val="0"/>
                </a:spcBef>
              </a:pPr>
              <a:endParaRPr/>
            </a:p>
          </p:txBody>
        </p:sp>
      </p:grpSp>
      <p:grpSp>
        <p:nvGrpSpPr>
          <p:cNvPr id="9" name="Group 9"/>
          <p:cNvGrpSpPr/>
          <p:nvPr/>
        </p:nvGrpSpPr>
        <p:grpSpPr>
          <a:xfrm rot="-2699999">
            <a:off x="-2033362" y="-643107"/>
            <a:ext cx="4066725" cy="3734959"/>
            <a:chOff x="0" y="0"/>
            <a:chExt cx="2816434" cy="2586668"/>
          </a:xfrm>
        </p:grpSpPr>
        <p:sp>
          <p:nvSpPr>
            <p:cNvPr id="10" name="Freeform 10"/>
            <p:cNvSpPr/>
            <p:nvPr/>
          </p:nvSpPr>
          <p:spPr>
            <a:xfrm>
              <a:off x="0" y="0"/>
              <a:ext cx="2816434" cy="2586668"/>
            </a:xfrm>
            <a:custGeom>
              <a:avLst/>
              <a:gdLst/>
              <a:ahLst/>
              <a:cxnLst/>
              <a:rect l="l" t="t" r="r" b="b"/>
              <a:pathLst>
                <a:path w="2816434" h="2586668">
                  <a:moveTo>
                    <a:pt x="0" y="0"/>
                  </a:moveTo>
                  <a:lnTo>
                    <a:pt x="2816434" y="0"/>
                  </a:lnTo>
                  <a:lnTo>
                    <a:pt x="2816434" y="2586668"/>
                  </a:lnTo>
                  <a:lnTo>
                    <a:pt x="0" y="2586668"/>
                  </a:lnTo>
                  <a:close/>
                </a:path>
              </a:pathLst>
            </a:custGeom>
            <a:solidFill>
              <a:srgbClr val="6699FF"/>
            </a:solidFill>
          </p:spPr>
          <p:txBody>
            <a:bodyPr/>
            <a:lstStyle/>
            <a:p>
              <a:endParaRPr lang="en-GB"/>
            </a:p>
          </p:txBody>
        </p:sp>
        <p:sp>
          <p:nvSpPr>
            <p:cNvPr id="11" name="TextBox 11"/>
            <p:cNvSpPr txBox="1"/>
            <p:nvPr/>
          </p:nvSpPr>
          <p:spPr>
            <a:xfrm>
              <a:off x="0" y="-38100"/>
              <a:ext cx="2816434" cy="2624768"/>
            </a:xfrm>
            <a:prstGeom prst="rect">
              <a:avLst/>
            </a:prstGeom>
          </p:spPr>
          <p:txBody>
            <a:bodyPr lIns="46654" tIns="46654" rIns="46654" bIns="46654" rtlCol="0" anchor="ctr"/>
            <a:lstStyle/>
            <a:p>
              <a:pPr algn="ctr">
                <a:lnSpc>
                  <a:spcPts val="1800"/>
                </a:lnSpc>
                <a:spcBef>
                  <a:spcPct val="0"/>
                </a:spcBef>
              </a:pPr>
              <a:endParaRPr/>
            </a:p>
          </p:txBody>
        </p:sp>
      </p:grpSp>
      <p:grpSp>
        <p:nvGrpSpPr>
          <p:cNvPr id="12" name="Group 12"/>
          <p:cNvGrpSpPr/>
          <p:nvPr/>
        </p:nvGrpSpPr>
        <p:grpSpPr>
          <a:xfrm rot="-2699999">
            <a:off x="2357437" y="-973775"/>
            <a:ext cx="1932482" cy="1774829"/>
            <a:chOff x="0" y="0"/>
            <a:chExt cx="1338352" cy="1229168"/>
          </a:xfrm>
        </p:grpSpPr>
        <p:sp>
          <p:nvSpPr>
            <p:cNvPr id="13" name="Freeform 13"/>
            <p:cNvSpPr/>
            <p:nvPr/>
          </p:nvSpPr>
          <p:spPr>
            <a:xfrm>
              <a:off x="0" y="0"/>
              <a:ext cx="1338352" cy="1229168"/>
            </a:xfrm>
            <a:custGeom>
              <a:avLst/>
              <a:gdLst/>
              <a:ahLst/>
              <a:cxnLst/>
              <a:rect l="l" t="t" r="r" b="b"/>
              <a:pathLst>
                <a:path w="1338352" h="1229168">
                  <a:moveTo>
                    <a:pt x="0" y="0"/>
                  </a:moveTo>
                  <a:lnTo>
                    <a:pt x="1338352" y="0"/>
                  </a:lnTo>
                  <a:lnTo>
                    <a:pt x="1338352" y="1229168"/>
                  </a:lnTo>
                  <a:lnTo>
                    <a:pt x="0" y="1229168"/>
                  </a:lnTo>
                  <a:close/>
                </a:path>
              </a:pathLst>
            </a:custGeom>
            <a:solidFill>
              <a:srgbClr val="336699"/>
            </a:solidFill>
          </p:spPr>
          <p:txBody>
            <a:bodyPr/>
            <a:lstStyle/>
            <a:p>
              <a:endParaRPr lang="en-GB"/>
            </a:p>
          </p:txBody>
        </p:sp>
        <p:sp>
          <p:nvSpPr>
            <p:cNvPr id="14" name="TextBox 14"/>
            <p:cNvSpPr txBox="1"/>
            <p:nvPr/>
          </p:nvSpPr>
          <p:spPr>
            <a:xfrm>
              <a:off x="0" y="-38100"/>
              <a:ext cx="1338352" cy="1267268"/>
            </a:xfrm>
            <a:prstGeom prst="rect">
              <a:avLst/>
            </a:prstGeom>
          </p:spPr>
          <p:txBody>
            <a:bodyPr lIns="46654" tIns="46654" rIns="46654" bIns="46654" rtlCol="0" anchor="ctr"/>
            <a:lstStyle/>
            <a:p>
              <a:pPr algn="ctr">
                <a:lnSpc>
                  <a:spcPts val="1800"/>
                </a:lnSpc>
                <a:spcBef>
                  <a:spcPct val="0"/>
                </a:spcBef>
              </a:pPr>
              <a:endParaRPr/>
            </a:p>
          </p:txBody>
        </p:sp>
      </p:grpSp>
      <p:sp>
        <p:nvSpPr>
          <p:cNvPr id="17" name="TextBox 17"/>
          <p:cNvSpPr txBox="1"/>
          <p:nvPr/>
        </p:nvSpPr>
        <p:spPr>
          <a:xfrm>
            <a:off x="1028700" y="2361234"/>
            <a:ext cx="16230600" cy="1749425"/>
          </a:xfrm>
          <a:prstGeom prst="rect">
            <a:avLst/>
          </a:prstGeom>
        </p:spPr>
        <p:txBody>
          <a:bodyPr lIns="0" tIns="0" rIns="0" bIns="0" rtlCol="0" anchor="t">
            <a:spAutoFit/>
          </a:bodyPr>
          <a:lstStyle/>
          <a:p>
            <a:pPr algn="ctr">
              <a:lnSpc>
                <a:spcPts val="2800"/>
              </a:lnSpc>
            </a:pPr>
            <a:r>
              <a:rPr lang="en-US" sz="2000" dirty="0">
                <a:solidFill>
                  <a:srgbClr val="000066"/>
                </a:solidFill>
                <a:latin typeface="Garet"/>
                <a:ea typeface="Garet"/>
                <a:cs typeface="Garet"/>
                <a:sym typeface="Garet"/>
              </a:rPr>
              <a:t>An overwhelming number of transactions (roughly 93%-94%) were made with a single installment, suggesting most </a:t>
            </a:r>
            <a:r>
              <a:rPr lang="en-US" sz="2000" dirty="0" err="1">
                <a:solidFill>
                  <a:srgbClr val="000066"/>
                </a:solidFill>
                <a:latin typeface="Garet"/>
                <a:ea typeface="Garet"/>
                <a:cs typeface="Garet"/>
                <a:sym typeface="Garet"/>
              </a:rPr>
              <a:t>custormers</a:t>
            </a:r>
            <a:r>
              <a:rPr lang="en-US" sz="2000" dirty="0">
                <a:solidFill>
                  <a:srgbClr val="000066"/>
                </a:solidFill>
                <a:latin typeface="Garet"/>
                <a:ea typeface="Garet"/>
                <a:cs typeface="Garet"/>
                <a:sym typeface="Garet"/>
              </a:rPr>
              <a:t> are not spending a very large amounts. This can be a result of a number of reasons, such as most customers making small private purchases rather than large business-related ones, or customers mostly paying for services rather than goods. A 5% dip in single-pay transactions can be seen in March and April of 2028, which could indicate increased business-related activity.</a:t>
            </a:r>
          </a:p>
        </p:txBody>
      </p:sp>
      <p:pic>
        <p:nvPicPr>
          <p:cNvPr id="19" name="Picture 18">
            <a:extLst>
              <a:ext uri="{FF2B5EF4-FFF2-40B4-BE49-F238E27FC236}">
                <a16:creationId xmlns:a16="http://schemas.microsoft.com/office/drawing/2014/main" id="{83955624-C935-C031-0E14-C5F24906E07B}"/>
              </a:ext>
            </a:extLst>
          </p:cNvPr>
          <p:cNvPicPr>
            <a:picLocks noChangeAspect="1"/>
          </p:cNvPicPr>
          <p:nvPr/>
        </p:nvPicPr>
        <p:blipFill>
          <a:blip r:embed="rId2"/>
          <a:stretch>
            <a:fillRect/>
          </a:stretch>
        </p:blipFill>
        <p:spPr>
          <a:xfrm>
            <a:off x="1028700" y="4946837"/>
            <a:ext cx="7998569" cy="3353383"/>
          </a:xfrm>
          <a:prstGeom prst="rect">
            <a:avLst/>
          </a:prstGeom>
        </p:spPr>
      </p:pic>
      <p:pic>
        <p:nvPicPr>
          <p:cNvPr id="21" name="Picture 20">
            <a:extLst>
              <a:ext uri="{FF2B5EF4-FFF2-40B4-BE49-F238E27FC236}">
                <a16:creationId xmlns:a16="http://schemas.microsoft.com/office/drawing/2014/main" id="{E4887544-D38C-7F8A-CB02-655286AE2184}"/>
              </a:ext>
            </a:extLst>
          </p:cNvPr>
          <p:cNvPicPr>
            <a:picLocks noChangeAspect="1"/>
          </p:cNvPicPr>
          <p:nvPr/>
        </p:nvPicPr>
        <p:blipFill>
          <a:blip r:embed="rId3"/>
          <a:stretch>
            <a:fillRect/>
          </a:stretch>
        </p:blipFill>
        <p:spPr>
          <a:xfrm>
            <a:off x="9181976" y="4946837"/>
            <a:ext cx="8191624" cy="334866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699FF"/>
        </a:solidFill>
        <a:effectLst/>
      </p:bgPr>
    </p:bg>
    <p:spTree>
      <p:nvGrpSpPr>
        <p:cNvPr id="1" name=""/>
        <p:cNvGrpSpPr/>
        <p:nvPr/>
      </p:nvGrpSpPr>
      <p:grpSpPr>
        <a:xfrm>
          <a:off x="0" y="0"/>
          <a:ext cx="0" cy="0"/>
          <a:chOff x="0" y="0"/>
          <a:chExt cx="0" cy="0"/>
        </a:xfrm>
      </p:grpSpPr>
      <p:grpSp>
        <p:nvGrpSpPr>
          <p:cNvPr id="2" name="Group 2"/>
          <p:cNvGrpSpPr/>
          <p:nvPr/>
        </p:nvGrpSpPr>
        <p:grpSpPr>
          <a:xfrm>
            <a:off x="188797" y="203992"/>
            <a:ext cx="17910406" cy="9879016"/>
            <a:chOff x="0" y="0"/>
            <a:chExt cx="4717144" cy="2601881"/>
          </a:xfrm>
        </p:grpSpPr>
        <p:sp>
          <p:nvSpPr>
            <p:cNvPr id="3" name="Freeform 3"/>
            <p:cNvSpPr/>
            <p:nvPr/>
          </p:nvSpPr>
          <p:spPr>
            <a:xfrm>
              <a:off x="0" y="0"/>
              <a:ext cx="4717144" cy="2601881"/>
            </a:xfrm>
            <a:custGeom>
              <a:avLst/>
              <a:gdLst/>
              <a:ahLst/>
              <a:cxnLst/>
              <a:rect l="l" t="t" r="r" b="b"/>
              <a:pathLst>
                <a:path w="4717144" h="2601881">
                  <a:moveTo>
                    <a:pt x="0" y="0"/>
                  </a:moveTo>
                  <a:lnTo>
                    <a:pt x="4717144" y="0"/>
                  </a:lnTo>
                  <a:lnTo>
                    <a:pt x="4717144" y="2601881"/>
                  </a:lnTo>
                  <a:lnTo>
                    <a:pt x="0" y="2601881"/>
                  </a:lnTo>
                  <a:close/>
                </a:path>
              </a:pathLst>
            </a:custGeom>
            <a:solidFill>
              <a:srgbClr val="FFFFFF"/>
            </a:solidFill>
          </p:spPr>
          <p:txBody>
            <a:bodyPr/>
            <a:lstStyle/>
            <a:p>
              <a:endParaRPr lang="en-GB"/>
            </a:p>
          </p:txBody>
        </p:sp>
        <p:sp>
          <p:nvSpPr>
            <p:cNvPr id="4" name="TextBox 4"/>
            <p:cNvSpPr txBox="1"/>
            <p:nvPr/>
          </p:nvSpPr>
          <p:spPr>
            <a:xfrm>
              <a:off x="0" y="-38100"/>
              <a:ext cx="4717144" cy="2639981"/>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699999">
            <a:off x="16940536" y="7527576"/>
            <a:ext cx="4066725" cy="3734959"/>
            <a:chOff x="0" y="0"/>
            <a:chExt cx="2816434" cy="2586668"/>
          </a:xfrm>
        </p:grpSpPr>
        <p:sp>
          <p:nvSpPr>
            <p:cNvPr id="6" name="Freeform 6"/>
            <p:cNvSpPr/>
            <p:nvPr/>
          </p:nvSpPr>
          <p:spPr>
            <a:xfrm>
              <a:off x="0" y="0"/>
              <a:ext cx="2816434" cy="2586668"/>
            </a:xfrm>
            <a:custGeom>
              <a:avLst/>
              <a:gdLst/>
              <a:ahLst/>
              <a:cxnLst/>
              <a:rect l="l" t="t" r="r" b="b"/>
              <a:pathLst>
                <a:path w="2816434" h="2586668">
                  <a:moveTo>
                    <a:pt x="0" y="0"/>
                  </a:moveTo>
                  <a:lnTo>
                    <a:pt x="2816434" y="0"/>
                  </a:lnTo>
                  <a:lnTo>
                    <a:pt x="2816434" y="2586668"/>
                  </a:lnTo>
                  <a:lnTo>
                    <a:pt x="0" y="2586668"/>
                  </a:lnTo>
                  <a:close/>
                </a:path>
              </a:pathLst>
            </a:custGeom>
            <a:solidFill>
              <a:srgbClr val="000066"/>
            </a:solidFill>
          </p:spPr>
          <p:txBody>
            <a:bodyPr/>
            <a:lstStyle/>
            <a:p>
              <a:endParaRPr lang="en-GB"/>
            </a:p>
          </p:txBody>
        </p:sp>
        <p:sp>
          <p:nvSpPr>
            <p:cNvPr id="7" name="TextBox 7"/>
            <p:cNvSpPr txBox="1"/>
            <p:nvPr/>
          </p:nvSpPr>
          <p:spPr>
            <a:xfrm>
              <a:off x="0" y="-38100"/>
              <a:ext cx="2816434" cy="2624768"/>
            </a:xfrm>
            <a:prstGeom prst="rect">
              <a:avLst/>
            </a:prstGeom>
          </p:spPr>
          <p:txBody>
            <a:bodyPr lIns="46654" tIns="46654" rIns="46654" bIns="46654" rtlCol="0" anchor="ctr"/>
            <a:lstStyle/>
            <a:p>
              <a:pPr algn="ctr">
                <a:lnSpc>
                  <a:spcPts val="1800"/>
                </a:lnSpc>
                <a:spcBef>
                  <a:spcPct val="0"/>
                </a:spcBef>
              </a:pPr>
              <a:endParaRPr/>
            </a:p>
          </p:txBody>
        </p:sp>
      </p:grpSp>
      <p:sp>
        <p:nvSpPr>
          <p:cNvPr id="8" name="TextBox 8"/>
          <p:cNvSpPr txBox="1"/>
          <p:nvPr/>
        </p:nvSpPr>
        <p:spPr>
          <a:xfrm>
            <a:off x="1028700" y="1181100"/>
            <a:ext cx="16230600" cy="760095"/>
          </a:xfrm>
          <a:prstGeom prst="rect">
            <a:avLst/>
          </a:prstGeom>
        </p:spPr>
        <p:txBody>
          <a:bodyPr lIns="0" tIns="0" rIns="0" bIns="0" rtlCol="0" anchor="t">
            <a:spAutoFit/>
          </a:bodyPr>
          <a:lstStyle/>
          <a:p>
            <a:pPr marL="0" lvl="0" indent="0" algn="ctr">
              <a:lnSpc>
                <a:spcPts val="5640"/>
              </a:lnSpc>
              <a:spcBef>
                <a:spcPct val="0"/>
              </a:spcBef>
            </a:pPr>
            <a:r>
              <a:rPr lang="en-US" sz="6000" b="1">
                <a:solidFill>
                  <a:srgbClr val="000066"/>
                </a:solidFill>
                <a:latin typeface="Garet Bold"/>
                <a:ea typeface="Garet Bold"/>
                <a:cs typeface="Garet Bold"/>
                <a:sym typeface="Garet Bold"/>
              </a:rPr>
              <a:t>Dashboard Details</a:t>
            </a:r>
          </a:p>
        </p:txBody>
      </p:sp>
      <p:sp>
        <p:nvSpPr>
          <p:cNvPr id="9" name="TextBox 9"/>
          <p:cNvSpPr txBox="1"/>
          <p:nvPr/>
        </p:nvSpPr>
        <p:spPr>
          <a:xfrm>
            <a:off x="1028700" y="8590997"/>
            <a:ext cx="16230600" cy="682625"/>
          </a:xfrm>
          <a:prstGeom prst="rect">
            <a:avLst/>
          </a:prstGeom>
        </p:spPr>
        <p:txBody>
          <a:bodyPr lIns="0" tIns="0" rIns="0" bIns="0" rtlCol="0" anchor="t">
            <a:spAutoFit/>
          </a:bodyPr>
          <a:lstStyle/>
          <a:p>
            <a:pPr algn="ctr">
              <a:lnSpc>
                <a:spcPts val="2799"/>
              </a:lnSpc>
            </a:pPr>
            <a:r>
              <a:rPr lang="en-US" sz="1999">
                <a:solidFill>
                  <a:srgbClr val="000066"/>
                </a:solidFill>
                <a:latin typeface="Garet"/>
                <a:ea typeface="Garet"/>
                <a:cs typeface="Garet"/>
                <a:sym typeface="Garet"/>
              </a:rPr>
              <a:t>Architecture Impact: Powered by an interactive 3-page Star Schema with SQL View pre-aggregations for instant cross-filtering and rapid drill-down.</a:t>
            </a:r>
          </a:p>
        </p:txBody>
      </p:sp>
      <p:grpSp>
        <p:nvGrpSpPr>
          <p:cNvPr id="10" name="Group 10"/>
          <p:cNvGrpSpPr/>
          <p:nvPr/>
        </p:nvGrpSpPr>
        <p:grpSpPr>
          <a:xfrm rot="-2699999">
            <a:off x="-2033362" y="-643107"/>
            <a:ext cx="4066725" cy="3734959"/>
            <a:chOff x="0" y="0"/>
            <a:chExt cx="2816434" cy="2586668"/>
          </a:xfrm>
        </p:grpSpPr>
        <p:sp>
          <p:nvSpPr>
            <p:cNvPr id="11" name="Freeform 11"/>
            <p:cNvSpPr/>
            <p:nvPr/>
          </p:nvSpPr>
          <p:spPr>
            <a:xfrm>
              <a:off x="0" y="0"/>
              <a:ext cx="2816434" cy="2586668"/>
            </a:xfrm>
            <a:custGeom>
              <a:avLst/>
              <a:gdLst/>
              <a:ahLst/>
              <a:cxnLst/>
              <a:rect l="l" t="t" r="r" b="b"/>
              <a:pathLst>
                <a:path w="2816434" h="2586668">
                  <a:moveTo>
                    <a:pt x="0" y="0"/>
                  </a:moveTo>
                  <a:lnTo>
                    <a:pt x="2816434" y="0"/>
                  </a:lnTo>
                  <a:lnTo>
                    <a:pt x="2816434" y="2586668"/>
                  </a:lnTo>
                  <a:lnTo>
                    <a:pt x="0" y="2586668"/>
                  </a:lnTo>
                  <a:close/>
                </a:path>
              </a:pathLst>
            </a:custGeom>
            <a:solidFill>
              <a:srgbClr val="6699FF"/>
            </a:solidFill>
          </p:spPr>
          <p:txBody>
            <a:bodyPr/>
            <a:lstStyle/>
            <a:p>
              <a:endParaRPr lang="en-GB"/>
            </a:p>
          </p:txBody>
        </p:sp>
        <p:sp>
          <p:nvSpPr>
            <p:cNvPr id="12" name="TextBox 12"/>
            <p:cNvSpPr txBox="1"/>
            <p:nvPr/>
          </p:nvSpPr>
          <p:spPr>
            <a:xfrm>
              <a:off x="0" y="-38100"/>
              <a:ext cx="2816434" cy="2624768"/>
            </a:xfrm>
            <a:prstGeom prst="rect">
              <a:avLst/>
            </a:prstGeom>
          </p:spPr>
          <p:txBody>
            <a:bodyPr lIns="46654" tIns="46654" rIns="46654" bIns="46654" rtlCol="0" anchor="ctr"/>
            <a:lstStyle/>
            <a:p>
              <a:pPr algn="ctr">
                <a:lnSpc>
                  <a:spcPts val="1800"/>
                </a:lnSpc>
                <a:spcBef>
                  <a:spcPct val="0"/>
                </a:spcBef>
              </a:pPr>
              <a:endParaRPr/>
            </a:p>
          </p:txBody>
        </p:sp>
      </p:grpSp>
      <p:graphicFrame>
        <p:nvGraphicFramePr>
          <p:cNvPr id="13" name="Table 13"/>
          <p:cNvGraphicFramePr>
            <a:graphicFrameLocks noGrp="1"/>
          </p:cNvGraphicFramePr>
          <p:nvPr/>
        </p:nvGraphicFramePr>
        <p:xfrm>
          <a:off x="1057275" y="2271687"/>
          <a:ext cx="16202025" cy="5903445"/>
        </p:xfrm>
        <a:graphic>
          <a:graphicData uri="http://schemas.openxmlformats.org/drawingml/2006/table">
            <a:tbl>
              <a:tblPr/>
              <a:tblGrid>
                <a:gridCol w="5400675">
                  <a:extLst>
                    <a:ext uri="{9D8B030D-6E8A-4147-A177-3AD203B41FA5}">
                      <a16:colId xmlns:a16="http://schemas.microsoft.com/office/drawing/2014/main" val="20000"/>
                    </a:ext>
                  </a:extLst>
                </a:gridCol>
                <a:gridCol w="5400675">
                  <a:extLst>
                    <a:ext uri="{9D8B030D-6E8A-4147-A177-3AD203B41FA5}">
                      <a16:colId xmlns:a16="http://schemas.microsoft.com/office/drawing/2014/main" val="20001"/>
                    </a:ext>
                  </a:extLst>
                </a:gridCol>
                <a:gridCol w="5400675">
                  <a:extLst>
                    <a:ext uri="{9D8B030D-6E8A-4147-A177-3AD203B41FA5}">
                      <a16:colId xmlns:a16="http://schemas.microsoft.com/office/drawing/2014/main" val="20002"/>
                    </a:ext>
                  </a:extLst>
                </a:gridCol>
              </a:tblGrid>
              <a:tr h="714375">
                <a:tc>
                  <a:txBody>
                    <a:bodyPr/>
                    <a:lstStyle/>
                    <a:p>
                      <a:pPr marL="0" lvl="0" indent="0" algn="ctr">
                        <a:lnSpc>
                          <a:spcPts val="2100"/>
                        </a:lnSpc>
                        <a:spcBef>
                          <a:spcPct val="0"/>
                        </a:spcBef>
                        <a:defRPr/>
                      </a:pPr>
                      <a:r>
                        <a:rPr lang="en-US" sz="1500" b="1">
                          <a:solidFill>
                            <a:srgbClr val="000066"/>
                          </a:solidFill>
                          <a:latin typeface="Garet Bold"/>
                          <a:ea typeface="Garet Bold"/>
                          <a:cs typeface="Garet Bold"/>
                          <a:sym typeface="Garet Bold"/>
                        </a:rPr>
                        <a:t>Core KPIs</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28575" cap="flat" cmpd="sng" algn="ctr">
                      <a:solidFill>
                        <a:srgbClr val="000066"/>
                      </a:solidFill>
                      <a:prstDash val="solid"/>
                      <a:round/>
                      <a:headEnd type="none" w="med" len="med"/>
                      <a:tailEnd type="none" w="med" len="med"/>
                    </a:lnB>
                  </a:tcPr>
                </a:tc>
                <a:tc>
                  <a:txBody>
                    <a:bodyPr/>
                    <a:lstStyle/>
                    <a:p>
                      <a:pPr marL="0" lvl="0" indent="0" algn="ctr">
                        <a:lnSpc>
                          <a:spcPts val="2100"/>
                        </a:lnSpc>
                        <a:spcBef>
                          <a:spcPct val="0"/>
                        </a:spcBef>
                        <a:defRPr/>
                      </a:pPr>
                      <a:r>
                        <a:rPr lang="en-US" sz="1500" b="1">
                          <a:solidFill>
                            <a:srgbClr val="000066"/>
                          </a:solidFill>
                          <a:latin typeface="Garet Bold"/>
                          <a:ea typeface="Garet Bold"/>
                          <a:cs typeface="Garet Bold"/>
                          <a:sym typeface="Garet Bold"/>
                        </a:rPr>
                        <a:t>Ke</a:t>
                      </a:r>
                      <a:r>
                        <a:rPr lang="en-US" sz="1500" b="1" u="none" strike="noStrike">
                          <a:solidFill>
                            <a:srgbClr val="000066"/>
                          </a:solidFill>
                          <a:latin typeface="Garet Bold"/>
                          <a:ea typeface="Garet Bold"/>
                          <a:cs typeface="Garet Bold"/>
                          <a:sym typeface="Garet Bold"/>
                        </a:rPr>
                        <a:t>y Visuals &amp; Metrics</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28575" cap="flat" cmpd="sng" algn="ctr">
                      <a:solidFill>
                        <a:srgbClr val="000066"/>
                      </a:solidFill>
                      <a:prstDash val="solid"/>
                      <a:round/>
                      <a:headEnd type="none" w="med" len="med"/>
                      <a:tailEnd type="none" w="med" len="med"/>
                    </a:lnB>
                  </a:tcPr>
                </a:tc>
                <a:tc>
                  <a:txBody>
                    <a:bodyPr/>
                    <a:lstStyle/>
                    <a:p>
                      <a:pPr marL="0" lvl="0" indent="0" algn="ctr">
                        <a:lnSpc>
                          <a:spcPts val="2100"/>
                        </a:lnSpc>
                        <a:spcBef>
                          <a:spcPct val="0"/>
                        </a:spcBef>
                        <a:defRPr/>
                      </a:pPr>
                      <a:r>
                        <a:rPr lang="en-US" sz="1500" b="1">
                          <a:solidFill>
                            <a:srgbClr val="000066"/>
                          </a:solidFill>
                          <a:latin typeface="Garet Bold"/>
                          <a:ea typeface="Garet Bold"/>
                          <a:cs typeface="Garet Bold"/>
                          <a:sym typeface="Garet Bold"/>
                        </a:rPr>
                        <a:t>Business Decisi</a:t>
                      </a:r>
                      <a:r>
                        <a:rPr lang="en-US" sz="1500" b="1" u="none" strike="noStrike">
                          <a:solidFill>
                            <a:srgbClr val="000066"/>
                          </a:solidFill>
                          <a:latin typeface="Garet Bold"/>
                          <a:ea typeface="Garet Bold"/>
                          <a:cs typeface="Garet Bold"/>
                          <a:sym typeface="Garet Bold"/>
                        </a:rPr>
                        <a:t>on Support</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28575" cap="flat" cmpd="sng" algn="ctr">
                      <a:solidFill>
                        <a:srgbClr val="000066"/>
                      </a:solidFill>
                      <a:prstDash val="solid"/>
                      <a:round/>
                      <a:headEnd type="none" w="med" len="med"/>
                      <a:tailEnd type="none" w="med" len="med"/>
                    </a:lnB>
                  </a:tcPr>
                </a:tc>
                <a:extLst>
                  <a:ext uri="{0D108BD9-81ED-4DB2-BD59-A6C34878D82A}">
                    <a16:rowId xmlns:a16="http://schemas.microsoft.com/office/drawing/2014/main" val="10000"/>
                  </a:ext>
                </a:extLst>
              </a:tr>
              <a:tr h="1247775">
                <a:tc>
                  <a:txBody>
                    <a:bodyPr/>
                    <a:lstStyle/>
                    <a:p>
                      <a:pPr algn="ctr">
                        <a:lnSpc>
                          <a:spcPts val="2100"/>
                        </a:lnSpc>
                        <a:defRPr/>
                      </a:pPr>
                      <a:r>
                        <a:rPr lang="en-US" sz="1500">
                          <a:solidFill>
                            <a:srgbClr val="000066"/>
                          </a:solidFill>
                          <a:latin typeface="Garet"/>
                          <a:ea typeface="Garet"/>
                          <a:cs typeface="Garet"/>
                          <a:sym typeface="Garet"/>
                        </a:rPr>
                        <a:t>Total Spend: Total purchase volume.</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28575" cap="flat" cmpd="sng" algn="ctr">
                      <a:solidFill>
                        <a:srgbClr val="000066"/>
                      </a:solidFill>
                      <a:prstDash val="solid"/>
                      <a:round/>
                      <a:headEnd type="none" w="med" len="med"/>
                      <a:tailEnd type="none" w="med" len="med"/>
                    </a:lnT>
                    <a:lnB w="9525" cap="flat" cmpd="sng" algn="ctr">
                      <a:solidFill>
                        <a:srgbClr val="000066"/>
                      </a:solidFill>
                      <a:prstDash val="solid"/>
                      <a:round/>
                      <a:headEnd type="none" w="med" len="med"/>
                      <a:tailEnd type="none" w="med" len="med"/>
                    </a:lnB>
                  </a:tcPr>
                </a:tc>
                <a:tc>
                  <a:txBody>
                    <a:bodyPr/>
                    <a:lstStyle/>
                    <a:p>
                      <a:pPr algn="ctr">
                        <a:lnSpc>
                          <a:spcPts val="2100"/>
                        </a:lnSpc>
                        <a:defRPr/>
                      </a:pPr>
                      <a:r>
                        <a:rPr lang="en-US" sz="1500">
                          <a:solidFill>
                            <a:srgbClr val="000066"/>
                          </a:solidFill>
                          <a:latin typeface="Garet"/>
                          <a:ea typeface="Garet"/>
                          <a:cs typeface="Garet"/>
                          <a:sym typeface="Garet"/>
                        </a:rPr>
                        <a:t>Time Trends: Monthly spend and transaction volume line chart</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28575" cap="flat" cmpd="sng" algn="ctr">
                      <a:solidFill>
                        <a:srgbClr val="000066"/>
                      </a:solidFill>
                      <a:prstDash val="solid"/>
                      <a:round/>
                      <a:headEnd type="none" w="med" len="med"/>
                      <a:tailEnd type="none" w="med" len="med"/>
                    </a:lnT>
                    <a:lnB w="9525" cap="flat" cmpd="sng" algn="ctr">
                      <a:solidFill>
                        <a:srgbClr val="000066"/>
                      </a:solidFill>
                      <a:prstDash val="solid"/>
                      <a:round/>
                      <a:headEnd type="none" w="med" len="med"/>
                      <a:tailEnd type="none" w="med" len="med"/>
                    </a:lnB>
                  </a:tcPr>
                </a:tc>
                <a:tc>
                  <a:txBody>
                    <a:bodyPr/>
                    <a:lstStyle/>
                    <a:p>
                      <a:pPr algn="ctr">
                        <a:lnSpc>
                          <a:spcPts val="2100"/>
                        </a:lnSpc>
                        <a:defRPr/>
                      </a:pPr>
                      <a:r>
                        <a:rPr lang="en-US" sz="1500" dirty="0">
                          <a:solidFill>
                            <a:srgbClr val="000066"/>
                          </a:solidFill>
                          <a:latin typeface="Garet"/>
                          <a:ea typeface="Garet"/>
                          <a:cs typeface="Garet"/>
                          <a:sym typeface="Garet"/>
                        </a:rPr>
                        <a:t>Partnership Strategy: Focuses loyalty perks and co-branding on top-performing merchant categories</a:t>
                      </a:r>
                      <a:endParaRPr lang="en-US" sz="1100" dirty="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28575" cap="flat" cmpd="sng" algn="ctr">
                      <a:solidFill>
                        <a:srgbClr val="000066"/>
                      </a:solidFill>
                      <a:prstDash val="solid"/>
                      <a:round/>
                      <a:headEnd type="none" w="med" len="med"/>
                      <a:tailEnd type="none" w="med" len="med"/>
                    </a:lnT>
                    <a:lnB w="9525" cap="flat" cmpd="sng" algn="ctr">
                      <a:solidFill>
                        <a:srgbClr val="000066"/>
                      </a:solidFill>
                      <a:prstDash val="solid"/>
                      <a:round/>
                      <a:headEnd type="none" w="med" len="med"/>
                      <a:tailEnd type="none" w="med" len="med"/>
                    </a:lnB>
                  </a:tcPr>
                </a:tc>
                <a:extLst>
                  <a:ext uri="{0D108BD9-81ED-4DB2-BD59-A6C34878D82A}">
                    <a16:rowId xmlns:a16="http://schemas.microsoft.com/office/drawing/2014/main" val="10001"/>
                  </a:ext>
                </a:extLst>
              </a:tr>
              <a:tr h="1026645">
                <a:tc>
                  <a:txBody>
                    <a:bodyPr/>
                    <a:lstStyle/>
                    <a:p>
                      <a:pPr algn="ctr">
                        <a:lnSpc>
                          <a:spcPts val="2100"/>
                        </a:lnSpc>
                        <a:defRPr/>
                      </a:pPr>
                      <a:r>
                        <a:rPr lang="en-US" sz="1500">
                          <a:solidFill>
                            <a:srgbClr val="000066"/>
                          </a:solidFill>
                          <a:latin typeface="Garet"/>
                          <a:ea typeface="Garet"/>
                          <a:cs typeface="Garet"/>
                          <a:sym typeface="Garet"/>
                        </a:rPr>
                        <a:t>Total Transactions: Overall transaction volume</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66"/>
                      </a:solidFill>
                      <a:prstDash val="solid"/>
                      <a:round/>
                      <a:headEnd type="none" w="med" len="med"/>
                      <a:tailEnd type="none" w="med" len="med"/>
                    </a:lnT>
                    <a:lnB w="9525" cap="flat" cmpd="sng" algn="ctr">
                      <a:solidFill>
                        <a:srgbClr val="000066"/>
                      </a:solidFill>
                      <a:prstDash val="solid"/>
                      <a:round/>
                      <a:headEnd type="none" w="med" len="med"/>
                      <a:tailEnd type="none" w="med" len="med"/>
                    </a:lnB>
                  </a:tcPr>
                </a:tc>
                <a:tc>
                  <a:txBody>
                    <a:bodyPr/>
                    <a:lstStyle/>
                    <a:p>
                      <a:pPr algn="ctr">
                        <a:lnSpc>
                          <a:spcPts val="2100"/>
                        </a:lnSpc>
                        <a:defRPr/>
                      </a:pPr>
                      <a:r>
                        <a:rPr lang="en-US" sz="1500">
                          <a:solidFill>
                            <a:srgbClr val="000066"/>
                          </a:solidFill>
                          <a:latin typeface="Garet"/>
                          <a:ea typeface="Garet"/>
                          <a:cs typeface="Garet"/>
                          <a:sym typeface="Garet"/>
                        </a:rPr>
                        <a:t>Adoption Mix: Historical vs. New merchant volume split</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66"/>
                      </a:solidFill>
                      <a:prstDash val="solid"/>
                      <a:round/>
                      <a:headEnd type="none" w="med" len="med"/>
                      <a:tailEnd type="none" w="med" len="med"/>
                    </a:lnT>
                    <a:lnB w="9525" cap="flat" cmpd="sng" algn="ctr">
                      <a:solidFill>
                        <a:srgbClr val="000066"/>
                      </a:solidFill>
                      <a:prstDash val="solid"/>
                      <a:round/>
                      <a:headEnd type="none" w="med" len="med"/>
                      <a:tailEnd type="none" w="med" len="med"/>
                    </a:lnB>
                  </a:tcPr>
                </a:tc>
                <a:tc>
                  <a:txBody>
                    <a:bodyPr/>
                    <a:lstStyle/>
                    <a:p>
                      <a:pPr algn="ctr">
                        <a:lnSpc>
                          <a:spcPts val="2100"/>
                        </a:lnSpc>
                        <a:defRPr/>
                      </a:pPr>
                      <a:r>
                        <a:rPr lang="en-US" sz="1500" dirty="0">
                          <a:solidFill>
                            <a:srgbClr val="000066"/>
                          </a:solidFill>
                          <a:latin typeface="Garet"/>
                          <a:ea typeface="Garet"/>
                          <a:cs typeface="Garet"/>
                          <a:sym typeface="Garet"/>
                        </a:rPr>
                        <a:t>Geographic Expansion: Targets marketing and merchant onboarding in high-volume cities</a:t>
                      </a:r>
                      <a:endParaRPr lang="en-US" sz="1100" dirty="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66"/>
                      </a:solidFill>
                      <a:prstDash val="solid"/>
                      <a:round/>
                      <a:headEnd type="none" w="med" len="med"/>
                      <a:tailEnd type="none" w="med" len="med"/>
                    </a:lnT>
                    <a:lnB w="9525" cap="flat" cmpd="sng" algn="ctr">
                      <a:solidFill>
                        <a:srgbClr val="000066"/>
                      </a:solidFill>
                      <a:prstDash val="solid"/>
                      <a:round/>
                      <a:headEnd type="none" w="med" len="med"/>
                      <a:tailEnd type="none" w="med" len="med"/>
                    </a:lnB>
                  </a:tcPr>
                </a:tc>
                <a:extLst>
                  <a:ext uri="{0D108BD9-81ED-4DB2-BD59-A6C34878D82A}">
                    <a16:rowId xmlns:a16="http://schemas.microsoft.com/office/drawing/2014/main" val="10002"/>
                  </a:ext>
                </a:extLst>
              </a:tr>
              <a:tr h="971550">
                <a:tc>
                  <a:txBody>
                    <a:bodyPr/>
                    <a:lstStyle/>
                    <a:p>
                      <a:pPr algn="ctr">
                        <a:lnSpc>
                          <a:spcPts val="2100"/>
                        </a:lnSpc>
                        <a:defRPr/>
                      </a:pPr>
                      <a:r>
                        <a:rPr lang="en-US" sz="1500">
                          <a:solidFill>
                            <a:srgbClr val="000066"/>
                          </a:solidFill>
                          <a:latin typeface="Garet"/>
                          <a:ea typeface="Garet"/>
                          <a:cs typeface="Garet"/>
                          <a:sym typeface="Garet"/>
                        </a:rPr>
                        <a:t>Average Spend per Card: Spend per unique cardholder</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66"/>
                      </a:solidFill>
                      <a:prstDash val="solid"/>
                      <a:round/>
                      <a:headEnd type="none" w="med" len="med"/>
                      <a:tailEnd type="none" w="med" len="med"/>
                    </a:lnT>
                    <a:lnB w="9525" cap="flat" cmpd="sng" algn="ctr">
                      <a:solidFill>
                        <a:srgbClr val="000066"/>
                      </a:solidFill>
                      <a:prstDash val="solid"/>
                      <a:round/>
                      <a:headEnd type="none" w="med" len="med"/>
                      <a:tailEnd type="none" w="med" len="med"/>
                    </a:lnB>
                  </a:tcPr>
                </a:tc>
                <a:tc>
                  <a:txBody>
                    <a:bodyPr/>
                    <a:lstStyle/>
                    <a:p>
                      <a:pPr algn="ctr">
                        <a:lnSpc>
                          <a:spcPts val="2100"/>
                        </a:lnSpc>
                        <a:defRPr/>
                      </a:pPr>
                      <a:r>
                        <a:rPr lang="en-US" sz="1500">
                          <a:solidFill>
                            <a:srgbClr val="000066"/>
                          </a:solidFill>
                          <a:latin typeface="Garet"/>
                          <a:ea typeface="Garet"/>
                          <a:cs typeface="Garet"/>
                          <a:sym typeface="Garet"/>
                        </a:rPr>
                        <a:t>Installment Mix: Single payment vs. short/long-term installments</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66"/>
                      </a:solidFill>
                      <a:prstDash val="solid"/>
                      <a:round/>
                      <a:headEnd type="none" w="med" len="med"/>
                      <a:tailEnd type="none" w="med" len="med"/>
                    </a:lnT>
                    <a:lnB w="9525" cap="flat" cmpd="sng" algn="ctr">
                      <a:solidFill>
                        <a:srgbClr val="000066"/>
                      </a:solidFill>
                      <a:prstDash val="solid"/>
                      <a:round/>
                      <a:headEnd type="none" w="med" len="med"/>
                      <a:tailEnd type="none" w="med" len="med"/>
                    </a:lnB>
                  </a:tcPr>
                </a:tc>
                <a:tc>
                  <a:txBody>
                    <a:bodyPr/>
                    <a:lstStyle/>
                    <a:p>
                      <a:pPr algn="ctr">
                        <a:lnSpc>
                          <a:spcPts val="2100"/>
                        </a:lnSpc>
                        <a:defRPr/>
                      </a:pPr>
                      <a:r>
                        <a:rPr lang="en-US" sz="1500" dirty="0">
                          <a:solidFill>
                            <a:srgbClr val="000066"/>
                          </a:solidFill>
                          <a:latin typeface="Garet"/>
                          <a:ea typeface="Garet"/>
                          <a:cs typeface="Garet"/>
                          <a:sym typeface="Garet"/>
                        </a:rPr>
                        <a:t>Credit &amp; Risk Management: Aligns installment offerings with cardholder cohort behaviors</a:t>
                      </a:r>
                      <a:endParaRPr lang="en-US" sz="1100" dirty="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66"/>
                      </a:solidFill>
                      <a:prstDash val="solid"/>
                      <a:round/>
                      <a:headEnd type="none" w="med" len="med"/>
                      <a:tailEnd type="none" w="med" len="med"/>
                    </a:lnT>
                    <a:lnB w="9525" cap="flat" cmpd="sng" algn="ctr">
                      <a:solidFill>
                        <a:srgbClr val="000066"/>
                      </a:solidFill>
                      <a:prstDash val="solid"/>
                      <a:round/>
                      <a:headEnd type="none" w="med" len="med"/>
                      <a:tailEnd type="none" w="med" len="med"/>
                    </a:lnB>
                  </a:tcPr>
                </a:tc>
                <a:extLst>
                  <a:ext uri="{0D108BD9-81ED-4DB2-BD59-A6C34878D82A}">
                    <a16:rowId xmlns:a16="http://schemas.microsoft.com/office/drawing/2014/main" val="10003"/>
                  </a:ext>
                </a:extLst>
              </a:tr>
              <a:tr h="971550">
                <a:tc>
                  <a:txBody>
                    <a:bodyPr/>
                    <a:lstStyle/>
                    <a:p>
                      <a:pPr algn="ctr">
                        <a:lnSpc>
                          <a:spcPts val="2100"/>
                        </a:lnSpc>
                        <a:defRPr/>
                      </a:pPr>
                      <a:r>
                        <a:rPr lang="en-US" sz="1500">
                          <a:solidFill>
                            <a:srgbClr val="000066"/>
                          </a:solidFill>
                          <a:latin typeface="Garet"/>
                          <a:ea typeface="Garet"/>
                          <a:cs typeface="Garet"/>
                          <a:sym typeface="Garet"/>
                        </a:rPr>
                        <a:t>Authorization Rate (%): Approved vs. total attempts</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66"/>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66"/>
                          </a:solidFill>
                          <a:latin typeface="Garet"/>
                          <a:ea typeface="Garet"/>
                          <a:cs typeface="Garet"/>
                          <a:sym typeface="Garet"/>
                        </a:rPr>
                        <a:t>Geographic Matrix: Regional drill-down (state_id → city_id) </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66"/>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a:lnSpc>
                          <a:spcPts val="2100"/>
                        </a:lnSpc>
                        <a:defRPr/>
                      </a:pP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66"/>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71550">
                <a:tc>
                  <a:txBody>
                    <a:bodyPr/>
                    <a:lstStyle/>
                    <a:p>
                      <a:pPr algn="ctr">
                        <a:lnSpc>
                          <a:spcPts val="2100"/>
                        </a:lnSpc>
                        <a:defRPr/>
                      </a:pPr>
                      <a:r>
                        <a:rPr lang="en-US" sz="1500">
                          <a:solidFill>
                            <a:srgbClr val="000066"/>
                          </a:solidFill>
                          <a:latin typeface="Garet"/>
                          <a:ea typeface="Garet"/>
                          <a:cs typeface="Garet"/>
                          <a:sym typeface="Garet"/>
                        </a:rPr>
                        <a:t>Active Footprint: Distinct count of states, cities, and categories</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a:lnSpc>
                          <a:spcPts val="2100"/>
                        </a:lnSpc>
                        <a:defRPr/>
                      </a:pPr>
                      <a:r>
                        <a:rPr lang="en-US" sz="1500">
                          <a:solidFill>
                            <a:srgbClr val="000066"/>
                          </a:solidFill>
                          <a:latin typeface="Garet"/>
                          <a:ea typeface="Garet"/>
                          <a:cs typeface="Garet"/>
                          <a:sym typeface="Garet"/>
                        </a:rPr>
                        <a:t>Top Categories: Top 10 merchant categories by spend</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a:lnSpc>
                          <a:spcPts val="2100"/>
                        </a:lnSpc>
                        <a:defRPr/>
                      </a:pPr>
                      <a:endParaRPr lang="en-US" sz="1100" dirty="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14" name="Group 14"/>
          <p:cNvGrpSpPr/>
          <p:nvPr/>
        </p:nvGrpSpPr>
        <p:grpSpPr>
          <a:xfrm rot="-2699999">
            <a:off x="2357437" y="-973775"/>
            <a:ext cx="1932482" cy="1774829"/>
            <a:chOff x="0" y="0"/>
            <a:chExt cx="1338352" cy="1229168"/>
          </a:xfrm>
        </p:grpSpPr>
        <p:sp>
          <p:nvSpPr>
            <p:cNvPr id="15" name="Freeform 15"/>
            <p:cNvSpPr/>
            <p:nvPr/>
          </p:nvSpPr>
          <p:spPr>
            <a:xfrm>
              <a:off x="0" y="0"/>
              <a:ext cx="1338352" cy="1229168"/>
            </a:xfrm>
            <a:custGeom>
              <a:avLst/>
              <a:gdLst/>
              <a:ahLst/>
              <a:cxnLst/>
              <a:rect l="l" t="t" r="r" b="b"/>
              <a:pathLst>
                <a:path w="1338352" h="1229168">
                  <a:moveTo>
                    <a:pt x="0" y="0"/>
                  </a:moveTo>
                  <a:lnTo>
                    <a:pt x="1338352" y="0"/>
                  </a:lnTo>
                  <a:lnTo>
                    <a:pt x="1338352" y="1229168"/>
                  </a:lnTo>
                  <a:lnTo>
                    <a:pt x="0" y="1229168"/>
                  </a:lnTo>
                  <a:close/>
                </a:path>
              </a:pathLst>
            </a:custGeom>
            <a:solidFill>
              <a:srgbClr val="336699"/>
            </a:solidFill>
          </p:spPr>
          <p:txBody>
            <a:bodyPr/>
            <a:lstStyle/>
            <a:p>
              <a:endParaRPr lang="en-GB"/>
            </a:p>
          </p:txBody>
        </p:sp>
        <p:sp>
          <p:nvSpPr>
            <p:cNvPr id="16" name="TextBox 16"/>
            <p:cNvSpPr txBox="1"/>
            <p:nvPr/>
          </p:nvSpPr>
          <p:spPr>
            <a:xfrm>
              <a:off x="0" y="-38100"/>
              <a:ext cx="1338352" cy="1267268"/>
            </a:xfrm>
            <a:prstGeom prst="rect">
              <a:avLst/>
            </a:prstGeom>
          </p:spPr>
          <p:txBody>
            <a:bodyPr lIns="46654" tIns="46654" rIns="46654" bIns="46654" rtlCol="0" anchor="ctr"/>
            <a:lstStyle/>
            <a:p>
              <a:pPr algn="ctr">
                <a:lnSpc>
                  <a:spcPts val="1800"/>
                </a:lnSpc>
                <a:spcBef>
                  <a:spcPct val="0"/>
                </a:spcBef>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6699FF"/>
        </a:solidFill>
        <a:effectLst/>
      </p:bgPr>
    </p:bg>
    <p:spTree>
      <p:nvGrpSpPr>
        <p:cNvPr id="1" name=""/>
        <p:cNvGrpSpPr/>
        <p:nvPr/>
      </p:nvGrpSpPr>
      <p:grpSpPr>
        <a:xfrm>
          <a:off x="0" y="0"/>
          <a:ext cx="0" cy="0"/>
          <a:chOff x="0" y="0"/>
          <a:chExt cx="0" cy="0"/>
        </a:xfrm>
      </p:grpSpPr>
      <p:grpSp>
        <p:nvGrpSpPr>
          <p:cNvPr id="2" name="Group 2"/>
          <p:cNvGrpSpPr/>
          <p:nvPr/>
        </p:nvGrpSpPr>
        <p:grpSpPr>
          <a:xfrm>
            <a:off x="188797" y="203992"/>
            <a:ext cx="17910406" cy="9879016"/>
            <a:chOff x="0" y="0"/>
            <a:chExt cx="4717144" cy="2601881"/>
          </a:xfrm>
        </p:grpSpPr>
        <p:sp>
          <p:nvSpPr>
            <p:cNvPr id="3" name="Freeform 3"/>
            <p:cNvSpPr/>
            <p:nvPr/>
          </p:nvSpPr>
          <p:spPr>
            <a:xfrm>
              <a:off x="0" y="0"/>
              <a:ext cx="4717144" cy="2601881"/>
            </a:xfrm>
            <a:custGeom>
              <a:avLst/>
              <a:gdLst/>
              <a:ahLst/>
              <a:cxnLst/>
              <a:rect l="l" t="t" r="r" b="b"/>
              <a:pathLst>
                <a:path w="4717144" h="2601881">
                  <a:moveTo>
                    <a:pt x="0" y="0"/>
                  </a:moveTo>
                  <a:lnTo>
                    <a:pt x="4717144" y="0"/>
                  </a:lnTo>
                  <a:lnTo>
                    <a:pt x="4717144" y="2601881"/>
                  </a:lnTo>
                  <a:lnTo>
                    <a:pt x="0" y="2601881"/>
                  </a:lnTo>
                  <a:close/>
                </a:path>
              </a:pathLst>
            </a:custGeom>
            <a:solidFill>
              <a:srgbClr val="FFFFFF"/>
            </a:solidFill>
          </p:spPr>
          <p:txBody>
            <a:bodyPr/>
            <a:lstStyle/>
            <a:p>
              <a:endParaRPr lang="en-GB"/>
            </a:p>
          </p:txBody>
        </p:sp>
        <p:sp>
          <p:nvSpPr>
            <p:cNvPr id="4" name="TextBox 4"/>
            <p:cNvSpPr txBox="1"/>
            <p:nvPr/>
          </p:nvSpPr>
          <p:spPr>
            <a:xfrm>
              <a:off x="0" y="-38100"/>
              <a:ext cx="4717144" cy="2639981"/>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2550397" y="6092746"/>
            <a:ext cx="4708903" cy="3165554"/>
            <a:chOff x="0" y="0"/>
            <a:chExt cx="1240205" cy="833726"/>
          </a:xfrm>
        </p:grpSpPr>
        <p:sp>
          <p:nvSpPr>
            <p:cNvPr id="6" name="Freeform 6"/>
            <p:cNvSpPr/>
            <p:nvPr/>
          </p:nvSpPr>
          <p:spPr>
            <a:xfrm>
              <a:off x="0" y="0"/>
              <a:ext cx="1240205" cy="833726"/>
            </a:xfrm>
            <a:custGeom>
              <a:avLst/>
              <a:gdLst/>
              <a:ahLst/>
              <a:cxnLst/>
              <a:rect l="l" t="t" r="r" b="b"/>
              <a:pathLst>
                <a:path w="1240205" h="833726">
                  <a:moveTo>
                    <a:pt x="0" y="0"/>
                  </a:moveTo>
                  <a:lnTo>
                    <a:pt x="1240205" y="0"/>
                  </a:lnTo>
                  <a:lnTo>
                    <a:pt x="1240205" y="833726"/>
                  </a:lnTo>
                  <a:lnTo>
                    <a:pt x="0" y="833726"/>
                  </a:lnTo>
                  <a:close/>
                </a:path>
              </a:pathLst>
            </a:custGeom>
            <a:solidFill>
              <a:srgbClr val="000066"/>
            </a:solidFill>
          </p:spPr>
          <p:txBody>
            <a:bodyPr/>
            <a:lstStyle/>
            <a:p>
              <a:endParaRPr lang="en-GB"/>
            </a:p>
          </p:txBody>
        </p:sp>
        <p:sp>
          <p:nvSpPr>
            <p:cNvPr id="7" name="TextBox 7"/>
            <p:cNvSpPr txBox="1"/>
            <p:nvPr/>
          </p:nvSpPr>
          <p:spPr>
            <a:xfrm>
              <a:off x="0" y="-47625"/>
              <a:ext cx="1240205" cy="881351"/>
            </a:xfrm>
            <a:prstGeom prst="rect">
              <a:avLst/>
            </a:prstGeom>
          </p:spPr>
          <p:txBody>
            <a:bodyPr lIns="50800" tIns="50800" rIns="50800" bIns="50800" rtlCol="0" anchor="ctr"/>
            <a:lstStyle/>
            <a:p>
              <a:pPr algn="ctr">
                <a:lnSpc>
                  <a:spcPts val="2800"/>
                </a:lnSpc>
              </a:pPr>
              <a:endParaRPr/>
            </a:p>
          </p:txBody>
        </p:sp>
      </p:grpSp>
      <p:sp>
        <p:nvSpPr>
          <p:cNvPr id="8" name="TextBox 8"/>
          <p:cNvSpPr txBox="1"/>
          <p:nvPr/>
        </p:nvSpPr>
        <p:spPr>
          <a:xfrm>
            <a:off x="12892993" y="6256933"/>
            <a:ext cx="4023712" cy="2856230"/>
          </a:xfrm>
          <a:prstGeom prst="rect">
            <a:avLst/>
          </a:prstGeom>
        </p:spPr>
        <p:txBody>
          <a:bodyPr lIns="0" tIns="0" rIns="0" bIns="0" rtlCol="0" anchor="t">
            <a:spAutoFit/>
          </a:bodyPr>
          <a:lstStyle/>
          <a:p>
            <a:pPr marL="0" lvl="0" indent="0" algn="ctr">
              <a:lnSpc>
                <a:spcPts val="2260"/>
              </a:lnSpc>
              <a:spcBef>
                <a:spcPct val="0"/>
              </a:spcBef>
            </a:pPr>
            <a:r>
              <a:rPr lang="en-US" sz="2000" b="1">
                <a:solidFill>
                  <a:srgbClr val="FFFFFF"/>
                </a:solidFill>
                <a:latin typeface="Garet Bold"/>
                <a:ea typeface="Garet Bold"/>
                <a:cs typeface="Garet Bold"/>
                <a:sym typeface="Garet Bold"/>
              </a:rPr>
              <a:t>New Merchant Onboardi</a:t>
            </a:r>
            <a:r>
              <a:rPr lang="en-US" sz="2000" b="1" u="none" strike="noStrike">
                <a:solidFill>
                  <a:srgbClr val="FFFFFF"/>
                </a:solidFill>
                <a:latin typeface="Garet Bold"/>
                <a:ea typeface="Garet Bold"/>
                <a:cs typeface="Garet Bold"/>
                <a:sym typeface="Garet Bold"/>
              </a:rPr>
              <a:t>ng Incentives:</a:t>
            </a:r>
          </a:p>
          <a:p>
            <a:pPr marL="0" lvl="0" indent="0" algn="ctr">
              <a:lnSpc>
                <a:spcPts val="2260"/>
              </a:lnSpc>
              <a:spcBef>
                <a:spcPct val="0"/>
              </a:spcBef>
            </a:pPr>
            <a:endParaRPr lang="en-US" sz="2000" b="1" u="none" strike="noStrike">
              <a:solidFill>
                <a:srgbClr val="FFFFFF"/>
              </a:solidFill>
              <a:latin typeface="Garet Bold"/>
              <a:ea typeface="Garet Bold"/>
              <a:cs typeface="Garet Bold"/>
              <a:sym typeface="Garet Bold"/>
            </a:endParaRPr>
          </a:p>
          <a:p>
            <a:pPr marL="0" lvl="0" indent="0" algn="ctr">
              <a:lnSpc>
                <a:spcPts val="2260"/>
              </a:lnSpc>
              <a:spcBef>
                <a:spcPct val="0"/>
              </a:spcBef>
            </a:pPr>
            <a:r>
              <a:rPr lang="en-US" sz="2000" u="none" strike="noStrike">
                <a:solidFill>
                  <a:srgbClr val="FFFFFF"/>
                </a:solidFill>
                <a:latin typeface="Garet"/>
                <a:ea typeface="Garet"/>
                <a:cs typeface="Garet"/>
                <a:sym typeface="Garet"/>
              </a:rPr>
              <a:t>Offer introductory cashback or loyalty points when cardholders make their first purchase at newly partnered merchants to accelerate customer adoption beyond historical stores.</a:t>
            </a:r>
          </a:p>
        </p:txBody>
      </p:sp>
      <p:sp>
        <p:nvSpPr>
          <p:cNvPr id="9" name="TextBox 9"/>
          <p:cNvSpPr txBox="1"/>
          <p:nvPr/>
        </p:nvSpPr>
        <p:spPr>
          <a:xfrm>
            <a:off x="7208216" y="6542683"/>
            <a:ext cx="3871567" cy="2570480"/>
          </a:xfrm>
          <a:prstGeom prst="rect">
            <a:avLst/>
          </a:prstGeom>
        </p:spPr>
        <p:txBody>
          <a:bodyPr lIns="0" tIns="0" rIns="0" bIns="0" rtlCol="0" anchor="t">
            <a:spAutoFit/>
          </a:bodyPr>
          <a:lstStyle/>
          <a:p>
            <a:pPr marL="0" lvl="0" indent="0" algn="ctr">
              <a:lnSpc>
                <a:spcPts val="2260"/>
              </a:lnSpc>
              <a:spcBef>
                <a:spcPct val="0"/>
              </a:spcBef>
            </a:pPr>
            <a:r>
              <a:rPr lang="en-US" sz="2000" b="1">
                <a:solidFill>
                  <a:srgbClr val="000066"/>
                </a:solidFill>
                <a:latin typeface="Garet Bold"/>
                <a:ea typeface="Garet Bold"/>
                <a:cs typeface="Garet Bold"/>
                <a:sym typeface="Garet Bold"/>
              </a:rPr>
              <a:t>L</a:t>
            </a:r>
            <a:r>
              <a:rPr lang="en-US" sz="2000" b="1" u="none" strike="noStrike">
                <a:solidFill>
                  <a:srgbClr val="000066"/>
                </a:solidFill>
                <a:latin typeface="Garet Bold"/>
                <a:ea typeface="Garet Bold"/>
                <a:cs typeface="Garet Bold"/>
                <a:sym typeface="Garet Bold"/>
              </a:rPr>
              <a:t>ocalized Marketing &amp; Expansion:</a:t>
            </a:r>
          </a:p>
          <a:p>
            <a:pPr marL="0" lvl="0" indent="0" algn="ctr">
              <a:lnSpc>
                <a:spcPts val="2260"/>
              </a:lnSpc>
              <a:spcBef>
                <a:spcPct val="0"/>
              </a:spcBef>
            </a:pPr>
            <a:endParaRPr lang="en-US" sz="2000" b="1" u="none" strike="noStrike">
              <a:solidFill>
                <a:srgbClr val="000066"/>
              </a:solidFill>
              <a:latin typeface="Garet Bold"/>
              <a:ea typeface="Garet Bold"/>
              <a:cs typeface="Garet Bold"/>
              <a:sym typeface="Garet Bold"/>
            </a:endParaRPr>
          </a:p>
          <a:p>
            <a:pPr marL="0" lvl="0" indent="0" algn="ctr">
              <a:lnSpc>
                <a:spcPts val="2260"/>
              </a:lnSpc>
              <a:spcBef>
                <a:spcPct val="0"/>
              </a:spcBef>
            </a:pPr>
            <a:r>
              <a:rPr lang="en-US" sz="2000" u="none" strike="noStrike">
                <a:solidFill>
                  <a:srgbClr val="000066"/>
                </a:solidFill>
                <a:latin typeface="Garet"/>
                <a:ea typeface="Garet"/>
                <a:cs typeface="Garet"/>
                <a:sym typeface="Garet"/>
              </a:rPr>
              <a:t>Allocate regional acquisition budgets and local merchant onboarding teams to high-volume urban clusters identified in the geographic matrix.</a:t>
            </a:r>
          </a:p>
        </p:txBody>
      </p:sp>
      <p:grpSp>
        <p:nvGrpSpPr>
          <p:cNvPr id="10" name="Group 10"/>
          <p:cNvGrpSpPr/>
          <p:nvPr/>
        </p:nvGrpSpPr>
        <p:grpSpPr>
          <a:xfrm>
            <a:off x="1028700" y="6092746"/>
            <a:ext cx="4708903" cy="3165554"/>
            <a:chOff x="0" y="0"/>
            <a:chExt cx="1240205" cy="833726"/>
          </a:xfrm>
        </p:grpSpPr>
        <p:sp>
          <p:nvSpPr>
            <p:cNvPr id="11" name="Freeform 11"/>
            <p:cNvSpPr/>
            <p:nvPr/>
          </p:nvSpPr>
          <p:spPr>
            <a:xfrm>
              <a:off x="0" y="0"/>
              <a:ext cx="1240205" cy="833726"/>
            </a:xfrm>
            <a:custGeom>
              <a:avLst/>
              <a:gdLst/>
              <a:ahLst/>
              <a:cxnLst/>
              <a:rect l="l" t="t" r="r" b="b"/>
              <a:pathLst>
                <a:path w="1240205" h="833726">
                  <a:moveTo>
                    <a:pt x="0" y="0"/>
                  </a:moveTo>
                  <a:lnTo>
                    <a:pt x="1240205" y="0"/>
                  </a:lnTo>
                  <a:lnTo>
                    <a:pt x="1240205" y="833726"/>
                  </a:lnTo>
                  <a:lnTo>
                    <a:pt x="0" y="833726"/>
                  </a:lnTo>
                  <a:close/>
                </a:path>
              </a:pathLst>
            </a:custGeom>
            <a:solidFill>
              <a:srgbClr val="000066"/>
            </a:solidFill>
          </p:spPr>
          <p:txBody>
            <a:bodyPr/>
            <a:lstStyle/>
            <a:p>
              <a:endParaRPr lang="en-GB"/>
            </a:p>
          </p:txBody>
        </p:sp>
        <p:sp>
          <p:nvSpPr>
            <p:cNvPr id="12" name="TextBox 12"/>
            <p:cNvSpPr txBox="1"/>
            <p:nvPr/>
          </p:nvSpPr>
          <p:spPr>
            <a:xfrm>
              <a:off x="0" y="-47625"/>
              <a:ext cx="1240205" cy="881351"/>
            </a:xfrm>
            <a:prstGeom prst="rect">
              <a:avLst/>
            </a:prstGeom>
          </p:spPr>
          <p:txBody>
            <a:bodyPr lIns="50800" tIns="50800" rIns="50800" bIns="50800" rtlCol="0" anchor="ctr"/>
            <a:lstStyle/>
            <a:p>
              <a:pPr algn="ctr">
                <a:lnSpc>
                  <a:spcPts val="2800"/>
                </a:lnSpc>
              </a:pPr>
              <a:endParaRPr/>
            </a:p>
          </p:txBody>
        </p:sp>
      </p:grpSp>
      <p:sp>
        <p:nvSpPr>
          <p:cNvPr id="13" name="TextBox 13"/>
          <p:cNvSpPr txBox="1"/>
          <p:nvPr/>
        </p:nvSpPr>
        <p:spPr>
          <a:xfrm>
            <a:off x="1283035" y="6685558"/>
            <a:ext cx="4200233" cy="1998980"/>
          </a:xfrm>
          <a:prstGeom prst="rect">
            <a:avLst/>
          </a:prstGeom>
        </p:spPr>
        <p:txBody>
          <a:bodyPr lIns="0" tIns="0" rIns="0" bIns="0" rtlCol="0" anchor="t">
            <a:spAutoFit/>
          </a:bodyPr>
          <a:lstStyle/>
          <a:p>
            <a:pPr marL="0" lvl="0" indent="0" algn="ctr">
              <a:lnSpc>
                <a:spcPts val="2260"/>
              </a:lnSpc>
              <a:spcBef>
                <a:spcPct val="0"/>
              </a:spcBef>
            </a:pPr>
            <a:r>
              <a:rPr lang="en-US" sz="2000" b="1">
                <a:solidFill>
                  <a:srgbClr val="FFFFFF"/>
                </a:solidFill>
                <a:latin typeface="Garet Bold"/>
                <a:ea typeface="Garet Bold"/>
                <a:cs typeface="Garet Bold"/>
                <a:sym typeface="Garet Bold"/>
              </a:rPr>
              <a:t>Targ</a:t>
            </a:r>
            <a:r>
              <a:rPr lang="en-US" sz="2000" b="1" u="none" strike="noStrike">
                <a:solidFill>
                  <a:srgbClr val="FFFFFF"/>
                </a:solidFill>
                <a:latin typeface="Garet Bold"/>
                <a:ea typeface="Garet Bold"/>
                <a:cs typeface="Garet Bold"/>
                <a:sym typeface="Garet Bold"/>
              </a:rPr>
              <a:t>eted Merchant Partnerships:</a:t>
            </a:r>
          </a:p>
          <a:p>
            <a:pPr marL="0" lvl="0" indent="0" algn="ctr">
              <a:lnSpc>
                <a:spcPts val="2260"/>
              </a:lnSpc>
              <a:spcBef>
                <a:spcPct val="0"/>
              </a:spcBef>
            </a:pPr>
            <a:endParaRPr lang="en-US" sz="2000" b="1" u="none" strike="noStrike">
              <a:solidFill>
                <a:srgbClr val="FFFFFF"/>
              </a:solidFill>
              <a:latin typeface="Garet Bold"/>
              <a:ea typeface="Garet Bold"/>
              <a:cs typeface="Garet Bold"/>
              <a:sym typeface="Garet Bold"/>
            </a:endParaRPr>
          </a:p>
          <a:p>
            <a:pPr marL="0" lvl="0" indent="0" algn="ctr">
              <a:lnSpc>
                <a:spcPts val="2260"/>
              </a:lnSpc>
              <a:spcBef>
                <a:spcPct val="0"/>
              </a:spcBef>
            </a:pPr>
            <a:r>
              <a:rPr lang="en-US" sz="2000" u="none" strike="noStrike">
                <a:solidFill>
                  <a:srgbClr val="FFFFFF"/>
                </a:solidFill>
                <a:latin typeface="Garet"/>
                <a:ea typeface="Garet"/>
                <a:cs typeface="Garet"/>
                <a:sym typeface="Garet"/>
              </a:rPr>
              <a:t>Focus loyalty reward deals and co-branded discounts on top-grossing merchant categories to maximize card usage.</a:t>
            </a:r>
          </a:p>
        </p:txBody>
      </p:sp>
      <p:grpSp>
        <p:nvGrpSpPr>
          <p:cNvPr id="14" name="Group 14"/>
          <p:cNvGrpSpPr/>
          <p:nvPr/>
        </p:nvGrpSpPr>
        <p:grpSpPr>
          <a:xfrm rot="-2699999">
            <a:off x="-1745592" y="330581"/>
            <a:ext cx="3868778" cy="3553160"/>
            <a:chOff x="0" y="0"/>
            <a:chExt cx="2679345" cy="2460762"/>
          </a:xfrm>
        </p:grpSpPr>
        <p:sp>
          <p:nvSpPr>
            <p:cNvPr id="15" name="Freeform 15"/>
            <p:cNvSpPr/>
            <p:nvPr/>
          </p:nvSpPr>
          <p:spPr>
            <a:xfrm>
              <a:off x="0" y="0"/>
              <a:ext cx="2679345" cy="2460762"/>
            </a:xfrm>
            <a:custGeom>
              <a:avLst/>
              <a:gdLst/>
              <a:ahLst/>
              <a:cxnLst/>
              <a:rect l="l" t="t" r="r" b="b"/>
              <a:pathLst>
                <a:path w="2679345" h="2460762">
                  <a:moveTo>
                    <a:pt x="0" y="0"/>
                  </a:moveTo>
                  <a:lnTo>
                    <a:pt x="2679345" y="0"/>
                  </a:lnTo>
                  <a:lnTo>
                    <a:pt x="2679345" y="2460762"/>
                  </a:lnTo>
                  <a:lnTo>
                    <a:pt x="0" y="2460762"/>
                  </a:lnTo>
                  <a:close/>
                </a:path>
              </a:pathLst>
            </a:custGeom>
            <a:solidFill>
              <a:srgbClr val="6699FF"/>
            </a:solidFill>
          </p:spPr>
          <p:txBody>
            <a:bodyPr/>
            <a:lstStyle/>
            <a:p>
              <a:endParaRPr lang="en-GB"/>
            </a:p>
          </p:txBody>
        </p:sp>
        <p:sp>
          <p:nvSpPr>
            <p:cNvPr id="16" name="TextBox 16"/>
            <p:cNvSpPr txBox="1"/>
            <p:nvPr/>
          </p:nvSpPr>
          <p:spPr>
            <a:xfrm>
              <a:off x="0" y="-38100"/>
              <a:ext cx="2679345" cy="2498862"/>
            </a:xfrm>
            <a:prstGeom prst="rect">
              <a:avLst/>
            </a:prstGeom>
          </p:spPr>
          <p:txBody>
            <a:bodyPr lIns="46654" tIns="46654" rIns="46654" bIns="46654" rtlCol="0" anchor="ctr"/>
            <a:lstStyle/>
            <a:p>
              <a:pPr algn="ctr">
                <a:lnSpc>
                  <a:spcPts val="1800"/>
                </a:lnSpc>
                <a:spcBef>
                  <a:spcPct val="0"/>
                </a:spcBef>
              </a:pPr>
              <a:endParaRPr/>
            </a:p>
          </p:txBody>
        </p:sp>
      </p:grpSp>
      <p:grpSp>
        <p:nvGrpSpPr>
          <p:cNvPr id="17" name="Group 17"/>
          <p:cNvGrpSpPr/>
          <p:nvPr/>
        </p:nvGrpSpPr>
        <p:grpSpPr>
          <a:xfrm rot="-2699999">
            <a:off x="17059040" y="1358558"/>
            <a:ext cx="3868778" cy="3553160"/>
            <a:chOff x="0" y="0"/>
            <a:chExt cx="2679345" cy="2460762"/>
          </a:xfrm>
        </p:grpSpPr>
        <p:sp>
          <p:nvSpPr>
            <p:cNvPr id="18" name="Freeform 18"/>
            <p:cNvSpPr/>
            <p:nvPr/>
          </p:nvSpPr>
          <p:spPr>
            <a:xfrm>
              <a:off x="0" y="0"/>
              <a:ext cx="2679345" cy="2460762"/>
            </a:xfrm>
            <a:custGeom>
              <a:avLst/>
              <a:gdLst/>
              <a:ahLst/>
              <a:cxnLst/>
              <a:rect l="l" t="t" r="r" b="b"/>
              <a:pathLst>
                <a:path w="2679345" h="2460762">
                  <a:moveTo>
                    <a:pt x="0" y="0"/>
                  </a:moveTo>
                  <a:lnTo>
                    <a:pt x="2679345" y="0"/>
                  </a:lnTo>
                  <a:lnTo>
                    <a:pt x="2679345" y="2460762"/>
                  </a:lnTo>
                  <a:lnTo>
                    <a:pt x="0" y="2460762"/>
                  </a:lnTo>
                  <a:close/>
                </a:path>
              </a:pathLst>
            </a:custGeom>
            <a:solidFill>
              <a:srgbClr val="6699FF"/>
            </a:solidFill>
          </p:spPr>
          <p:txBody>
            <a:bodyPr/>
            <a:lstStyle/>
            <a:p>
              <a:endParaRPr lang="en-GB"/>
            </a:p>
          </p:txBody>
        </p:sp>
        <p:sp>
          <p:nvSpPr>
            <p:cNvPr id="19" name="TextBox 19"/>
            <p:cNvSpPr txBox="1"/>
            <p:nvPr/>
          </p:nvSpPr>
          <p:spPr>
            <a:xfrm>
              <a:off x="0" y="-38100"/>
              <a:ext cx="2679345" cy="2498862"/>
            </a:xfrm>
            <a:prstGeom prst="rect">
              <a:avLst/>
            </a:prstGeom>
          </p:spPr>
          <p:txBody>
            <a:bodyPr lIns="46654" tIns="46654" rIns="46654" bIns="46654" rtlCol="0" anchor="ctr"/>
            <a:lstStyle/>
            <a:p>
              <a:pPr algn="ctr">
                <a:lnSpc>
                  <a:spcPts val="1800"/>
                </a:lnSpc>
                <a:spcBef>
                  <a:spcPct val="0"/>
                </a:spcBef>
              </a:pPr>
              <a:endParaRPr/>
            </a:p>
          </p:txBody>
        </p:sp>
      </p:grpSp>
      <p:grpSp>
        <p:nvGrpSpPr>
          <p:cNvPr id="20" name="Group 20"/>
          <p:cNvGrpSpPr/>
          <p:nvPr/>
        </p:nvGrpSpPr>
        <p:grpSpPr>
          <a:xfrm rot="-2699999">
            <a:off x="15419116" y="-2079159"/>
            <a:ext cx="3680368" cy="3380122"/>
            <a:chOff x="0" y="0"/>
            <a:chExt cx="2548861" cy="2340923"/>
          </a:xfrm>
        </p:grpSpPr>
        <p:sp>
          <p:nvSpPr>
            <p:cNvPr id="21" name="Freeform 21"/>
            <p:cNvSpPr/>
            <p:nvPr/>
          </p:nvSpPr>
          <p:spPr>
            <a:xfrm>
              <a:off x="0" y="0"/>
              <a:ext cx="2548861" cy="2340923"/>
            </a:xfrm>
            <a:custGeom>
              <a:avLst/>
              <a:gdLst/>
              <a:ahLst/>
              <a:cxnLst/>
              <a:rect l="l" t="t" r="r" b="b"/>
              <a:pathLst>
                <a:path w="2548861" h="2340923">
                  <a:moveTo>
                    <a:pt x="0" y="0"/>
                  </a:moveTo>
                  <a:lnTo>
                    <a:pt x="2548861" y="0"/>
                  </a:lnTo>
                  <a:lnTo>
                    <a:pt x="2548861" y="2340923"/>
                  </a:lnTo>
                  <a:lnTo>
                    <a:pt x="0" y="2340923"/>
                  </a:lnTo>
                  <a:close/>
                </a:path>
              </a:pathLst>
            </a:custGeom>
            <a:solidFill>
              <a:srgbClr val="000066"/>
            </a:solidFill>
          </p:spPr>
          <p:txBody>
            <a:bodyPr/>
            <a:lstStyle/>
            <a:p>
              <a:endParaRPr lang="en-GB"/>
            </a:p>
          </p:txBody>
        </p:sp>
        <p:sp>
          <p:nvSpPr>
            <p:cNvPr id="22" name="TextBox 22"/>
            <p:cNvSpPr txBox="1"/>
            <p:nvPr/>
          </p:nvSpPr>
          <p:spPr>
            <a:xfrm>
              <a:off x="0" y="-38100"/>
              <a:ext cx="2548861" cy="2379023"/>
            </a:xfrm>
            <a:prstGeom prst="rect">
              <a:avLst/>
            </a:prstGeom>
          </p:spPr>
          <p:txBody>
            <a:bodyPr lIns="46654" tIns="46654" rIns="46654" bIns="46654" rtlCol="0" anchor="ctr"/>
            <a:lstStyle/>
            <a:p>
              <a:pPr algn="ctr">
                <a:lnSpc>
                  <a:spcPts val="1800"/>
                </a:lnSpc>
                <a:spcBef>
                  <a:spcPct val="0"/>
                </a:spcBef>
              </a:pPr>
              <a:endParaRPr/>
            </a:p>
          </p:txBody>
        </p:sp>
      </p:grpSp>
      <p:grpSp>
        <p:nvGrpSpPr>
          <p:cNvPr id="23" name="Group 23"/>
          <p:cNvGrpSpPr/>
          <p:nvPr/>
        </p:nvGrpSpPr>
        <p:grpSpPr>
          <a:xfrm rot="-2699999">
            <a:off x="2468217" y="-264109"/>
            <a:ext cx="2361227" cy="2168597"/>
            <a:chOff x="0" y="0"/>
            <a:chExt cx="1635282" cy="1501875"/>
          </a:xfrm>
        </p:grpSpPr>
        <p:sp>
          <p:nvSpPr>
            <p:cNvPr id="24" name="Freeform 24"/>
            <p:cNvSpPr/>
            <p:nvPr/>
          </p:nvSpPr>
          <p:spPr>
            <a:xfrm>
              <a:off x="0" y="0"/>
              <a:ext cx="1635282" cy="1501875"/>
            </a:xfrm>
            <a:custGeom>
              <a:avLst/>
              <a:gdLst/>
              <a:ahLst/>
              <a:cxnLst/>
              <a:rect l="l" t="t" r="r" b="b"/>
              <a:pathLst>
                <a:path w="1635282" h="1501875">
                  <a:moveTo>
                    <a:pt x="0" y="0"/>
                  </a:moveTo>
                  <a:lnTo>
                    <a:pt x="1635282" y="0"/>
                  </a:lnTo>
                  <a:lnTo>
                    <a:pt x="1635282" y="1501875"/>
                  </a:lnTo>
                  <a:lnTo>
                    <a:pt x="0" y="1501875"/>
                  </a:lnTo>
                  <a:close/>
                </a:path>
              </a:pathLst>
            </a:custGeom>
            <a:solidFill>
              <a:srgbClr val="336699"/>
            </a:solidFill>
          </p:spPr>
          <p:txBody>
            <a:bodyPr/>
            <a:lstStyle/>
            <a:p>
              <a:endParaRPr lang="en-GB"/>
            </a:p>
          </p:txBody>
        </p:sp>
        <p:sp>
          <p:nvSpPr>
            <p:cNvPr id="25" name="TextBox 25"/>
            <p:cNvSpPr txBox="1"/>
            <p:nvPr/>
          </p:nvSpPr>
          <p:spPr>
            <a:xfrm>
              <a:off x="0" y="-38100"/>
              <a:ext cx="1635282" cy="1539975"/>
            </a:xfrm>
            <a:prstGeom prst="rect">
              <a:avLst/>
            </a:prstGeom>
          </p:spPr>
          <p:txBody>
            <a:bodyPr lIns="46654" tIns="46654" rIns="46654" bIns="46654" rtlCol="0" anchor="ctr"/>
            <a:lstStyle/>
            <a:p>
              <a:pPr algn="ctr">
                <a:lnSpc>
                  <a:spcPts val="1800"/>
                </a:lnSpc>
                <a:spcBef>
                  <a:spcPct val="0"/>
                </a:spcBef>
              </a:pPr>
              <a:endParaRPr/>
            </a:p>
          </p:txBody>
        </p:sp>
      </p:grpSp>
      <p:sp>
        <p:nvSpPr>
          <p:cNvPr id="26" name="TextBox 26"/>
          <p:cNvSpPr txBox="1"/>
          <p:nvPr/>
        </p:nvSpPr>
        <p:spPr>
          <a:xfrm>
            <a:off x="1028700" y="1181100"/>
            <a:ext cx="16230600" cy="760095"/>
          </a:xfrm>
          <a:prstGeom prst="rect">
            <a:avLst/>
          </a:prstGeom>
        </p:spPr>
        <p:txBody>
          <a:bodyPr lIns="0" tIns="0" rIns="0" bIns="0" rtlCol="0" anchor="t">
            <a:spAutoFit/>
          </a:bodyPr>
          <a:lstStyle/>
          <a:p>
            <a:pPr marL="0" lvl="0" indent="0" algn="ctr">
              <a:lnSpc>
                <a:spcPts val="5640"/>
              </a:lnSpc>
              <a:spcBef>
                <a:spcPct val="0"/>
              </a:spcBef>
            </a:pPr>
            <a:r>
              <a:rPr lang="en-US" sz="6000" b="1">
                <a:solidFill>
                  <a:srgbClr val="000066"/>
                </a:solidFill>
                <a:latin typeface="Garet Bold"/>
                <a:ea typeface="Garet Bold"/>
                <a:cs typeface="Garet Bold"/>
                <a:sym typeface="Garet Bold"/>
              </a:rPr>
              <a:t>Key Takeaways &amp; Utilization</a:t>
            </a:r>
          </a:p>
        </p:txBody>
      </p:sp>
      <p:sp>
        <p:nvSpPr>
          <p:cNvPr id="27" name="TextBox 27"/>
          <p:cNvSpPr txBox="1"/>
          <p:nvPr/>
        </p:nvSpPr>
        <p:spPr>
          <a:xfrm>
            <a:off x="1283035" y="3014536"/>
            <a:ext cx="4200233" cy="1998980"/>
          </a:xfrm>
          <a:prstGeom prst="rect">
            <a:avLst/>
          </a:prstGeom>
        </p:spPr>
        <p:txBody>
          <a:bodyPr lIns="0" tIns="0" rIns="0" bIns="0" rtlCol="0" anchor="t">
            <a:spAutoFit/>
          </a:bodyPr>
          <a:lstStyle/>
          <a:p>
            <a:pPr marL="0" lvl="0" indent="0" algn="ctr">
              <a:lnSpc>
                <a:spcPts val="2260"/>
              </a:lnSpc>
              <a:spcBef>
                <a:spcPct val="0"/>
              </a:spcBef>
            </a:pPr>
            <a:r>
              <a:rPr lang="en-US" sz="2000" b="1">
                <a:solidFill>
                  <a:srgbClr val="000066"/>
                </a:solidFill>
                <a:latin typeface="Garet Bold"/>
                <a:ea typeface="Garet Bold"/>
                <a:cs typeface="Garet Bold"/>
                <a:sym typeface="Garet Bold"/>
              </a:rPr>
              <a:t>Spending C</a:t>
            </a:r>
            <a:r>
              <a:rPr lang="en-US" sz="2000" b="1" u="none" strike="noStrike">
                <a:solidFill>
                  <a:srgbClr val="000066"/>
                </a:solidFill>
                <a:latin typeface="Garet Bold"/>
                <a:ea typeface="Garet Bold"/>
                <a:cs typeface="Garet Bold"/>
                <a:sym typeface="Garet Bold"/>
              </a:rPr>
              <a:t>oncentration:</a:t>
            </a:r>
          </a:p>
          <a:p>
            <a:pPr marL="0" lvl="0" indent="0" algn="ctr">
              <a:lnSpc>
                <a:spcPts val="2260"/>
              </a:lnSpc>
              <a:spcBef>
                <a:spcPct val="0"/>
              </a:spcBef>
            </a:pPr>
            <a:endParaRPr lang="en-US" sz="2000" b="1" u="none" strike="noStrike">
              <a:solidFill>
                <a:srgbClr val="000066"/>
              </a:solidFill>
              <a:latin typeface="Garet Bold"/>
              <a:ea typeface="Garet Bold"/>
              <a:cs typeface="Garet Bold"/>
              <a:sym typeface="Garet Bold"/>
            </a:endParaRPr>
          </a:p>
          <a:p>
            <a:pPr marL="0" lvl="0" indent="0" algn="ctr">
              <a:lnSpc>
                <a:spcPts val="2260"/>
              </a:lnSpc>
              <a:spcBef>
                <a:spcPct val="0"/>
              </a:spcBef>
            </a:pPr>
            <a:r>
              <a:rPr lang="en-US" sz="2000" u="none" strike="noStrike">
                <a:solidFill>
                  <a:srgbClr val="000066"/>
                </a:solidFill>
                <a:latin typeface="Garet"/>
                <a:ea typeface="Garet"/>
                <a:cs typeface="Garet"/>
                <a:sym typeface="Garet"/>
              </a:rPr>
              <a:t>A small subset of top states/cities (especially state no. 9) and core merchant subsectors accounts for the vast majority of total transaction revenue.</a:t>
            </a:r>
          </a:p>
        </p:txBody>
      </p:sp>
      <p:sp>
        <p:nvSpPr>
          <p:cNvPr id="28" name="TextBox 28"/>
          <p:cNvSpPr txBox="1"/>
          <p:nvPr/>
        </p:nvSpPr>
        <p:spPr>
          <a:xfrm>
            <a:off x="12892993" y="3014536"/>
            <a:ext cx="4023712" cy="1998980"/>
          </a:xfrm>
          <a:prstGeom prst="rect">
            <a:avLst/>
          </a:prstGeom>
        </p:spPr>
        <p:txBody>
          <a:bodyPr lIns="0" tIns="0" rIns="0" bIns="0" rtlCol="0" anchor="t">
            <a:spAutoFit/>
          </a:bodyPr>
          <a:lstStyle/>
          <a:p>
            <a:pPr marL="0" lvl="0" indent="0" algn="ctr">
              <a:lnSpc>
                <a:spcPts val="2260"/>
              </a:lnSpc>
              <a:spcBef>
                <a:spcPct val="0"/>
              </a:spcBef>
            </a:pPr>
            <a:r>
              <a:rPr lang="en-US" sz="2000" b="1">
                <a:solidFill>
                  <a:srgbClr val="000066"/>
                </a:solidFill>
                <a:latin typeface="Garet Bold"/>
                <a:ea typeface="Garet Bold"/>
                <a:cs typeface="Garet Bold"/>
                <a:sym typeface="Garet Bold"/>
              </a:rPr>
              <a:t>P</a:t>
            </a:r>
            <a:r>
              <a:rPr lang="en-US" sz="2000" b="1" u="none" strike="noStrike">
                <a:solidFill>
                  <a:srgbClr val="000066"/>
                </a:solidFill>
                <a:latin typeface="Garet Bold"/>
                <a:ea typeface="Garet Bold"/>
                <a:cs typeface="Garet Bold"/>
                <a:sym typeface="Garet Bold"/>
              </a:rPr>
              <a:t>ayment Preferences:</a:t>
            </a:r>
          </a:p>
          <a:p>
            <a:pPr marL="0" lvl="0" indent="0" algn="ctr">
              <a:lnSpc>
                <a:spcPts val="2260"/>
              </a:lnSpc>
              <a:spcBef>
                <a:spcPct val="0"/>
              </a:spcBef>
            </a:pPr>
            <a:endParaRPr lang="en-US" sz="2000" b="1" u="none" strike="noStrike">
              <a:solidFill>
                <a:srgbClr val="000066"/>
              </a:solidFill>
              <a:latin typeface="Garet Bold"/>
              <a:ea typeface="Garet Bold"/>
              <a:cs typeface="Garet Bold"/>
              <a:sym typeface="Garet Bold"/>
            </a:endParaRPr>
          </a:p>
          <a:p>
            <a:pPr marL="0" lvl="0" indent="0" algn="ctr">
              <a:lnSpc>
                <a:spcPts val="2260"/>
              </a:lnSpc>
              <a:spcBef>
                <a:spcPct val="0"/>
              </a:spcBef>
            </a:pPr>
            <a:r>
              <a:rPr lang="en-US" sz="2000" u="none" strike="noStrike">
                <a:solidFill>
                  <a:srgbClr val="000066"/>
                </a:solidFill>
                <a:latin typeface="Garet"/>
                <a:ea typeface="Garet"/>
                <a:cs typeface="Garet"/>
                <a:sym typeface="Garet"/>
              </a:rPr>
              <a:t>Installment utilization is heavily tied to specific high-ticket subsectors rather than general low-value daily purchases.</a:t>
            </a:r>
          </a:p>
        </p:txBody>
      </p:sp>
      <p:grpSp>
        <p:nvGrpSpPr>
          <p:cNvPr id="29" name="Group 29"/>
          <p:cNvGrpSpPr/>
          <p:nvPr/>
        </p:nvGrpSpPr>
        <p:grpSpPr>
          <a:xfrm>
            <a:off x="6686258" y="2421724"/>
            <a:ext cx="4915483" cy="3165554"/>
            <a:chOff x="0" y="0"/>
            <a:chExt cx="1294613" cy="833726"/>
          </a:xfrm>
        </p:grpSpPr>
        <p:sp>
          <p:nvSpPr>
            <p:cNvPr id="30" name="Freeform 30"/>
            <p:cNvSpPr/>
            <p:nvPr/>
          </p:nvSpPr>
          <p:spPr>
            <a:xfrm>
              <a:off x="0" y="0"/>
              <a:ext cx="1294613" cy="833726"/>
            </a:xfrm>
            <a:custGeom>
              <a:avLst/>
              <a:gdLst/>
              <a:ahLst/>
              <a:cxnLst/>
              <a:rect l="l" t="t" r="r" b="b"/>
              <a:pathLst>
                <a:path w="1294613" h="833726">
                  <a:moveTo>
                    <a:pt x="0" y="0"/>
                  </a:moveTo>
                  <a:lnTo>
                    <a:pt x="1294613" y="0"/>
                  </a:lnTo>
                  <a:lnTo>
                    <a:pt x="1294613" y="833726"/>
                  </a:lnTo>
                  <a:lnTo>
                    <a:pt x="0" y="833726"/>
                  </a:lnTo>
                  <a:close/>
                </a:path>
              </a:pathLst>
            </a:custGeom>
            <a:solidFill>
              <a:srgbClr val="000066"/>
            </a:solidFill>
          </p:spPr>
          <p:txBody>
            <a:bodyPr/>
            <a:lstStyle/>
            <a:p>
              <a:endParaRPr lang="en-GB"/>
            </a:p>
          </p:txBody>
        </p:sp>
        <p:sp>
          <p:nvSpPr>
            <p:cNvPr id="31" name="TextBox 31"/>
            <p:cNvSpPr txBox="1"/>
            <p:nvPr/>
          </p:nvSpPr>
          <p:spPr>
            <a:xfrm>
              <a:off x="0" y="-47625"/>
              <a:ext cx="1294613" cy="881351"/>
            </a:xfrm>
            <a:prstGeom prst="rect">
              <a:avLst/>
            </a:prstGeom>
          </p:spPr>
          <p:txBody>
            <a:bodyPr lIns="50800" tIns="50800" rIns="50800" bIns="50800" rtlCol="0" anchor="ctr"/>
            <a:lstStyle/>
            <a:p>
              <a:pPr algn="ctr">
                <a:lnSpc>
                  <a:spcPts val="2800"/>
                </a:lnSpc>
              </a:pPr>
              <a:endParaRPr/>
            </a:p>
          </p:txBody>
        </p:sp>
      </p:grpSp>
      <p:sp>
        <p:nvSpPr>
          <p:cNvPr id="32" name="TextBox 32"/>
          <p:cNvSpPr txBox="1"/>
          <p:nvPr/>
        </p:nvSpPr>
        <p:spPr>
          <a:xfrm>
            <a:off x="7123293" y="2871661"/>
            <a:ext cx="4041414" cy="2284730"/>
          </a:xfrm>
          <a:prstGeom prst="rect">
            <a:avLst/>
          </a:prstGeom>
        </p:spPr>
        <p:txBody>
          <a:bodyPr lIns="0" tIns="0" rIns="0" bIns="0" rtlCol="0" anchor="t">
            <a:spAutoFit/>
          </a:bodyPr>
          <a:lstStyle/>
          <a:p>
            <a:pPr marL="0" lvl="0" indent="0" algn="ctr">
              <a:lnSpc>
                <a:spcPts val="2260"/>
              </a:lnSpc>
              <a:spcBef>
                <a:spcPct val="0"/>
              </a:spcBef>
            </a:pPr>
            <a:r>
              <a:rPr lang="en-US" sz="2000" b="1">
                <a:solidFill>
                  <a:srgbClr val="FFFFFF"/>
                </a:solidFill>
                <a:latin typeface="Garet Bold"/>
                <a:ea typeface="Garet Bold"/>
                <a:cs typeface="Garet Bold"/>
                <a:sym typeface="Garet Bold"/>
              </a:rPr>
              <a:t>Ad</a:t>
            </a:r>
            <a:r>
              <a:rPr lang="en-US" sz="2000" b="1" u="none" strike="noStrike">
                <a:solidFill>
                  <a:srgbClr val="FFFFFF"/>
                </a:solidFill>
                <a:latin typeface="Garet Bold"/>
                <a:ea typeface="Garet Bold"/>
                <a:cs typeface="Garet Bold"/>
                <a:sym typeface="Garet Bold"/>
              </a:rPr>
              <a:t>option Velocity:</a:t>
            </a:r>
          </a:p>
          <a:p>
            <a:pPr marL="0" lvl="0" indent="0" algn="ctr">
              <a:lnSpc>
                <a:spcPts val="2260"/>
              </a:lnSpc>
              <a:spcBef>
                <a:spcPct val="0"/>
              </a:spcBef>
            </a:pPr>
            <a:endParaRPr lang="en-US" sz="2000" b="1" u="none" strike="noStrike">
              <a:solidFill>
                <a:srgbClr val="FFFFFF"/>
              </a:solidFill>
              <a:latin typeface="Garet Bold"/>
              <a:ea typeface="Garet Bold"/>
              <a:cs typeface="Garet Bold"/>
              <a:sym typeface="Garet Bold"/>
            </a:endParaRPr>
          </a:p>
          <a:p>
            <a:pPr marL="0" lvl="0" indent="0" algn="ctr">
              <a:lnSpc>
                <a:spcPts val="2260"/>
              </a:lnSpc>
              <a:spcBef>
                <a:spcPct val="0"/>
              </a:spcBef>
            </a:pPr>
            <a:r>
              <a:rPr lang="en-US" sz="2000" u="none" strike="noStrike">
                <a:solidFill>
                  <a:srgbClr val="FFFFFF"/>
                </a:solidFill>
                <a:latin typeface="Garet"/>
                <a:ea typeface="Garet"/>
                <a:cs typeface="Garet"/>
                <a:sym typeface="Garet"/>
              </a:rPr>
              <a:t>Cardholders expand into new merchant categories during specific seasonal windows, showing measurable shifts away from baseline historical categories.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6699FF"/>
        </a:solidFill>
        <a:effectLst/>
      </p:bgPr>
    </p:bg>
    <p:spTree>
      <p:nvGrpSpPr>
        <p:cNvPr id="1" name=""/>
        <p:cNvGrpSpPr/>
        <p:nvPr/>
      </p:nvGrpSpPr>
      <p:grpSpPr>
        <a:xfrm>
          <a:off x="0" y="0"/>
          <a:ext cx="0" cy="0"/>
          <a:chOff x="0" y="0"/>
          <a:chExt cx="0" cy="0"/>
        </a:xfrm>
      </p:grpSpPr>
      <p:grpSp>
        <p:nvGrpSpPr>
          <p:cNvPr id="2" name="Group 2"/>
          <p:cNvGrpSpPr/>
          <p:nvPr/>
        </p:nvGrpSpPr>
        <p:grpSpPr>
          <a:xfrm>
            <a:off x="188797" y="203992"/>
            <a:ext cx="17910406" cy="9879016"/>
            <a:chOff x="0" y="0"/>
            <a:chExt cx="4717144" cy="2601881"/>
          </a:xfrm>
        </p:grpSpPr>
        <p:sp>
          <p:nvSpPr>
            <p:cNvPr id="3" name="Freeform 3"/>
            <p:cNvSpPr/>
            <p:nvPr/>
          </p:nvSpPr>
          <p:spPr>
            <a:xfrm>
              <a:off x="0" y="0"/>
              <a:ext cx="4717144" cy="2601881"/>
            </a:xfrm>
            <a:custGeom>
              <a:avLst/>
              <a:gdLst/>
              <a:ahLst/>
              <a:cxnLst/>
              <a:rect l="l" t="t" r="r" b="b"/>
              <a:pathLst>
                <a:path w="4717144" h="2601881">
                  <a:moveTo>
                    <a:pt x="0" y="0"/>
                  </a:moveTo>
                  <a:lnTo>
                    <a:pt x="4717144" y="0"/>
                  </a:lnTo>
                  <a:lnTo>
                    <a:pt x="4717144" y="2601881"/>
                  </a:lnTo>
                  <a:lnTo>
                    <a:pt x="0" y="2601881"/>
                  </a:lnTo>
                  <a:close/>
                </a:path>
              </a:pathLst>
            </a:custGeom>
            <a:solidFill>
              <a:srgbClr val="FFFFFF"/>
            </a:solidFill>
          </p:spPr>
          <p:txBody>
            <a:bodyPr/>
            <a:lstStyle/>
            <a:p>
              <a:endParaRPr lang="en-GB"/>
            </a:p>
          </p:txBody>
        </p:sp>
        <p:sp>
          <p:nvSpPr>
            <p:cNvPr id="4" name="TextBox 4"/>
            <p:cNvSpPr txBox="1"/>
            <p:nvPr/>
          </p:nvSpPr>
          <p:spPr>
            <a:xfrm>
              <a:off x="0" y="-38100"/>
              <a:ext cx="4717144" cy="2639981"/>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028700" y="1181100"/>
            <a:ext cx="16230600" cy="760095"/>
          </a:xfrm>
          <a:prstGeom prst="rect">
            <a:avLst/>
          </a:prstGeom>
        </p:spPr>
        <p:txBody>
          <a:bodyPr lIns="0" tIns="0" rIns="0" bIns="0" rtlCol="0" anchor="t">
            <a:spAutoFit/>
          </a:bodyPr>
          <a:lstStyle/>
          <a:p>
            <a:pPr marL="0" lvl="0" indent="0" algn="ctr">
              <a:lnSpc>
                <a:spcPts val="5640"/>
              </a:lnSpc>
              <a:spcBef>
                <a:spcPct val="0"/>
              </a:spcBef>
            </a:pPr>
            <a:r>
              <a:rPr lang="en-US" sz="6000" b="1">
                <a:solidFill>
                  <a:srgbClr val="000066"/>
                </a:solidFill>
                <a:latin typeface="Garet Bold"/>
                <a:ea typeface="Garet Bold"/>
                <a:cs typeface="Garet Bold"/>
                <a:sym typeface="Garet Bold"/>
              </a:rPr>
              <a:t>Challe</a:t>
            </a:r>
            <a:r>
              <a:rPr lang="en-US" sz="6000" b="1" u="none" strike="noStrike">
                <a:solidFill>
                  <a:srgbClr val="000066"/>
                </a:solidFill>
                <a:latin typeface="Garet Bold"/>
                <a:ea typeface="Garet Bold"/>
                <a:cs typeface="Garet Bold"/>
                <a:sym typeface="Garet Bold"/>
              </a:rPr>
              <a:t>nges &amp; Solutions</a:t>
            </a:r>
          </a:p>
        </p:txBody>
      </p:sp>
      <p:grpSp>
        <p:nvGrpSpPr>
          <p:cNvPr id="6" name="Group 6"/>
          <p:cNvGrpSpPr/>
          <p:nvPr/>
        </p:nvGrpSpPr>
        <p:grpSpPr>
          <a:xfrm rot="-2699999">
            <a:off x="-3089558" y="2284284"/>
            <a:ext cx="4906166" cy="4505918"/>
            <a:chOff x="0" y="0"/>
            <a:chExt cx="3397795" cy="3120600"/>
          </a:xfrm>
        </p:grpSpPr>
        <p:sp>
          <p:nvSpPr>
            <p:cNvPr id="7" name="Freeform 7"/>
            <p:cNvSpPr/>
            <p:nvPr/>
          </p:nvSpPr>
          <p:spPr>
            <a:xfrm>
              <a:off x="0" y="0"/>
              <a:ext cx="3397795" cy="3120600"/>
            </a:xfrm>
            <a:custGeom>
              <a:avLst/>
              <a:gdLst/>
              <a:ahLst/>
              <a:cxnLst/>
              <a:rect l="l" t="t" r="r" b="b"/>
              <a:pathLst>
                <a:path w="3397795" h="3120600">
                  <a:moveTo>
                    <a:pt x="0" y="0"/>
                  </a:moveTo>
                  <a:lnTo>
                    <a:pt x="3397795" y="0"/>
                  </a:lnTo>
                  <a:lnTo>
                    <a:pt x="3397795" y="3120600"/>
                  </a:lnTo>
                  <a:lnTo>
                    <a:pt x="0" y="3120600"/>
                  </a:lnTo>
                  <a:close/>
                </a:path>
              </a:pathLst>
            </a:custGeom>
            <a:solidFill>
              <a:srgbClr val="6699FF"/>
            </a:solidFill>
          </p:spPr>
          <p:txBody>
            <a:bodyPr/>
            <a:lstStyle/>
            <a:p>
              <a:endParaRPr lang="en-GB"/>
            </a:p>
          </p:txBody>
        </p:sp>
        <p:sp>
          <p:nvSpPr>
            <p:cNvPr id="8" name="TextBox 8"/>
            <p:cNvSpPr txBox="1"/>
            <p:nvPr/>
          </p:nvSpPr>
          <p:spPr>
            <a:xfrm>
              <a:off x="0" y="-38100"/>
              <a:ext cx="3397795" cy="3158700"/>
            </a:xfrm>
            <a:prstGeom prst="rect">
              <a:avLst/>
            </a:prstGeom>
          </p:spPr>
          <p:txBody>
            <a:bodyPr lIns="46654" tIns="46654" rIns="46654" bIns="46654" rtlCol="0" anchor="ctr"/>
            <a:lstStyle/>
            <a:p>
              <a:pPr algn="ctr">
                <a:lnSpc>
                  <a:spcPts val="1800"/>
                </a:lnSpc>
                <a:spcBef>
                  <a:spcPct val="0"/>
                </a:spcBef>
              </a:pPr>
              <a:endParaRPr/>
            </a:p>
          </p:txBody>
        </p:sp>
      </p:grpSp>
      <p:grpSp>
        <p:nvGrpSpPr>
          <p:cNvPr id="9" name="Group 9"/>
          <p:cNvGrpSpPr/>
          <p:nvPr/>
        </p:nvGrpSpPr>
        <p:grpSpPr>
          <a:xfrm>
            <a:off x="1028700" y="3932789"/>
            <a:ext cx="5303214" cy="4797385"/>
            <a:chOff x="0" y="0"/>
            <a:chExt cx="1396731" cy="1263509"/>
          </a:xfrm>
        </p:grpSpPr>
        <p:sp>
          <p:nvSpPr>
            <p:cNvPr id="10" name="Freeform 10"/>
            <p:cNvSpPr/>
            <p:nvPr/>
          </p:nvSpPr>
          <p:spPr>
            <a:xfrm>
              <a:off x="0" y="0"/>
              <a:ext cx="1396731" cy="1263509"/>
            </a:xfrm>
            <a:custGeom>
              <a:avLst/>
              <a:gdLst/>
              <a:ahLst/>
              <a:cxnLst/>
              <a:rect l="l" t="t" r="r" b="b"/>
              <a:pathLst>
                <a:path w="1396731" h="1263509">
                  <a:moveTo>
                    <a:pt x="0" y="0"/>
                  </a:moveTo>
                  <a:lnTo>
                    <a:pt x="1396731" y="0"/>
                  </a:lnTo>
                  <a:lnTo>
                    <a:pt x="1396731" y="1263509"/>
                  </a:lnTo>
                  <a:lnTo>
                    <a:pt x="0" y="1263509"/>
                  </a:lnTo>
                  <a:close/>
                </a:path>
              </a:pathLst>
            </a:custGeom>
            <a:solidFill>
              <a:srgbClr val="000066"/>
            </a:solidFill>
          </p:spPr>
          <p:txBody>
            <a:bodyPr/>
            <a:lstStyle/>
            <a:p>
              <a:endParaRPr lang="en-GB"/>
            </a:p>
          </p:txBody>
        </p:sp>
        <p:sp>
          <p:nvSpPr>
            <p:cNvPr id="11" name="TextBox 11"/>
            <p:cNvSpPr txBox="1"/>
            <p:nvPr/>
          </p:nvSpPr>
          <p:spPr>
            <a:xfrm>
              <a:off x="0" y="-38100"/>
              <a:ext cx="1396731" cy="1301609"/>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6492393" y="3932789"/>
            <a:ext cx="5303214" cy="4797385"/>
            <a:chOff x="0" y="0"/>
            <a:chExt cx="1396731" cy="1263509"/>
          </a:xfrm>
        </p:grpSpPr>
        <p:sp>
          <p:nvSpPr>
            <p:cNvPr id="13" name="Freeform 13"/>
            <p:cNvSpPr/>
            <p:nvPr/>
          </p:nvSpPr>
          <p:spPr>
            <a:xfrm>
              <a:off x="0" y="0"/>
              <a:ext cx="1396731" cy="1263509"/>
            </a:xfrm>
            <a:custGeom>
              <a:avLst/>
              <a:gdLst/>
              <a:ahLst/>
              <a:cxnLst/>
              <a:rect l="l" t="t" r="r" b="b"/>
              <a:pathLst>
                <a:path w="1396731" h="1263509">
                  <a:moveTo>
                    <a:pt x="0" y="0"/>
                  </a:moveTo>
                  <a:lnTo>
                    <a:pt x="1396731" y="0"/>
                  </a:lnTo>
                  <a:lnTo>
                    <a:pt x="1396731" y="1263509"/>
                  </a:lnTo>
                  <a:lnTo>
                    <a:pt x="0" y="1263509"/>
                  </a:lnTo>
                  <a:close/>
                </a:path>
              </a:pathLst>
            </a:custGeom>
            <a:solidFill>
              <a:srgbClr val="000066"/>
            </a:solidFill>
          </p:spPr>
          <p:txBody>
            <a:bodyPr/>
            <a:lstStyle/>
            <a:p>
              <a:endParaRPr lang="en-GB"/>
            </a:p>
          </p:txBody>
        </p:sp>
        <p:sp>
          <p:nvSpPr>
            <p:cNvPr id="14" name="TextBox 14"/>
            <p:cNvSpPr txBox="1"/>
            <p:nvPr/>
          </p:nvSpPr>
          <p:spPr>
            <a:xfrm>
              <a:off x="0" y="-38100"/>
              <a:ext cx="1396731" cy="1301609"/>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1488292" y="4721058"/>
            <a:ext cx="4384031" cy="3005951"/>
          </a:xfrm>
          <a:prstGeom prst="rect">
            <a:avLst/>
          </a:prstGeom>
        </p:spPr>
        <p:txBody>
          <a:bodyPr lIns="0" tIns="0" rIns="0" bIns="0" rtlCol="0" anchor="t">
            <a:spAutoFit/>
          </a:bodyPr>
          <a:lstStyle/>
          <a:p>
            <a:pPr marL="0" lvl="0" indent="0" algn="ctr">
              <a:lnSpc>
                <a:spcPts val="2599"/>
              </a:lnSpc>
              <a:spcBef>
                <a:spcPct val="0"/>
              </a:spcBef>
            </a:pPr>
            <a:r>
              <a:rPr lang="en-US" sz="2300" b="1" dirty="0">
                <a:solidFill>
                  <a:srgbClr val="FFFFFF"/>
                </a:solidFill>
                <a:latin typeface="Garet Bold"/>
                <a:ea typeface="Garet Bold"/>
                <a:cs typeface="Garet Bold"/>
                <a:sym typeface="Garet Bold"/>
              </a:rPr>
              <a:t>Big Data Perf</a:t>
            </a:r>
            <a:r>
              <a:rPr lang="en-US" sz="2300" b="1" u="none" strike="noStrike" dirty="0">
                <a:solidFill>
                  <a:srgbClr val="FFFFFF"/>
                </a:solidFill>
                <a:latin typeface="Garet Bold"/>
                <a:ea typeface="Garet Bold"/>
                <a:cs typeface="Garet Bold"/>
                <a:sym typeface="Garet Bold"/>
              </a:rPr>
              <a:t>ormance:</a:t>
            </a:r>
          </a:p>
          <a:p>
            <a:pPr marL="0" lvl="0" indent="0" algn="ctr">
              <a:lnSpc>
                <a:spcPts val="2599"/>
              </a:lnSpc>
              <a:spcBef>
                <a:spcPct val="0"/>
              </a:spcBef>
            </a:pPr>
            <a:endParaRPr lang="en-US" sz="2300" b="1" u="none" strike="noStrike" dirty="0">
              <a:solidFill>
                <a:srgbClr val="FFFFFF"/>
              </a:solidFill>
              <a:latin typeface="Garet Bold"/>
              <a:ea typeface="Garet Bold"/>
              <a:cs typeface="Garet Bold"/>
              <a:sym typeface="Garet Bold"/>
            </a:endParaRPr>
          </a:p>
          <a:p>
            <a:pPr marL="0" lvl="0" indent="0" algn="ctr">
              <a:lnSpc>
                <a:spcPts val="2599"/>
              </a:lnSpc>
              <a:spcBef>
                <a:spcPct val="0"/>
              </a:spcBef>
            </a:pPr>
            <a:r>
              <a:rPr lang="en-US" sz="2300" u="none" strike="noStrike" dirty="0">
                <a:solidFill>
                  <a:srgbClr val="FFFFFF"/>
                </a:solidFill>
                <a:latin typeface="Garet"/>
                <a:ea typeface="Garet"/>
                <a:cs typeface="Garet"/>
                <a:sym typeface="Garet"/>
              </a:rPr>
              <a:t>Loading millions of raw rows strained memory -&gt; Solution: Built indexed SQL Views (</a:t>
            </a:r>
            <a:r>
              <a:rPr lang="en-US" sz="2300" u="none" strike="noStrike" dirty="0" err="1">
                <a:solidFill>
                  <a:srgbClr val="FFFFFF"/>
                </a:solidFill>
                <a:latin typeface="Garet"/>
                <a:ea typeface="Garet"/>
                <a:cs typeface="Garet"/>
                <a:sym typeface="Garet"/>
              </a:rPr>
              <a:t>vw_GeographicSpending</a:t>
            </a:r>
            <a:r>
              <a:rPr lang="en-US" sz="2300" u="none" strike="noStrike" dirty="0">
                <a:solidFill>
                  <a:srgbClr val="FFFFFF"/>
                </a:solidFill>
                <a:latin typeface="Garet"/>
                <a:ea typeface="Garet"/>
                <a:cs typeface="Garet"/>
                <a:sym typeface="Garet"/>
              </a:rPr>
              <a:t>, etc.) to offload heavy aggregations from Power BI to the database engine.</a:t>
            </a:r>
          </a:p>
        </p:txBody>
      </p:sp>
      <p:sp>
        <p:nvSpPr>
          <p:cNvPr id="16" name="TextBox 16"/>
          <p:cNvSpPr txBox="1"/>
          <p:nvPr/>
        </p:nvSpPr>
        <p:spPr>
          <a:xfrm>
            <a:off x="6838413" y="4397208"/>
            <a:ext cx="4582452" cy="4006225"/>
          </a:xfrm>
          <a:prstGeom prst="rect">
            <a:avLst/>
          </a:prstGeom>
        </p:spPr>
        <p:txBody>
          <a:bodyPr lIns="0" tIns="0" rIns="0" bIns="0" rtlCol="0" anchor="t">
            <a:spAutoFit/>
          </a:bodyPr>
          <a:lstStyle/>
          <a:p>
            <a:pPr marL="0" lvl="0" indent="0" algn="ctr">
              <a:lnSpc>
                <a:spcPts val="2599"/>
              </a:lnSpc>
              <a:spcBef>
                <a:spcPct val="0"/>
              </a:spcBef>
            </a:pPr>
            <a:r>
              <a:rPr lang="en-US" sz="2300" b="1" dirty="0">
                <a:solidFill>
                  <a:srgbClr val="FFFFFF"/>
                </a:solidFill>
                <a:latin typeface="Garet Bold"/>
                <a:ea typeface="Garet Bold"/>
                <a:cs typeface="Garet Bold"/>
                <a:sym typeface="Garet Bold"/>
              </a:rPr>
              <a:t>Di</a:t>
            </a:r>
            <a:r>
              <a:rPr lang="en-US" sz="2300" b="1" u="none" strike="noStrike" dirty="0">
                <a:solidFill>
                  <a:srgbClr val="FFFFFF"/>
                </a:solidFill>
                <a:latin typeface="Garet Bold"/>
                <a:ea typeface="Garet Bold"/>
                <a:cs typeface="Garet Bold"/>
                <a:sym typeface="Garet Bold"/>
              </a:rPr>
              <a:t>rty &amp; Duplicate Records:</a:t>
            </a:r>
          </a:p>
          <a:p>
            <a:pPr marL="0" lvl="0" indent="0" algn="ctr">
              <a:lnSpc>
                <a:spcPts val="2599"/>
              </a:lnSpc>
              <a:spcBef>
                <a:spcPct val="0"/>
              </a:spcBef>
            </a:pPr>
            <a:endParaRPr lang="en-US" sz="2300" b="1" u="none" strike="noStrike" dirty="0">
              <a:solidFill>
                <a:srgbClr val="FFFFFF"/>
              </a:solidFill>
              <a:latin typeface="Garet Bold"/>
              <a:ea typeface="Garet Bold"/>
              <a:cs typeface="Garet Bold"/>
              <a:sym typeface="Garet Bold"/>
            </a:endParaRPr>
          </a:p>
          <a:p>
            <a:pPr marL="0" lvl="0" indent="0" algn="ctr">
              <a:lnSpc>
                <a:spcPts val="2599"/>
              </a:lnSpc>
              <a:spcBef>
                <a:spcPct val="0"/>
              </a:spcBef>
            </a:pPr>
            <a:r>
              <a:rPr lang="en-US" sz="2300" u="none" strike="noStrike" dirty="0">
                <a:solidFill>
                  <a:srgbClr val="FFFFFF"/>
                </a:solidFill>
                <a:latin typeface="Garet"/>
                <a:ea typeface="Garet"/>
                <a:cs typeface="Garet"/>
                <a:sym typeface="Garet"/>
              </a:rPr>
              <a:t>Raw tables contained duplicate entities and missing values -&gt; Solution: Resolved key duplicates using SELECT DISTINCT and GROUP BY with MAX() aggregations, while imputing missing fields with 'Undefined' flags and column averages via SQL UPDATE statements. </a:t>
            </a:r>
          </a:p>
        </p:txBody>
      </p:sp>
      <p:grpSp>
        <p:nvGrpSpPr>
          <p:cNvPr id="17" name="Group 17"/>
          <p:cNvGrpSpPr/>
          <p:nvPr/>
        </p:nvGrpSpPr>
        <p:grpSpPr>
          <a:xfrm>
            <a:off x="11956086" y="3932789"/>
            <a:ext cx="5303214" cy="4797385"/>
            <a:chOff x="0" y="0"/>
            <a:chExt cx="1396731" cy="1263509"/>
          </a:xfrm>
        </p:grpSpPr>
        <p:sp>
          <p:nvSpPr>
            <p:cNvPr id="18" name="Freeform 18"/>
            <p:cNvSpPr/>
            <p:nvPr/>
          </p:nvSpPr>
          <p:spPr>
            <a:xfrm>
              <a:off x="0" y="0"/>
              <a:ext cx="1396731" cy="1263509"/>
            </a:xfrm>
            <a:custGeom>
              <a:avLst/>
              <a:gdLst/>
              <a:ahLst/>
              <a:cxnLst/>
              <a:rect l="l" t="t" r="r" b="b"/>
              <a:pathLst>
                <a:path w="1396731" h="1263509">
                  <a:moveTo>
                    <a:pt x="0" y="0"/>
                  </a:moveTo>
                  <a:lnTo>
                    <a:pt x="1396731" y="0"/>
                  </a:lnTo>
                  <a:lnTo>
                    <a:pt x="1396731" y="1263509"/>
                  </a:lnTo>
                  <a:lnTo>
                    <a:pt x="0" y="1263509"/>
                  </a:lnTo>
                  <a:close/>
                </a:path>
              </a:pathLst>
            </a:custGeom>
            <a:solidFill>
              <a:srgbClr val="000066"/>
            </a:solidFill>
          </p:spPr>
          <p:txBody>
            <a:bodyPr/>
            <a:lstStyle/>
            <a:p>
              <a:endParaRPr lang="en-GB"/>
            </a:p>
          </p:txBody>
        </p:sp>
        <p:sp>
          <p:nvSpPr>
            <p:cNvPr id="19" name="TextBox 19"/>
            <p:cNvSpPr txBox="1"/>
            <p:nvPr/>
          </p:nvSpPr>
          <p:spPr>
            <a:xfrm>
              <a:off x="0" y="-38100"/>
              <a:ext cx="1396731" cy="1301609"/>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12386955" y="5206833"/>
            <a:ext cx="4441477" cy="2268348"/>
          </a:xfrm>
          <a:prstGeom prst="rect">
            <a:avLst/>
          </a:prstGeom>
        </p:spPr>
        <p:txBody>
          <a:bodyPr lIns="0" tIns="0" rIns="0" bIns="0" rtlCol="0" anchor="t">
            <a:spAutoFit/>
          </a:bodyPr>
          <a:lstStyle/>
          <a:p>
            <a:pPr marL="0" lvl="0" indent="0" algn="ctr">
              <a:lnSpc>
                <a:spcPts val="2599"/>
              </a:lnSpc>
              <a:spcBef>
                <a:spcPct val="0"/>
              </a:spcBef>
            </a:pPr>
            <a:r>
              <a:rPr lang="en-US" sz="2300" b="1" dirty="0">
                <a:solidFill>
                  <a:srgbClr val="FFFFFF"/>
                </a:solidFill>
                <a:latin typeface="Garet Bold"/>
                <a:ea typeface="Garet Bold"/>
                <a:cs typeface="Garet Bold"/>
                <a:sym typeface="Garet Bold"/>
              </a:rPr>
              <a:t>M</a:t>
            </a:r>
            <a:r>
              <a:rPr lang="en-US" sz="2300" b="1" u="none" strike="noStrike" dirty="0">
                <a:solidFill>
                  <a:srgbClr val="FFFFFF"/>
                </a:solidFill>
                <a:latin typeface="Garet Bold"/>
                <a:ea typeface="Garet Bold"/>
                <a:cs typeface="Garet Bold"/>
                <a:sym typeface="Garet Bold"/>
              </a:rPr>
              <a:t>odel Integrity:</a:t>
            </a:r>
          </a:p>
          <a:p>
            <a:pPr marL="0" lvl="0" indent="0" algn="ctr">
              <a:lnSpc>
                <a:spcPts val="2599"/>
              </a:lnSpc>
              <a:spcBef>
                <a:spcPct val="0"/>
              </a:spcBef>
            </a:pPr>
            <a:endParaRPr lang="en-US" sz="2300" b="1" u="none" strike="noStrike" dirty="0">
              <a:solidFill>
                <a:srgbClr val="FFFFFF"/>
              </a:solidFill>
              <a:latin typeface="Garet Bold"/>
              <a:ea typeface="Garet Bold"/>
              <a:cs typeface="Garet Bold"/>
              <a:sym typeface="Garet Bold"/>
            </a:endParaRPr>
          </a:p>
          <a:p>
            <a:pPr marL="0" lvl="0" indent="0" algn="ctr">
              <a:lnSpc>
                <a:spcPts val="2599"/>
              </a:lnSpc>
              <a:spcBef>
                <a:spcPct val="0"/>
              </a:spcBef>
            </a:pPr>
            <a:r>
              <a:rPr lang="en-US" sz="2300" u="none" strike="noStrike" dirty="0">
                <a:solidFill>
                  <a:srgbClr val="FFFFFF"/>
                </a:solidFill>
                <a:latin typeface="Garet"/>
                <a:ea typeface="Garet"/>
                <a:cs typeface="Garet"/>
                <a:sym typeface="Garet"/>
              </a:rPr>
              <a:t>Avoided complex DAX calculations by structuring a strict One to Many Star Schema with a dedicated, conformed </a:t>
            </a:r>
            <a:r>
              <a:rPr lang="en-US" sz="2300" u="none" strike="noStrike" dirty="0" err="1">
                <a:solidFill>
                  <a:srgbClr val="FFFFFF"/>
                </a:solidFill>
                <a:latin typeface="Garet"/>
                <a:ea typeface="Garet"/>
                <a:cs typeface="Garet"/>
                <a:sym typeface="Garet"/>
              </a:rPr>
              <a:t>DimDate</a:t>
            </a:r>
            <a:r>
              <a:rPr lang="en-US" sz="2300" u="none" strike="noStrike" dirty="0">
                <a:solidFill>
                  <a:srgbClr val="FFFFFF"/>
                </a:solidFill>
                <a:latin typeface="Garet"/>
                <a:ea typeface="Garet"/>
                <a:cs typeface="Garet"/>
                <a:sym typeface="Garet"/>
              </a:rPr>
              <a:t> table.</a:t>
            </a:r>
          </a:p>
        </p:txBody>
      </p:sp>
      <p:grpSp>
        <p:nvGrpSpPr>
          <p:cNvPr id="21" name="Group 21"/>
          <p:cNvGrpSpPr/>
          <p:nvPr/>
        </p:nvGrpSpPr>
        <p:grpSpPr>
          <a:xfrm rot="-2699999">
            <a:off x="16574543" y="-364103"/>
            <a:ext cx="3426914" cy="3147344"/>
            <a:chOff x="0" y="0"/>
            <a:chExt cx="2373330" cy="2179712"/>
          </a:xfrm>
        </p:grpSpPr>
        <p:sp>
          <p:nvSpPr>
            <p:cNvPr id="22" name="Freeform 22"/>
            <p:cNvSpPr/>
            <p:nvPr/>
          </p:nvSpPr>
          <p:spPr>
            <a:xfrm>
              <a:off x="0" y="0"/>
              <a:ext cx="2373330" cy="2179712"/>
            </a:xfrm>
            <a:custGeom>
              <a:avLst/>
              <a:gdLst/>
              <a:ahLst/>
              <a:cxnLst/>
              <a:rect l="l" t="t" r="r" b="b"/>
              <a:pathLst>
                <a:path w="2373330" h="2179712">
                  <a:moveTo>
                    <a:pt x="0" y="0"/>
                  </a:moveTo>
                  <a:lnTo>
                    <a:pt x="2373330" y="0"/>
                  </a:lnTo>
                  <a:lnTo>
                    <a:pt x="2373330" y="2179712"/>
                  </a:lnTo>
                  <a:lnTo>
                    <a:pt x="0" y="2179712"/>
                  </a:lnTo>
                  <a:close/>
                </a:path>
              </a:pathLst>
            </a:custGeom>
            <a:solidFill>
              <a:srgbClr val="6699FF"/>
            </a:solidFill>
          </p:spPr>
          <p:txBody>
            <a:bodyPr/>
            <a:lstStyle/>
            <a:p>
              <a:endParaRPr lang="en-GB"/>
            </a:p>
          </p:txBody>
        </p:sp>
        <p:sp>
          <p:nvSpPr>
            <p:cNvPr id="23" name="TextBox 23"/>
            <p:cNvSpPr txBox="1"/>
            <p:nvPr/>
          </p:nvSpPr>
          <p:spPr>
            <a:xfrm>
              <a:off x="0" y="-38100"/>
              <a:ext cx="2373330" cy="2217812"/>
            </a:xfrm>
            <a:prstGeom prst="rect">
              <a:avLst/>
            </a:prstGeom>
          </p:spPr>
          <p:txBody>
            <a:bodyPr lIns="46654" tIns="46654" rIns="46654" bIns="46654" rtlCol="0" anchor="ctr"/>
            <a:lstStyle/>
            <a:p>
              <a:pPr algn="ctr">
                <a:lnSpc>
                  <a:spcPts val="1800"/>
                </a:lnSpc>
                <a:spcBef>
                  <a:spcPct val="0"/>
                </a:spcBef>
              </a:pPr>
              <a:endParaRPr/>
            </a:p>
          </p:txBody>
        </p:sp>
      </p:grpSp>
      <p:grpSp>
        <p:nvGrpSpPr>
          <p:cNvPr id="24" name="Group 24"/>
          <p:cNvGrpSpPr/>
          <p:nvPr/>
        </p:nvGrpSpPr>
        <p:grpSpPr>
          <a:xfrm rot="-2699999">
            <a:off x="1392467" y="1419794"/>
            <a:ext cx="1849722" cy="1795069"/>
            <a:chOff x="0" y="0"/>
            <a:chExt cx="1281036" cy="1243186"/>
          </a:xfrm>
        </p:grpSpPr>
        <p:sp>
          <p:nvSpPr>
            <p:cNvPr id="25" name="Freeform 25"/>
            <p:cNvSpPr/>
            <p:nvPr/>
          </p:nvSpPr>
          <p:spPr>
            <a:xfrm>
              <a:off x="0" y="0"/>
              <a:ext cx="1281036" cy="1243186"/>
            </a:xfrm>
            <a:custGeom>
              <a:avLst/>
              <a:gdLst/>
              <a:ahLst/>
              <a:cxnLst/>
              <a:rect l="l" t="t" r="r" b="b"/>
              <a:pathLst>
                <a:path w="1281036" h="1243186">
                  <a:moveTo>
                    <a:pt x="0" y="0"/>
                  </a:moveTo>
                  <a:lnTo>
                    <a:pt x="1281036" y="0"/>
                  </a:lnTo>
                  <a:lnTo>
                    <a:pt x="1281036" y="1243186"/>
                  </a:lnTo>
                  <a:lnTo>
                    <a:pt x="0" y="1243186"/>
                  </a:lnTo>
                  <a:close/>
                </a:path>
              </a:pathLst>
            </a:custGeom>
            <a:solidFill>
              <a:srgbClr val="336699"/>
            </a:solidFill>
          </p:spPr>
          <p:txBody>
            <a:bodyPr/>
            <a:lstStyle/>
            <a:p>
              <a:endParaRPr lang="en-GB"/>
            </a:p>
          </p:txBody>
        </p:sp>
        <p:sp>
          <p:nvSpPr>
            <p:cNvPr id="26" name="TextBox 26"/>
            <p:cNvSpPr txBox="1"/>
            <p:nvPr/>
          </p:nvSpPr>
          <p:spPr>
            <a:xfrm>
              <a:off x="0" y="-38100"/>
              <a:ext cx="1281036" cy="1281286"/>
            </a:xfrm>
            <a:prstGeom prst="rect">
              <a:avLst/>
            </a:prstGeom>
          </p:spPr>
          <p:txBody>
            <a:bodyPr lIns="46654" tIns="46654" rIns="46654" bIns="46654" rtlCol="0" anchor="ctr"/>
            <a:lstStyle/>
            <a:p>
              <a:pPr algn="ctr">
                <a:lnSpc>
                  <a:spcPts val="1800"/>
                </a:lnSpc>
                <a:spcBef>
                  <a:spcPct val="0"/>
                </a:spcBef>
              </a:pPr>
              <a:endParaRPr/>
            </a:p>
          </p:txBody>
        </p:sp>
      </p:grpSp>
      <p:grpSp>
        <p:nvGrpSpPr>
          <p:cNvPr id="27" name="Group 27"/>
          <p:cNvGrpSpPr/>
          <p:nvPr/>
        </p:nvGrpSpPr>
        <p:grpSpPr>
          <a:xfrm rot="-2699999">
            <a:off x="15511370" y="1992562"/>
            <a:ext cx="1118730" cy="1085676"/>
            <a:chOff x="0" y="0"/>
            <a:chExt cx="774783" cy="751892"/>
          </a:xfrm>
        </p:grpSpPr>
        <p:sp>
          <p:nvSpPr>
            <p:cNvPr id="28" name="Freeform 28"/>
            <p:cNvSpPr/>
            <p:nvPr/>
          </p:nvSpPr>
          <p:spPr>
            <a:xfrm>
              <a:off x="0" y="0"/>
              <a:ext cx="774783" cy="751892"/>
            </a:xfrm>
            <a:custGeom>
              <a:avLst/>
              <a:gdLst/>
              <a:ahLst/>
              <a:cxnLst/>
              <a:rect l="l" t="t" r="r" b="b"/>
              <a:pathLst>
                <a:path w="774783" h="751892">
                  <a:moveTo>
                    <a:pt x="0" y="0"/>
                  </a:moveTo>
                  <a:lnTo>
                    <a:pt x="774783" y="0"/>
                  </a:lnTo>
                  <a:lnTo>
                    <a:pt x="774783" y="751892"/>
                  </a:lnTo>
                  <a:lnTo>
                    <a:pt x="0" y="751892"/>
                  </a:lnTo>
                  <a:close/>
                </a:path>
              </a:pathLst>
            </a:custGeom>
            <a:solidFill>
              <a:srgbClr val="000066"/>
            </a:solidFill>
          </p:spPr>
          <p:txBody>
            <a:bodyPr/>
            <a:lstStyle/>
            <a:p>
              <a:endParaRPr lang="en-GB"/>
            </a:p>
          </p:txBody>
        </p:sp>
        <p:sp>
          <p:nvSpPr>
            <p:cNvPr id="29" name="TextBox 29"/>
            <p:cNvSpPr txBox="1"/>
            <p:nvPr/>
          </p:nvSpPr>
          <p:spPr>
            <a:xfrm>
              <a:off x="0" y="-38100"/>
              <a:ext cx="774783" cy="789992"/>
            </a:xfrm>
            <a:prstGeom prst="rect">
              <a:avLst/>
            </a:prstGeom>
          </p:spPr>
          <p:txBody>
            <a:bodyPr lIns="46654" tIns="46654" rIns="46654" bIns="46654" rtlCol="0" anchor="ctr"/>
            <a:lstStyle/>
            <a:p>
              <a:pPr algn="ctr">
                <a:lnSpc>
                  <a:spcPts val="1800"/>
                </a:lnSpc>
                <a:spcBef>
                  <a:spcPct val="0"/>
                </a:spcBef>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6699FF"/>
        </a:solidFill>
        <a:effectLst/>
      </p:bgPr>
    </p:bg>
    <p:spTree>
      <p:nvGrpSpPr>
        <p:cNvPr id="1" name=""/>
        <p:cNvGrpSpPr/>
        <p:nvPr/>
      </p:nvGrpSpPr>
      <p:grpSpPr>
        <a:xfrm>
          <a:off x="0" y="0"/>
          <a:ext cx="0" cy="0"/>
          <a:chOff x="0" y="0"/>
          <a:chExt cx="0" cy="0"/>
        </a:xfrm>
      </p:grpSpPr>
      <p:grpSp>
        <p:nvGrpSpPr>
          <p:cNvPr id="2" name="Group 2"/>
          <p:cNvGrpSpPr/>
          <p:nvPr/>
        </p:nvGrpSpPr>
        <p:grpSpPr>
          <a:xfrm>
            <a:off x="188797" y="203992"/>
            <a:ext cx="17910406" cy="9879016"/>
            <a:chOff x="0" y="0"/>
            <a:chExt cx="4717144" cy="2601881"/>
          </a:xfrm>
        </p:grpSpPr>
        <p:sp>
          <p:nvSpPr>
            <p:cNvPr id="3" name="Freeform 3"/>
            <p:cNvSpPr/>
            <p:nvPr/>
          </p:nvSpPr>
          <p:spPr>
            <a:xfrm>
              <a:off x="0" y="0"/>
              <a:ext cx="4717144" cy="2601881"/>
            </a:xfrm>
            <a:custGeom>
              <a:avLst/>
              <a:gdLst/>
              <a:ahLst/>
              <a:cxnLst/>
              <a:rect l="l" t="t" r="r" b="b"/>
              <a:pathLst>
                <a:path w="4717144" h="2601881">
                  <a:moveTo>
                    <a:pt x="0" y="0"/>
                  </a:moveTo>
                  <a:lnTo>
                    <a:pt x="4717144" y="0"/>
                  </a:lnTo>
                  <a:lnTo>
                    <a:pt x="4717144" y="2601881"/>
                  </a:lnTo>
                  <a:lnTo>
                    <a:pt x="0" y="2601881"/>
                  </a:lnTo>
                  <a:close/>
                </a:path>
              </a:pathLst>
            </a:custGeom>
            <a:solidFill>
              <a:srgbClr val="FFFFFF"/>
            </a:solidFill>
          </p:spPr>
          <p:txBody>
            <a:bodyPr/>
            <a:lstStyle/>
            <a:p>
              <a:endParaRPr lang="en-GB"/>
            </a:p>
          </p:txBody>
        </p:sp>
        <p:sp>
          <p:nvSpPr>
            <p:cNvPr id="4" name="TextBox 4"/>
            <p:cNvSpPr txBox="1"/>
            <p:nvPr/>
          </p:nvSpPr>
          <p:spPr>
            <a:xfrm>
              <a:off x="0" y="-38100"/>
              <a:ext cx="4717144" cy="2639981"/>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6533978" y="4484290"/>
            <a:ext cx="5220044" cy="3897491"/>
            <a:chOff x="0" y="0"/>
            <a:chExt cx="1374826" cy="1026500"/>
          </a:xfrm>
        </p:grpSpPr>
        <p:sp>
          <p:nvSpPr>
            <p:cNvPr id="6" name="Freeform 6"/>
            <p:cNvSpPr/>
            <p:nvPr/>
          </p:nvSpPr>
          <p:spPr>
            <a:xfrm>
              <a:off x="0" y="0"/>
              <a:ext cx="1374826" cy="1026500"/>
            </a:xfrm>
            <a:custGeom>
              <a:avLst/>
              <a:gdLst/>
              <a:ahLst/>
              <a:cxnLst/>
              <a:rect l="l" t="t" r="r" b="b"/>
              <a:pathLst>
                <a:path w="1374826" h="1026500">
                  <a:moveTo>
                    <a:pt x="0" y="0"/>
                  </a:moveTo>
                  <a:lnTo>
                    <a:pt x="1374826" y="0"/>
                  </a:lnTo>
                  <a:lnTo>
                    <a:pt x="1374826" y="1026500"/>
                  </a:lnTo>
                  <a:lnTo>
                    <a:pt x="0" y="1026500"/>
                  </a:lnTo>
                  <a:close/>
                </a:path>
              </a:pathLst>
            </a:custGeom>
            <a:solidFill>
              <a:srgbClr val="000066"/>
            </a:solidFill>
          </p:spPr>
          <p:txBody>
            <a:bodyPr/>
            <a:lstStyle/>
            <a:p>
              <a:endParaRPr lang="en-GB"/>
            </a:p>
          </p:txBody>
        </p:sp>
        <p:sp>
          <p:nvSpPr>
            <p:cNvPr id="7" name="TextBox 7"/>
            <p:cNvSpPr txBox="1"/>
            <p:nvPr/>
          </p:nvSpPr>
          <p:spPr>
            <a:xfrm>
              <a:off x="0" y="-38100"/>
              <a:ext cx="1374826" cy="1064600"/>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028700" y="1181100"/>
            <a:ext cx="16230600" cy="760095"/>
          </a:xfrm>
          <a:prstGeom prst="rect">
            <a:avLst/>
          </a:prstGeom>
        </p:spPr>
        <p:txBody>
          <a:bodyPr lIns="0" tIns="0" rIns="0" bIns="0" rtlCol="0" anchor="t">
            <a:spAutoFit/>
          </a:bodyPr>
          <a:lstStyle/>
          <a:p>
            <a:pPr marL="0" lvl="0" indent="0" algn="ctr">
              <a:lnSpc>
                <a:spcPts val="5640"/>
              </a:lnSpc>
              <a:spcBef>
                <a:spcPct val="0"/>
              </a:spcBef>
            </a:pPr>
            <a:r>
              <a:rPr lang="en-US" sz="6000" b="1">
                <a:solidFill>
                  <a:srgbClr val="000066"/>
                </a:solidFill>
                <a:latin typeface="Garet Bold"/>
                <a:ea typeface="Garet Bold"/>
                <a:cs typeface="Garet Bold"/>
                <a:sym typeface="Garet Bold"/>
              </a:rPr>
              <a:t>Future Enh</a:t>
            </a:r>
            <a:r>
              <a:rPr lang="en-US" sz="6000" b="1" u="none" strike="noStrike">
                <a:solidFill>
                  <a:srgbClr val="000066"/>
                </a:solidFill>
                <a:latin typeface="Garet Bold"/>
                <a:ea typeface="Garet Bold"/>
                <a:cs typeface="Garet Bold"/>
                <a:sym typeface="Garet Bold"/>
              </a:rPr>
              <a:t>ancements</a:t>
            </a:r>
          </a:p>
        </p:txBody>
      </p:sp>
      <p:sp>
        <p:nvSpPr>
          <p:cNvPr id="9" name="TextBox 9"/>
          <p:cNvSpPr txBox="1"/>
          <p:nvPr/>
        </p:nvSpPr>
        <p:spPr>
          <a:xfrm>
            <a:off x="1307418" y="4984537"/>
            <a:ext cx="4197860" cy="2916048"/>
          </a:xfrm>
          <a:prstGeom prst="rect">
            <a:avLst/>
          </a:prstGeom>
        </p:spPr>
        <p:txBody>
          <a:bodyPr lIns="0" tIns="0" rIns="0" bIns="0" rtlCol="0" anchor="t">
            <a:spAutoFit/>
          </a:bodyPr>
          <a:lstStyle/>
          <a:p>
            <a:pPr marL="0" lvl="0" indent="0" algn="ctr">
              <a:lnSpc>
                <a:spcPts val="2599"/>
              </a:lnSpc>
              <a:spcBef>
                <a:spcPct val="0"/>
              </a:spcBef>
            </a:pPr>
            <a:r>
              <a:rPr lang="en-US" sz="2300" b="1" dirty="0">
                <a:solidFill>
                  <a:srgbClr val="000066"/>
                </a:solidFill>
                <a:latin typeface="Garet Bold"/>
                <a:ea typeface="Garet Bold"/>
                <a:cs typeface="Garet Bold"/>
                <a:sym typeface="Garet Bold"/>
              </a:rPr>
              <a:t>P</a:t>
            </a:r>
            <a:r>
              <a:rPr lang="en-US" sz="2300" b="1" u="none" strike="noStrike" dirty="0">
                <a:solidFill>
                  <a:srgbClr val="000066"/>
                </a:solidFill>
                <a:latin typeface="Garet Bold"/>
                <a:ea typeface="Garet Bold"/>
                <a:cs typeface="Garet Bold"/>
                <a:sym typeface="Garet Bold"/>
              </a:rPr>
              <a:t>redictive Recommendation Engine:</a:t>
            </a:r>
          </a:p>
          <a:p>
            <a:pPr marL="0" lvl="0" indent="0" algn="ctr">
              <a:lnSpc>
                <a:spcPts val="2599"/>
              </a:lnSpc>
              <a:spcBef>
                <a:spcPct val="0"/>
              </a:spcBef>
            </a:pPr>
            <a:endParaRPr lang="en-US" sz="2300" b="1" u="none" strike="noStrike" dirty="0">
              <a:solidFill>
                <a:srgbClr val="000066"/>
              </a:solidFill>
              <a:latin typeface="Garet Bold"/>
              <a:ea typeface="Garet Bold"/>
              <a:cs typeface="Garet Bold"/>
              <a:sym typeface="Garet Bold"/>
            </a:endParaRPr>
          </a:p>
          <a:p>
            <a:pPr marL="0" lvl="0" indent="0" algn="ctr">
              <a:lnSpc>
                <a:spcPts val="2599"/>
              </a:lnSpc>
              <a:spcBef>
                <a:spcPct val="0"/>
              </a:spcBef>
            </a:pPr>
            <a:r>
              <a:rPr lang="en-US" sz="2300" u="none" strike="noStrike" dirty="0">
                <a:solidFill>
                  <a:srgbClr val="000066"/>
                </a:solidFill>
                <a:latin typeface="Garet"/>
                <a:ea typeface="Garet"/>
                <a:cs typeface="Garet"/>
                <a:sym typeface="Garet"/>
              </a:rPr>
              <a:t>Integrate Python/R to build machine learning models predicting merchant churn and recommending personalized merchant offers.</a:t>
            </a:r>
          </a:p>
        </p:txBody>
      </p:sp>
      <p:sp>
        <p:nvSpPr>
          <p:cNvPr id="10" name="TextBox 10"/>
          <p:cNvSpPr txBox="1"/>
          <p:nvPr/>
        </p:nvSpPr>
        <p:spPr>
          <a:xfrm>
            <a:off x="7045070" y="5470312"/>
            <a:ext cx="4197860" cy="1944498"/>
          </a:xfrm>
          <a:prstGeom prst="rect">
            <a:avLst/>
          </a:prstGeom>
        </p:spPr>
        <p:txBody>
          <a:bodyPr lIns="0" tIns="0" rIns="0" bIns="0" rtlCol="0" anchor="t">
            <a:spAutoFit/>
          </a:bodyPr>
          <a:lstStyle/>
          <a:p>
            <a:pPr marL="0" lvl="0" indent="0" algn="ctr">
              <a:lnSpc>
                <a:spcPts val="2599"/>
              </a:lnSpc>
              <a:spcBef>
                <a:spcPct val="0"/>
              </a:spcBef>
            </a:pPr>
            <a:r>
              <a:rPr lang="en-US" sz="2300" b="1" dirty="0">
                <a:solidFill>
                  <a:srgbClr val="FFFFFF"/>
                </a:solidFill>
                <a:latin typeface="Garet Bold"/>
                <a:ea typeface="Garet Bold"/>
                <a:cs typeface="Garet Bold"/>
                <a:sym typeface="Garet Bold"/>
              </a:rPr>
              <a:t>Automated Cloud ET</a:t>
            </a:r>
            <a:r>
              <a:rPr lang="en-US" sz="2300" b="1" u="none" strike="noStrike" dirty="0">
                <a:solidFill>
                  <a:srgbClr val="FFFFFF"/>
                </a:solidFill>
                <a:latin typeface="Garet Bold"/>
                <a:ea typeface="Garet Bold"/>
                <a:cs typeface="Garet Bold"/>
                <a:sym typeface="Garet Bold"/>
              </a:rPr>
              <a:t>L:</a:t>
            </a:r>
          </a:p>
          <a:p>
            <a:pPr marL="0" lvl="0" indent="0" algn="ctr">
              <a:lnSpc>
                <a:spcPts val="2599"/>
              </a:lnSpc>
              <a:spcBef>
                <a:spcPct val="0"/>
              </a:spcBef>
            </a:pPr>
            <a:endParaRPr lang="en-US" sz="2300" b="1" u="none" strike="noStrike" dirty="0">
              <a:solidFill>
                <a:srgbClr val="FFFFFF"/>
              </a:solidFill>
              <a:latin typeface="Garet Bold"/>
              <a:ea typeface="Garet Bold"/>
              <a:cs typeface="Garet Bold"/>
              <a:sym typeface="Garet Bold"/>
            </a:endParaRPr>
          </a:p>
          <a:p>
            <a:pPr marL="0" lvl="0" indent="0" algn="ctr">
              <a:lnSpc>
                <a:spcPts val="2599"/>
              </a:lnSpc>
              <a:spcBef>
                <a:spcPct val="0"/>
              </a:spcBef>
            </a:pPr>
            <a:r>
              <a:rPr lang="en-US" sz="2300" u="none" strike="noStrike" dirty="0">
                <a:solidFill>
                  <a:srgbClr val="FFFFFF"/>
                </a:solidFill>
                <a:latin typeface="Garet"/>
                <a:ea typeface="Garet"/>
                <a:cs typeface="Garet"/>
                <a:sym typeface="Garet"/>
              </a:rPr>
              <a:t>Migrate manual SQL loads to automated scheduled pipelines using tools like Azure Data Factory or SSIS.</a:t>
            </a:r>
          </a:p>
        </p:txBody>
      </p:sp>
      <p:sp>
        <p:nvSpPr>
          <p:cNvPr id="11" name="TextBox 11"/>
          <p:cNvSpPr txBox="1"/>
          <p:nvPr/>
        </p:nvSpPr>
        <p:spPr>
          <a:xfrm>
            <a:off x="12782722" y="5470312"/>
            <a:ext cx="4197860" cy="1944498"/>
          </a:xfrm>
          <a:prstGeom prst="rect">
            <a:avLst/>
          </a:prstGeom>
        </p:spPr>
        <p:txBody>
          <a:bodyPr lIns="0" tIns="0" rIns="0" bIns="0" rtlCol="0" anchor="t">
            <a:spAutoFit/>
          </a:bodyPr>
          <a:lstStyle/>
          <a:p>
            <a:pPr marL="0" lvl="0" indent="0" algn="ctr">
              <a:lnSpc>
                <a:spcPts val="2599"/>
              </a:lnSpc>
              <a:spcBef>
                <a:spcPct val="0"/>
              </a:spcBef>
            </a:pPr>
            <a:r>
              <a:rPr lang="en-US" sz="2300" b="1">
                <a:solidFill>
                  <a:srgbClr val="000066"/>
                </a:solidFill>
                <a:latin typeface="Garet Bold"/>
                <a:ea typeface="Garet Bold"/>
                <a:cs typeface="Garet Bold"/>
                <a:sym typeface="Garet Bold"/>
              </a:rPr>
              <a:t>R</a:t>
            </a:r>
            <a:r>
              <a:rPr lang="en-US" sz="2300" b="1" u="none" strike="noStrike">
                <a:solidFill>
                  <a:srgbClr val="000066"/>
                </a:solidFill>
                <a:latin typeface="Garet Bold"/>
                <a:ea typeface="Garet Bold"/>
                <a:cs typeface="Garet Bold"/>
                <a:sym typeface="Garet Bold"/>
              </a:rPr>
              <a:t>eal-Time Streaming:</a:t>
            </a:r>
          </a:p>
          <a:p>
            <a:pPr marL="0" lvl="0" indent="0" algn="ctr">
              <a:lnSpc>
                <a:spcPts val="2599"/>
              </a:lnSpc>
              <a:spcBef>
                <a:spcPct val="0"/>
              </a:spcBef>
            </a:pPr>
            <a:endParaRPr lang="en-US" sz="2300" b="1" u="none" strike="noStrike">
              <a:solidFill>
                <a:srgbClr val="000066"/>
              </a:solidFill>
              <a:latin typeface="Garet Bold"/>
              <a:ea typeface="Garet Bold"/>
              <a:cs typeface="Garet Bold"/>
              <a:sym typeface="Garet Bold"/>
            </a:endParaRPr>
          </a:p>
          <a:p>
            <a:pPr marL="0" lvl="0" indent="0" algn="ctr">
              <a:lnSpc>
                <a:spcPts val="2599"/>
              </a:lnSpc>
              <a:spcBef>
                <a:spcPct val="0"/>
              </a:spcBef>
            </a:pPr>
            <a:r>
              <a:rPr lang="en-US" sz="2300" u="none" strike="noStrike">
                <a:solidFill>
                  <a:srgbClr val="000066"/>
                </a:solidFill>
                <a:latin typeface="Garet"/>
                <a:ea typeface="Garet"/>
                <a:cs typeface="Garet"/>
                <a:sym typeface="Garet"/>
              </a:rPr>
              <a:t>Ingest live transaction feeds to detect fraudulent authorization spikes in real time.</a:t>
            </a:r>
          </a:p>
        </p:txBody>
      </p:sp>
      <p:grpSp>
        <p:nvGrpSpPr>
          <p:cNvPr id="12" name="Group 12"/>
          <p:cNvGrpSpPr/>
          <p:nvPr/>
        </p:nvGrpSpPr>
        <p:grpSpPr>
          <a:xfrm rot="-2699999">
            <a:off x="-1934389" y="-747880"/>
            <a:ext cx="3868778" cy="3553160"/>
            <a:chOff x="0" y="0"/>
            <a:chExt cx="2679345" cy="2460762"/>
          </a:xfrm>
        </p:grpSpPr>
        <p:sp>
          <p:nvSpPr>
            <p:cNvPr id="13" name="Freeform 13"/>
            <p:cNvSpPr/>
            <p:nvPr/>
          </p:nvSpPr>
          <p:spPr>
            <a:xfrm>
              <a:off x="0" y="0"/>
              <a:ext cx="2679345" cy="2460762"/>
            </a:xfrm>
            <a:custGeom>
              <a:avLst/>
              <a:gdLst/>
              <a:ahLst/>
              <a:cxnLst/>
              <a:rect l="l" t="t" r="r" b="b"/>
              <a:pathLst>
                <a:path w="2679345" h="2460762">
                  <a:moveTo>
                    <a:pt x="0" y="0"/>
                  </a:moveTo>
                  <a:lnTo>
                    <a:pt x="2679345" y="0"/>
                  </a:lnTo>
                  <a:lnTo>
                    <a:pt x="2679345" y="2460762"/>
                  </a:lnTo>
                  <a:lnTo>
                    <a:pt x="0" y="2460762"/>
                  </a:lnTo>
                  <a:close/>
                </a:path>
              </a:pathLst>
            </a:custGeom>
            <a:solidFill>
              <a:srgbClr val="336699"/>
            </a:solidFill>
          </p:spPr>
          <p:txBody>
            <a:bodyPr/>
            <a:lstStyle/>
            <a:p>
              <a:endParaRPr lang="en-GB"/>
            </a:p>
          </p:txBody>
        </p:sp>
        <p:sp>
          <p:nvSpPr>
            <p:cNvPr id="14" name="TextBox 14"/>
            <p:cNvSpPr txBox="1"/>
            <p:nvPr/>
          </p:nvSpPr>
          <p:spPr>
            <a:xfrm>
              <a:off x="0" y="-38100"/>
              <a:ext cx="2679345" cy="2498862"/>
            </a:xfrm>
            <a:prstGeom prst="rect">
              <a:avLst/>
            </a:prstGeom>
          </p:spPr>
          <p:txBody>
            <a:bodyPr lIns="46654" tIns="46654" rIns="46654" bIns="46654" rtlCol="0" anchor="ctr"/>
            <a:lstStyle/>
            <a:p>
              <a:pPr algn="ctr">
                <a:lnSpc>
                  <a:spcPts val="1800"/>
                </a:lnSpc>
                <a:spcBef>
                  <a:spcPct val="0"/>
                </a:spcBef>
              </a:pPr>
              <a:endParaRPr/>
            </a:p>
          </p:txBody>
        </p:sp>
      </p:grpSp>
      <p:grpSp>
        <p:nvGrpSpPr>
          <p:cNvPr id="15" name="Group 15"/>
          <p:cNvGrpSpPr/>
          <p:nvPr/>
        </p:nvGrpSpPr>
        <p:grpSpPr>
          <a:xfrm rot="-2699999">
            <a:off x="16542837" y="1273066"/>
            <a:ext cx="3868778" cy="3553160"/>
            <a:chOff x="0" y="0"/>
            <a:chExt cx="2679345" cy="2460762"/>
          </a:xfrm>
        </p:grpSpPr>
        <p:sp>
          <p:nvSpPr>
            <p:cNvPr id="16" name="Freeform 16"/>
            <p:cNvSpPr/>
            <p:nvPr/>
          </p:nvSpPr>
          <p:spPr>
            <a:xfrm>
              <a:off x="0" y="0"/>
              <a:ext cx="2679345" cy="2460762"/>
            </a:xfrm>
            <a:custGeom>
              <a:avLst/>
              <a:gdLst/>
              <a:ahLst/>
              <a:cxnLst/>
              <a:rect l="l" t="t" r="r" b="b"/>
              <a:pathLst>
                <a:path w="2679345" h="2460762">
                  <a:moveTo>
                    <a:pt x="0" y="0"/>
                  </a:moveTo>
                  <a:lnTo>
                    <a:pt x="2679345" y="0"/>
                  </a:lnTo>
                  <a:lnTo>
                    <a:pt x="2679345" y="2460762"/>
                  </a:lnTo>
                  <a:lnTo>
                    <a:pt x="0" y="2460762"/>
                  </a:lnTo>
                  <a:close/>
                </a:path>
              </a:pathLst>
            </a:custGeom>
            <a:solidFill>
              <a:srgbClr val="000066"/>
            </a:solidFill>
          </p:spPr>
          <p:txBody>
            <a:bodyPr/>
            <a:lstStyle/>
            <a:p>
              <a:endParaRPr lang="en-GB"/>
            </a:p>
          </p:txBody>
        </p:sp>
        <p:sp>
          <p:nvSpPr>
            <p:cNvPr id="17" name="TextBox 17"/>
            <p:cNvSpPr txBox="1"/>
            <p:nvPr/>
          </p:nvSpPr>
          <p:spPr>
            <a:xfrm>
              <a:off x="0" y="-38100"/>
              <a:ext cx="2679345" cy="2498862"/>
            </a:xfrm>
            <a:prstGeom prst="rect">
              <a:avLst/>
            </a:prstGeom>
          </p:spPr>
          <p:txBody>
            <a:bodyPr lIns="46654" tIns="46654" rIns="46654" bIns="46654" rtlCol="0" anchor="ctr"/>
            <a:lstStyle/>
            <a:p>
              <a:pPr algn="ctr">
                <a:lnSpc>
                  <a:spcPts val="1800"/>
                </a:lnSpc>
                <a:spcBef>
                  <a:spcPct val="0"/>
                </a:spcBef>
              </a:pPr>
              <a:endParaRPr/>
            </a:p>
          </p:txBody>
        </p:sp>
      </p:grpSp>
      <p:grpSp>
        <p:nvGrpSpPr>
          <p:cNvPr id="18" name="Group 18"/>
          <p:cNvGrpSpPr/>
          <p:nvPr/>
        </p:nvGrpSpPr>
        <p:grpSpPr>
          <a:xfrm rot="-2699999">
            <a:off x="15004062" y="1282712"/>
            <a:ext cx="1545012" cy="1418968"/>
            <a:chOff x="0" y="0"/>
            <a:chExt cx="1070007" cy="982715"/>
          </a:xfrm>
        </p:grpSpPr>
        <p:sp>
          <p:nvSpPr>
            <p:cNvPr id="19" name="Freeform 19"/>
            <p:cNvSpPr/>
            <p:nvPr/>
          </p:nvSpPr>
          <p:spPr>
            <a:xfrm>
              <a:off x="0" y="0"/>
              <a:ext cx="1070007" cy="982715"/>
            </a:xfrm>
            <a:custGeom>
              <a:avLst/>
              <a:gdLst/>
              <a:ahLst/>
              <a:cxnLst/>
              <a:rect l="l" t="t" r="r" b="b"/>
              <a:pathLst>
                <a:path w="1070007" h="982715">
                  <a:moveTo>
                    <a:pt x="0" y="0"/>
                  </a:moveTo>
                  <a:lnTo>
                    <a:pt x="1070007" y="0"/>
                  </a:lnTo>
                  <a:lnTo>
                    <a:pt x="1070007" y="982715"/>
                  </a:lnTo>
                  <a:lnTo>
                    <a:pt x="0" y="982715"/>
                  </a:lnTo>
                  <a:close/>
                </a:path>
              </a:pathLst>
            </a:custGeom>
            <a:solidFill>
              <a:srgbClr val="336699"/>
            </a:solidFill>
          </p:spPr>
          <p:txBody>
            <a:bodyPr/>
            <a:lstStyle/>
            <a:p>
              <a:endParaRPr lang="en-GB"/>
            </a:p>
          </p:txBody>
        </p:sp>
        <p:sp>
          <p:nvSpPr>
            <p:cNvPr id="20" name="TextBox 20"/>
            <p:cNvSpPr txBox="1"/>
            <p:nvPr/>
          </p:nvSpPr>
          <p:spPr>
            <a:xfrm>
              <a:off x="0" y="-38100"/>
              <a:ext cx="1070007" cy="1020815"/>
            </a:xfrm>
            <a:prstGeom prst="rect">
              <a:avLst/>
            </a:prstGeom>
          </p:spPr>
          <p:txBody>
            <a:bodyPr lIns="46654" tIns="46654" rIns="46654" bIns="46654" rtlCol="0" anchor="ctr"/>
            <a:lstStyle/>
            <a:p>
              <a:pPr algn="ctr">
                <a:lnSpc>
                  <a:spcPts val="1800"/>
                </a:lnSpc>
                <a:spcBef>
                  <a:spcPct val="0"/>
                </a:spcBef>
              </a:pPr>
              <a:endParaRPr/>
            </a:p>
          </p:txBody>
        </p:sp>
      </p:grpSp>
      <p:grpSp>
        <p:nvGrpSpPr>
          <p:cNvPr id="21" name="Group 21"/>
          <p:cNvGrpSpPr/>
          <p:nvPr/>
        </p:nvGrpSpPr>
        <p:grpSpPr>
          <a:xfrm rot="-2699999">
            <a:off x="2168435" y="1098230"/>
            <a:ext cx="1967492" cy="1806982"/>
            <a:chOff x="0" y="0"/>
            <a:chExt cx="1362598" cy="1251436"/>
          </a:xfrm>
        </p:grpSpPr>
        <p:sp>
          <p:nvSpPr>
            <p:cNvPr id="22" name="Freeform 22"/>
            <p:cNvSpPr/>
            <p:nvPr/>
          </p:nvSpPr>
          <p:spPr>
            <a:xfrm>
              <a:off x="0" y="0"/>
              <a:ext cx="1362598" cy="1251436"/>
            </a:xfrm>
            <a:custGeom>
              <a:avLst/>
              <a:gdLst/>
              <a:ahLst/>
              <a:cxnLst/>
              <a:rect l="l" t="t" r="r" b="b"/>
              <a:pathLst>
                <a:path w="1362598" h="1251436">
                  <a:moveTo>
                    <a:pt x="0" y="0"/>
                  </a:moveTo>
                  <a:lnTo>
                    <a:pt x="1362598" y="0"/>
                  </a:lnTo>
                  <a:lnTo>
                    <a:pt x="1362598" y="1251436"/>
                  </a:lnTo>
                  <a:lnTo>
                    <a:pt x="0" y="1251436"/>
                  </a:lnTo>
                  <a:close/>
                </a:path>
              </a:pathLst>
            </a:custGeom>
            <a:solidFill>
              <a:srgbClr val="6699FF"/>
            </a:solidFill>
          </p:spPr>
          <p:txBody>
            <a:bodyPr/>
            <a:lstStyle/>
            <a:p>
              <a:endParaRPr lang="en-GB"/>
            </a:p>
          </p:txBody>
        </p:sp>
        <p:sp>
          <p:nvSpPr>
            <p:cNvPr id="23" name="TextBox 23"/>
            <p:cNvSpPr txBox="1"/>
            <p:nvPr/>
          </p:nvSpPr>
          <p:spPr>
            <a:xfrm>
              <a:off x="0" y="-38100"/>
              <a:ext cx="1362598" cy="1289536"/>
            </a:xfrm>
            <a:prstGeom prst="rect">
              <a:avLst/>
            </a:prstGeom>
          </p:spPr>
          <p:txBody>
            <a:bodyPr lIns="46654" tIns="46654" rIns="46654" bIns="46654" rtlCol="0" anchor="ctr"/>
            <a:lstStyle/>
            <a:p>
              <a:pPr algn="ctr">
                <a:lnSpc>
                  <a:spcPts val="1800"/>
                </a:lnSpc>
                <a:spcBef>
                  <a:spcPct val="0"/>
                </a:spcBef>
              </a:pP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6699FF"/>
        </a:solidFill>
        <a:effectLst/>
      </p:bgPr>
    </p:bg>
    <p:spTree>
      <p:nvGrpSpPr>
        <p:cNvPr id="1" name=""/>
        <p:cNvGrpSpPr/>
        <p:nvPr/>
      </p:nvGrpSpPr>
      <p:grpSpPr>
        <a:xfrm>
          <a:off x="0" y="0"/>
          <a:ext cx="0" cy="0"/>
          <a:chOff x="0" y="0"/>
          <a:chExt cx="0" cy="0"/>
        </a:xfrm>
      </p:grpSpPr>
      <p:grpSp>
        <p:nvGrpSpPr>
          <p:cNvPr id="2" name="Group 2"/>
          <p:cNvGrpSpPr/>
          <p:nvPr/>
        </p:nvGrpSpPr>
        <p:grpSpPr>
          <a:xfrm>
            <a:off x="188797" y="203992"/>
            <a:ext cx="17910406" cy="9879016"/>
            <a:chOff x="0" y="0"/>
            <a:chExt cx="4717144" cy="2601881"/>
          </a:xfrm>
        </p:grpSpPr>
        <p:sp>
          <p:nvSpPr>
            <p:cNvPr id="3" name="Freeform 3"/>
            <p:cNvSpPr/>
            <p:nvPr/>
          </p:nvSpPr>
          <p:spPr>
            <a:xfrm>
              <a:off x="0" y="0"/>
              <a:ext cx="4717144" cy="2601881"/>
            </a:xfrm>
            <a:custGeom>
              <a:avLst/>
              <a:gdLst/>
              <a:ahLst/>
              <a:cxnLst/>
              <a:rect l="l" t="t" r="r" b="b"/>
              <a:pathLst>
                <a:path w="4717144" h="2601881">
                  <a:moveTo>
                    <a:pt x="0" y="0"/>
                  </a:moveTo>
                  <a:lnTo>
                    <a:pt x="4717144" y="0"/>
                  </a:lnTo>
                  <a:lnTo>
                    <a:pt x="4717144" y="2601881"/>
                  </a:lnTo>
                  <a:lnTo>
                    <a:pt x="0" y="2601881"/>
                  </a:lnTo>
                  <a:close/>
                </a:path>
              </a:pathLst>
            </a:custGeom>
            <a:solidFill>
              <a:srgbClr val="FFFFFF"/>
            </a:solidFill>
          </p:spPr>
          <p:txBody>
            <a:bodyPr/>
            <a:lstStyle/>
            <a:p>
              <a:endParaRPr lang="en-GB"/>
            </a:p>
          </p:txBody>
        </p:sp>
        <p:sp>
          <p:nvSpPr>
            <p:cNvPr id="4" name="TextBox 4"/>
            <p:cNvSpPr txBox="1"/>
            <p:nvPr/>
          </p:nvSpPr>
          <p:spPr>
            <a:xfrm>
              <a:off x="0" y="-38100"/>
              <a:ext cx="4717144" cy="2639981"/>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028700" y="4630940"/>
            <a:ext cx="10747629" cy="1524614"/>
          </a:xfrm>
          <a:prstGeom prst="rect">
            <a:avLst/>
          </a:prstGeom>
        </p:spPr>
        <p:txBody>
          <a:bodyPr lIns="0" tIns="0" rIns="0" bIns="0" rtlCol="0" anchor="t">
            <a:spAutoFit/>
          </a:bodyPr>
          <a:lstStyle/>
          <a:p>
            <a:pPr marL="0" lvl="1" indent="0" algn="just">
              <a:lnSpc>
                <a:spcPts val="11881"/>
              </a:lnSpc>
              <a:spcBef>
                <a:spcPct val="0"/>
              </a:spcBef>
            </a:pPr>
            <a:r>
              <a:rPr lang="en-US" sz="10608">
                <a:solidFill>
                  <a:srgbClr val="000066"/>
                </a:solidFill>
                <a:latin typeface="Garet"/>
                <a:ea typeface="Garet"/>
                <a:cs typeface="Garet"/>
                <a:sym typeface="Garet"/>
              </a:rPr>
              <a:t>Thank</a:t>
            </a:r>
          </a:p>
        </p:txBody>
      </p:sp>
      <p:sp>
        <p:nvSpPr>
          <p:cNvPr id="6" name="TextBox 6"/>
          <p:cNvSpPr txBox="1"/>
          <p:nvPr/>
        </p:nvSpPr>
        <p:spPr>
          <a:xfrm>
            <a:off x="1028700" y="5852836"/>
            <a:ext cx="10747629" cy="1517563"/>
          </a:xfrm>
          <a:prstGeom prst="rect">
            <a:avLst/>
          </a:prstGeom>
        </p:spPr>
        <p:txBody>
          <a:bodyPr lIns="0" tIns="0" rIns="0" bIns="0" rtlCol="0" anchor="t">
            <a:spAutoFit/>
          </a:bodyPr>
          <a:lstStyle/>
          <a:p>
            <a:pPr marL="0" lvl="1" indent="0" algn="just">
              <a:lnSpc>
                <a:spcPts val="11881"/>
              </a:lnSpc>
              <a:spcBef>
                <a:spcPct val="0"/>
              </a:spcBef>
            </a:pPr>
            <a:r>
              <a:rPr lang="en-US" sz="10608" b="1">
                <a:solidFill>
                  <a:srgbClr val="000066"/>
                </a:solidFill>
                <a:latin typeface="Garet Bold"/>
                <a:ea typeface="Garet Bold"/>
                <a:cs typeface="Garet Bold"/>
                <a:sym typeface="Garet Bold"/>
              </a:rPr>
              <a:t>you</a:t>
            </a:r>
          </a:p>
        </p:txBody>
      </p:sp>
      <p:grpSp>
        <p:nvGrpSpPr>
          <p:cNvPr id="7" name="Group 7"/>
          <p:cNvGrpSpPr/>
          <p:nvPr/>
        </p:nvGrpSpPr>
        <p:grpSpPr>
          <a:xfrm rot="-2699999">
            <a:off x="15264668" y="-2600781"/>
            <a:ext cx="6841814" cy="6283654"/>
            <a:chOff x="0" y="0"/>
            <a:chExt cx="3397795" cy="3120600"/>
          </a:xfrm>
        </p:grpSpPr>
        <p:sp>
          <p:nvSpPr>
            <p:cNvPr id="8" name="Freeform 8"/>
            <p:cNvSpPr/>
            <p:nvPr/>
          </p:nvSpPr>
          <p:spPr>
            <a:xfrm>
              <a:off x="0" y="0"/>
              <a:ext cx="3397795" cy="3120600"/>
            </a:xfrm>
            <a:custGeom>
              <a:avLst/>
              <a:gdLst/>
              <a:ahLst/>
              <a:cxnLst/>
              <a:rect l="l" t="t" r="r" b="b"/>
              <a:pathLst>
                <a:path w="3397795" h="3120600">
                  <a:moveTo>
                    <a:pt x="0" y="0"/>
                  </a:moveTo>
                  <a:lnTo>
                    <a:pt x="3397795" y="0"/>
                  </a:lnTo>
                  <a:lnTo>
                    <a:pt x="3397795" y="3120600"/>
                  </a:lnTo>
                  <a:lnTo>
                    <a:pt x="0" y="3120600"/>
                  </a:lnTo>
                  <a:close/>
                </a:path>
              </a:pathLst>
            </a:custGeom>
            <a:solidFill>
              <a:srgbClr val="6699FF"/>
            </a:solidFill>
          </p:spPr>
          <p:txBody>
            <a:bodyPr/>
            <a:lstStyle/>
            <a:p>
              <a:endParaRPr lang="en-GB"/>
            </a:p>
          </p:txBody>
        </p:sp>
        <p:sp>
          <p:nvSpPr>
            <p:cNvPr id="9" name="TextBox 9"/>
            <p:cNvSpPr txBox="1"/>
            <p:nvPr/>
          </p:nvSpPr>
          <p:spPr>
            <a:xfrm>
              <a:off x="0" y="-38100"/>
              <a:ext cx="3397795" cy="3158700"/>
            </a:xfrm>
            <a:prstGeom prst="rect">
              <a:avLst/>
            </a:prstGeom>
          </p:spPr>
          <p:txBody>
            <a:bodyPr lIns="46654" tIns="46654" rIns="46654" bIns="46654" rtlCol="0" anchor="ctr"/>
            <a:lstStyle/>
            <a:p>
              <a:pPr algn="ctr">
                <a:lnSpc>
                  <a:spcPts val="1800"/>
                </a:lnSpc>
                <a:spcBef>
                  <a:spcPct val="0"/>
                </a:spcBef>
              </a:pPr>
              <a:endParaRPr/>
            </a:p>
          </p:txBody>
        </p:sp>
      </p:grpSp>
      <p:grpSp>
        <p:nvGrpSpPr>
          <p:cNvPr id="10" name="Group 10"/>
          <p:cNvGrpSpPr/>
          <p:nvPr/>
        </p:nvGrpSpPr>
        <p:grpSpPr>
          <a:xfrm rot="-2699999">
            <a:off x="15359344" y="5155826"/>
            <a:ext cx="3801966" cy="3689633"/>
            <a:chOff x="0" y="0"/>
            <a:chExt cx="1888140" cy="1832352"/>
          </a:xfrm>
        </p:grpSpPr>
        <p:sp>
          <p:nvSpPr>
            <p:cNvPr id="11" name="Freeform 11"/>
            <p:cNvSpPr/>
            <p:nvPr/>
          </p:nvSpPr>
          <p:spPr>
            <a:xfrm>
              <a:off x="0" y="0"/>
              <a:ext cx="1888140" cy="1832352"/>
            </a:xfrm>
            <a:custGeom>
              <a:avLst/>
              <a:gdLst/>
              <a:ahLst/>
              <a:cxnLst/>
              <a:rect l="l" t="t" r="r" b="b"/>
              <a:pathLst>
                <a:path w="1888140" h="1832352">
                  <a:moveTo>
                    <a:pt x="0" y="0"/>
                  </a:moveTo>
                  <a:lnTo>
                    <a:pt x="1888140" y="0"/>
                  </a:lnTo>
                  <a:lnTo>
                    <a:pt x="1888140" y="1832352"/>
                  </a:lnTo>
                  <a:lnTo>
                    <a:pt x="0" y="1832352"/>
                  </a:lnTo>
                  <a:close/>
                </a:path>
              </a:pathLst>
            </a:custGeom>
            <a:solidFill>
              <a:srgbClr val="000066"/>
            </a:solidFill>
          </p:spPr>
          <p:txBody>
            <a:bodyPr/>
            <a:lstStyle/>
            <a:p>
              <a:endParaRPr lang="en-GB"/>
            </a:p>
          </p:txBody>
        </p:sp>
        <p:sp>
          <p:nvSpPr>
            <p:cNvPr id="12" name="TextBox 12"/>
            <p:cNvSpPr txBox="1"/>
            <p:nvPr/>
          </p:nvSpPr>
          <p:spPr>
            <a:xfrm>
              <a:off x="0" y="-38100"/>
              <a:ext cx="1888140" cy="1870452"/>
            </a:xfrm>
            <a:prstGeom prst="rect">
              <a:avLst/>
            </a:prstGeom>
          </p:spPr>
          <p:txBody>
            <a:bodyPr lIns="46654" tIns="46654" rIns="46654" bIns="46654" rtlCol="0" anchor="ctr"/>
            <a:lstStyle/>
            <a:p>
              <a:pPr algn="ctr">
                <a:lnSpc>
                  <a:spcPts val="1800"/>
                </a:lnSpc>
                <a:spcBef>
                  <a:spcPct val="0"/>
                </a:spcBef>
              </a:pPr>
              <a:endParaRPr/>
            </a:p>
          </p:txBody>
        </p:sp>
      </p:grpSp>
      <p:grpSp>
        <p:nvGrpSpPr>
          <p:cNvPr id="13" name="Group 13"/>
          <p:cNvGrpSpPr/>
          <p:nvPr/>
        </p:nvGrpSpPr>
        <p:grpSpPr>
          <a:xfrm rot="-2699999">
            <a:off x="11189420" y="88332"/>
            <a:ext cx="2579499" cy="2503285"/>
            <a:chOff x="0" y="0"/>
            <a:chExt cx="1281036" cy="1243186"/>
          </a:xfrm>
        </p:grpSpPr>
        <p:sp>
          <p:nvSpPr>
            <p:cNvPr id="14" name="Freeform 14"/>
            <p:cNvSpPr/>
            <p:nvPr/>
          </p:nvSpPr>
          <p:spPr>
            <a:xfrm>
              <a:off x="0" y="0"/>
              <a:ext cx="1281036" cy="1243186"/>
            </a:xfrm>
            <a:custGeom>
              <a:avLst/>
              <a:gdLst/>
              <a:ahLst/>
              <a:cxnLst/>
              <a:rect l="l" t="t" r="r" b="b"/>
              <a:pathLst>
                <a:path w="1281036" h="1243186">
                  <a:moveTo>
                    <a:pt x="0" y="0"/>
                  </a:moveTo>
                  <a:lnTo>
                    <a:pt x="1281036" y="0"/>
                  </a:lnTo>
                  <a:lnTo>
                    <a:pt x="1281036" y="1243186"/>
                  </a:lnTo>
                  <a:lnTo>
                    <a:pt x="0" y="1243186"/>
                  </a:lnTo>
                  <a:close/>
                </a:path>
              </a:pathLst>
            </a:custGeom>
            <a:solidFill>
              <a:srgbClr val="000066"/>
            </a:solidFill>
          </p:spPr>
          <p:txBody>
            <a:bodyPr/>
            <a:lstStyle/>
            <a:p>
              <a:endParaRPr lang="en-GB"/>
            </a:p>
          </p:txBody>
        </p:sp>
        <p:sp>
          <p:nvSpPr>
            <p:cNvPr id="15" name="TextBox 15"/>
            <p:cNvSpPr txBox="1"/>
            <p:nvPr/>
          </p:nvSpPr>
          <p:spPr>
            <a:xfrm>
              <a:off x="0" y="-38100"/>
              <a:ext cx="1281036" cy="1281286"/>
            </a:xfrm>
            <a:prstGeom prst="rect">
              <a:avLst/>
            </a:prstGeom>
          </p:spPr>
          <p:txBody>
            <a:bodyPr lIns="46654" tIns="46654" rIns="46654" bIns="46654" rtlCol="0" anchor="ctr"/>
            <a:lstStyle/>
            <a:p>
              <a:pPr algn="ctr">
                <a:lnSpc>
                  <a:spcPts val="1800"/>
                </a:lnSpc>
                <a:spcBef>
                  <a:spcPct val="0"/>
                </a:spcBef>
              </a:pPr>
              <a:endParaRPr/>
            </a:p>
          </p:txBody>
        </p:sp>
      </p:grpSp>
      <p:grpSp>
        <p:nvGrpSpPr>
          <p:cNvPr id="16" name="Group 16"/>
          <p:cNvGrpSpPr/>
          <p:nvPr/>
        </p:nvGrpSpPr>
        <p:grpSpPr>
          <a:xfrm rot="-2699999">
            <a:off x="11321202" y="6614684"/>
            <a:ext cx="3491768" cy="3388599"/>
            <a:chOff x="0" y="0"/>
            <a:chExt cx="1734088" cy="1682853"/>
          </a:xfrm>
        </p:grpSpPr>
        <p:sp>
          <p:nvSpPr>
            <p:cNvPr id="17" name="Freeform 17"/>
            <p:cNvSpPr/>
            <p:nvPr/>
          </p:nvSpPr>
          <p:spPr>
            <a:xfrm>
              <a:off x="0" y="0"/>
              <a:ext cx="1734088" cy="1682853"/>
            </a:xfrm>
            <a:custGeom>
              <a:avLst/>
              <a:gdLst/>
              <a:ahLst/>
              <a:cxnLst/>
              <a:rect l="l" t="t" r="r" b="b"/>
              <a:pathLst>
                <a:path w="1734088" h="1682853">
                  <a:moveTo>
                    <a:pt x="0" y="0"/>
                  </a:moveTo>
                  <a:lnTo>
                    <a:pt x="1734088" y="0"/>
                  </a:lnTo>
                  <a:lnTo>
                    <a:pt x="1734088" y="1682853"/>
                  </a:lnTo>
                  <a:lnTo>
                    <a:pt x="0" y="1682853"/>
                  </a:lnTo>
                  <a:close/>
                </a:path>
              </a:pathLst>
            </a:custGeom>
            <a:solidFill>
              <a:srgbClr val="336699"/>
            </a:solidFill>
          </p:spPr>
          <p:txBody>
            <a:bodyPr/>
            <a:lstStyle/>
            <a:p>
              <a:endParaRPr lang="en-GB"/>
            </a:p>
          </p:txBody>
        </p:sp>
        <p:sp>
          <p:nvSpPr>
            <p:cNvPr id="18" name="TextBox 18"/>
            <p:cNvSpPr txBox="1"/>
            <p:nvPr/>
          </p:nvSpPr>
          <p:spPr>
            <a:xfrm>
              <a:off x="0" y="-38100"/>
              <a:ext cx="1734088" cy="1720953"/>
            </a:xfrm>
            <a:prstGeom prst="rect">
              <a:avLst/>
            </a:prstGeom>
          </p:spPr>
          <p:txBody>
            <a:bodyPr lIns="46654" tIns="46654" rIns="46654" bIns="46654" rtlCol="0" anchor="ctr"/>
            <a:lstStyle/>
            <a:p>
              <a:pPr algn="ctr">
                <a:lnSpc>
                  <a:spcPts val="1800"/>
                </a:lnSpc>
                <a:spcBef>
                  <a:spcPct val="0"/>
                </a:spcBef>
              </a:pPr>
              <a:endParaRPr/>
            </a:p>
          </p:txBody>
        </p:sp>
      </p:grpSp>
      <p:grpSp>
        <p:nvGrpSpPr>
          <p:cNvPr id="19" name="Group 19"/>
          <p:cNvGrpSpPr/>
          <p:nvPr/>
        </p:nvGrpSpPr>
        <p:grpSpPr>
          <a:xfrm rot="-2699999">
            <a:off x="13901875" y="9220529"/>
            <a:ext cx="3491768" cy="3388599"/>
            <a:chOff x="0" y="0"/>
            <a:chExt cx="1734088" cy="1682853"/>
          </a:xfrm>
        </p:grpSpPr>
        <p:sp>
          <p:nvSpPr>
            <p:cNvPr id="20" name="Freeform 20"/>
            <p:cNvSpPr/>
            <p:nvPr/>
          </p:nvSpPr>
          <p:spPr>
            <a:xfrm>
              <a:off x="0" y="0"/>
              <a:ext cx="1734088" cy="1682853"/>
            </a:xfrm>
            <a:custGeom>
              <a:avLst/>
              <a:gdLst/>
              <a:ahLst/>
              <a:cxnLst/>
              <a:rect l="l" t="t" r="r" b="b"/>
              <a:pathLst>
                <a:path w="1734088" h="1682853">
                  <a:moveTo>
                    <a:pt x="0" y="0"/>
                  </a:moveTo>
                  <a:lnTo>
                    <a:pt x="1734088" y="0"/>
                  </a:lnTo>
                  <a:lnTo>
                    <a:pt x="1734088" y="1682853"/>
                  </a:lnTo>
                  <a:lnTo>
                    <a:pt x="0" y="1682853"/>
                  </a:lnTo>
                  <a:close/>
                </a:path>
              </a:pathLst>
            </a:custGeom>
            <a:solidFill>
              <a:srgbClr val="6699FF"/>
            </a:solidFill>
          </p:spPr>
          <p:txBody>
            <a:bodyPr/>
            <a:lstStyle/>
            <a:p>
              <a:endParaRPr lang="en-GB"/>
            </a:p>
          </p:txBody>
        </p:sp>
        <p:sp>
          <p:nvSpPr>
            <p:cNvPr id="21" name="TextBox 21"/>
            <p:cNvSpPr txBox="1"/>
            <p:nvPr/>
          </p:nvSpPr>
          <p:spPr>
            <a:xfrm>
              <a:off x="0" y="-38100"/>
              <a:ext cx="1734088" cy="1720953"/>
            </a:xfrm>
            <a:prstGeom prst="rect">
              <a:avLst/>
            </a:prstGeom>
          </p:spPr>
          <p:txBody>
            <a:bodyPr lIns="46654" tIns="46654" rIns="46654" bIns="46654" rtlCol="0" anchor="ctr"/>
            <a:lstStyle/>
            <a:p>
              <a:pPr algn="ctr">
                <a:lnSpc>
                  <a:spcPts val="1800"/>
                </a:lnSpc>
                <a:spcBef>
                  <a:spcPct val="0"/>
                </a:spcBef>
              </a:pPr>
              <a:endParaRPr/>
            </a:p>
          </p:txBody>
        </p:sp>
      </p:grpSp>
      <p:grpSp>
        <p:nvGrpSpPr>
          <p:cNvPr id="22" name="Group 22"/>
          <p:cNvGrpSpPr/>
          <p:nvPr/>
        </p:nvGrpSpPr>
        <p:grpSpPr>
          <a:xfrm>
            <a:off x="11757279" y="1505970"/>
            <a:ext cx="5365403" cy="5365403"/>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2"/>
              <a:stretch>
                <a:fillRect l="-25046" r="-25046"/>
              </a:stretch>
            </a:blipFill>
          </p:spPr>
          <p:txBody>
            <a:bodyPr/>
            <a:lstStyle/>
            <a:p>
              <a:endParaRPr lang="en-GB"/>
            </a:p>
          </p:txBody>
        </p:sp>
      </p:grpSp>
      <p:sp>
        <p:nvSpPr>
          <p:cNvPr id="24" name="TextBox 24"/>
          <p:cNvSpPr txBox="1"/>
          <p:nvPr/>
        </p:nvSpPr>
        <p:spPr>
          <a:xfrm>
            <a:off x="1028700" y="8116571"/>
            <a:ext cx="7532157" cy="1141729"/>
          </a:xfrm>
          <a:prstGeom prst="rect">
            <a:avLst/>
          </a:prstGeom>
        </p:spPr>
        <p:txBody>
          <a:bodyPr lIns="0" tIns="0" rIns="0" bIns="0" rtlCol="0" anchor="t">
            <a:spAutoFit/>
          </a:bodyPr>
          <a:lstStyle/>
          <a:p>
            <a:pPr marL="0" lvl="0" indent="0" algn="l">
              <a:lnSpc>
                <a:spcPts val="4585"/>
              </a:lnSpc>
              <a:spcBef>
                <a:spcPct val="0"/>
              </a:spcBef>
            </a:pPr>
            <a:r>
              <a:rPr lang="en-US" sz="3500">
                <a:solidFill>
                  <a:srgbClr val="000066"/>
                </a:solidFill>
                <a:latin typeface="Garet"/>
                <a:ea typeface="Garet"/>
                <a:cs typeface="Garet"/>
                <a:sym typeface="Garet"/>
              </a:rPr>
              <a:t>BDO Academy Data Analyst Project</a:t>
            </a:r>
          </a:p>
        </p:txBody>
      </p:sp>
      <p:grpSp>
        <p:nvGrpSpPr>
          <p:cNvPr id="25" name="Group 25"/>
          <p:cNvGrpSpPr/>
          <p:nvPr/>
        </p:nvGrpSpPr>
        <p:grpSpPr>
          <a:xfrm>
            <a:off x="1028700" y="1028700"/>
            <a:ext cx="3039142" cy="881440"/>
            <a:chOff x="0" y="0"/>
            <a:chExt cx="928909" cy="269411"/>
          </a:xfrm>
        </p:grpSpPr>
        <p:sp>
          <p:nvSpPr>
            <p:cNvPr id="26" name="Freeform 26"/>
            <p:cNvSpPr/>
            <p:nvPr/>
          </p:nvSpPr>
          <p:spPr>
            <a:xfrm>
              <a:off x="0" y="0"/>
              <a:ext cx="928909" cy="269411"/>
            </a:xfrm>
            <a:custGeom>
              <a:avLst/>
              <a:gdLst/>
              <a:ahLst/>
              <a:cxnLst/>
              <a:rect l="l" t="t" r="r" b="b"/>
              <a:pathLst>
                <a:path w="928909" h="269411">
                  <a:moveTo>
                    <a:pt x="0" y="0"/>
                  </a:moveTo>
                  <a:lnTo>
                    <a:pt x="928909" y="0"/>
                  </a:lnTo>
                  <a:lnTo>
                    <a:pt x="928909" y="269411"/>
                  </a:lnTo>
                  <a:lnTo>
                    <a:pt x="0" y="269411"/>
                  </a:lnTo>
                  <a:close/>
                </a:path>
              </a:pathLst>
            </a:custGeom>
            <a:solidFill>
              <a:srgbClr val="000066"/>
            </a:solidFill>
            <a:ln cap="sq">
              <a:noFill/>
              <a:prstDash val="solid"/>
              <a:miter/>
            </a:ln>
          </p:spPr>
          <p:txBody>
            <a:bodyPr/>
            <a:lstStyle/>
            <a:p>
              <a:endParaRPr lang="en-GB"/>
            </a:p>
          </p:txBody>
        </p:sp>
        <p:sp>
          <p:nvSpPr>
            <p:cNvPr id="27" name="TextBox 27"/>
            <p:cNvSpPr txBox="1"/>
            <p:nvPr/>
          </p:nvSpPr>
          <p:spPr>
            <a:xfrm>
              <a:off x="0" y="-38100"/>
              <a:ext cx="928909" cy="307511"/>
            </a:xfrm>
            <a:prstGeom prst="rect">
              <a:avLst/>
            </a:prstGeom>
          </p:spPr>
          <p:txBody>
            <a:bodyPr lIns="50800" tIns="50800" rIns="50800" bIns="50800" rtlCol="0" anchor="ctr"/>
            <a:lstStyle/>
            <a:p>
              <a:pPr algn="ctr">
                <a:lnSpc>
                  <a:spcPts val="2659"/>
                </a:lnSpc>
                <a:spcBef>
                  <a:spcPct val="0"/>
                </a:spcBef>
              </a:pPr>
              <a:endParaRPr/>
            </a:p>
          </p:txBody>
        </p:sp>
      </p:grpSp>
      <p:sp>
        <p:nvSpPr>
          <p:cNvPr id="28" name="TextBox 28"/>
          <p:cNvSpPr txBox="1"/>
          <p:nvPr/>
        </p:nvSpPr>
        <p:spPr>
          <a:xfrm>
            <a:off x="1028700" y="1182120"/>
            <a:ext cx="3039142" cy="560704"/>
          </a:xfrm>
          <a:prstGeom prst="rect">
            <a:avLst/>
          </a:prstGeom>
        </p:spPr>
        <p:txBody>
          <a:bodyPr lIns="0" tIns="0" rIns="0" bIns="0" rtlCol="0" anchor="t">
            <a:spAutoFit/>
          </a:bodyPr>
          <a:lstStyle/>
          <a:p>
            <a:pPr marL="0" lvl="0" indent="0" algn="ctr">
              <a:lnSpc>
                <a:spcPts val="4585"/>
              </a:lnSpc>
              <a:spcBef>
                <a:spcPct val="0"/>
              </a:spcBef>
            </a:pPr>
            <a:r>
              <a:rPr lang="en-US" sz="3500" b="1">
                <a:solidFill>
                  <a:srgbClr val="FFFFFF"/>
                </a:solidFill>
                <a:latin typeface="Garet Bold"/>
                <a:ea typeface="Garet Bold"/>
                <a:cs typeface="Garet Bold"/>
                <a:sym typeface="Garet Bold"/>
              </a:rPr>
              <a:t>BORCELLE</a:t>
            </a:r>
          </a:p>
        </p:txBody>
      </p:sp>
      <p:grpSp>
        <p:nvGrpSpPr>
          <p:cNvPr id="29" name="Group 29"/>
          <p:cNvGrpSpPr/>
          <p:nvPr/>
        </p:nvGrpSpPr>
        <p:grpSpPr>
          <a:xfrm>
            <a:off x="1028700" y="1028700"/>
            <a:ext cx="3423701" cy="881440"/>
            <a:chOff x="0" y="0"/>
            <a:chExt cx="1046448" cy="269411"/>
          </a:xfrm>
        </p:grpSpPr>
        <p:sp>
          <p:nvSpPr>
            <p:cNvPr id="30" name="Freeform 30"/>
            <p:cNvSpPr/>
            <p:nvPr/>
          </p:nvSpPr>
          <p:spPr>
            <a:xfrm>
              <a:off x="0" y="0"/>
              <a:ext cx="1046449" cy="269411"/>
            </a:xfrm>
            <a:custGeom>
              <a:avLst/>
              <a:gdLst/>
              <a:ahLst/>
              <a:cxnLst/>
              <a:rect l="l" t="t" r="r" b="b"/>
              <a:pathLst>
                <a:path w="1046449" h="269411">
                  <a:moveTo>
                    <a:pt x="0" y="0"/>
                  </a:moveTo>
                  <a:lnTo>
                    <a:pt x="1046449" y="0"/>
                  </a:lnTo>
                  <a:lnTo>
                    <a:pt x="1046449" y="269411"/>
                  </a:lnTo>
                  <a:lnTo>
                    <a:pt x="0" y="269411"/>
                  </a:lnTo>
                  <a:close/>
                </a:path>
              </a:pathLst>
            </a:custGeom>
            <a:solidFill>
              <a:srgbClr val="000066"/>
            </a:solidFill>
            <a:ln cap="sq">
              <a:noFill/>
              <a:prstDash val="solid"/>
              <a:miter/>
            </a:ln>
          </p:spPr>
          <p:txBody>
            <a:bodyPr/>
            <a:lstStyle/>
            <a:p>
              <a:endParaRPr lang="en-GB"/>
            </a:p>
          </p:txBody>
        </p:sp>
        <p:sp>
          <p:nvSpPr>
            <p:cNvPr id="31" name="TextBox 31"/>
            <p:cNvSpPr txBox="1"/>
            <p:nvPr/>
          </p:nvSpPr>
          <p:spPr>
            <a:xfrm>
              <a:off x="0" y="-28575"/>
              <a:ext cx="1046448" cy="297986"/>
            </a:xfrm>
            <a:prstGeom prst="rect">
              <a:avLst/>
            </a:prstGeom>
          </p:spPr>
          <p:txBody>
            <a:bodyPr lIns="50800" tIns="50800" rIns="50800" bIns="50800" rtlCol="0" anchor="ctr"/>
            <a:lstStyle/>
            <a:p>
              <a:pPr algn="ctr">
                <a:lnSpc>
                  <a:spcPts val="2659"/>
                </a:lnSpc>
                <a:spcBef>
                  <a:spcPct val="0"/>
                </a:spcBef>
              </a:pPr>
              <a:endParaRPr/>
            </a:p>
          </p:txBody>
        </p:sp>
      </p:grpSp>
      <p:sp>
        <p:nvSpPr>
          <p:cNvPr id="32" name="TextBox 32"/>
          <p:cNvSpPr txBox="1"/>
          <p:nvPr/>
        </p:nvSpPr>
        <p:spPr>
          <a:xfrm>
            <a:off x="855649" y="1174780"/>
            <a:ext cx="3769804" cy="560704"/>
          </a:xfrm>
          <a:prstGeom prst="rect">
            <a:avLst/>
          </a:prstGeom>
        </p:spPr>
        <p:txBody>
          <a:bodyPr lIns="0" tIns="0" rIns="0" bIns="0" rtlCol="0" anchor="t">
            <a:spAutoFit/>
          </a:bodyPr>
          <a:lstStyle/>
          <a:p>
            <a:pPr marL="0" lvl="0" indent="0" algn="ctr">
              <a:lnSpc>
                <a:spcPts val="4585"/>
              </a:lnSpc>
              <a:spcBef>
                <a:spcPct val="0"/>
              </a:spcBef>
            </a:pPr>
            <a:r>
              <a:rPr lang="en-US" sz="3500" b="1">
                <a:solidFill>
                  <a:srgbClr val="FFFFFF"/>
                </a:solidFill>
                <a:latin typeface="Garet Bold"/>
                <a:ea typeface="Garet Bold"/>
                <a:cs typeface="Garet Bold"/>
                <a:sym typeface="Garet Bold"/>
              </a:rPr>
              <a:t>INBAR HILLEL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1549</Words>
  <Application>Microsoft Office PowerPoint</Application>
  <PresentationFormat>Custom</PresentationFormat>
  <Paragraphs>182</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Garet Bold</vt:lpstr>
      <vt:lpstr>Arial</vt:lpstr>
      <vt:lpstr>Garet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dc:title>
  <cp:lastModifiedBy>PowerBI</cp:lastModifiedBy>
  <cp:revision>8</cp:revision>
  <dcterms:created xsi:type="dcterms:W3CDTF">2006-08-16T00:00:00Z</dcterms:created>
  <dcterms:modified xsi:type="dcterms:W3CDTF">2026-09-05T09:15:39Z</dcterms:modified>
  <dc:identifier>DAHTYY9yS14</dc:identifier>
</cp:coreProperties>
</file>